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League Spartan" charset="1" panose="00000800000000000000"/>
      <p:regular r:id="rId17"/>
    </p:embeddedFont>
    <p:embeddedFont>
      <p:font typeface="Genty Sans" charset="1" panose="00000600000000000000"/>
      <p:regular r:id="rId18"/>
    </p:embeddedFont>
    <p:embeddedFont>
      <p:font typeface="Poppins Bold" charset="1" panose="00000800000000000000"/>
      <p:regular r:id="rId19"/>
    </p:embeddedFont>
    <p:embeddedFont>
      <p:font typeface="Archivo Black" charset="1" panose="020B0A03020202020B04"/>
      <p:regular r:id="rId20"/>
    </p:embeddedFont>
    <p:embeddedFont>
      <p:font typeface="Canva Sans Bold" charset="1" panose="020B0803030501040103"/>
      <p:regular r:id="rId21"/>
    </p:embeddedFont>
    <p:embeddedFont>
      <p:font typeface="Comic Sans Bold" charset="1" panose="0300090203030202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37898" y="4564511"/>
            <a:ext cx="2966598" cy="1976738"/>
            <a:chOff x="0" y="0"/>
            <a:chExt cx="781326" cy="5206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81326" cy="520622"/>
            </a:xfrm>
            <a:custGeom>
              <a:avLst/>
              <a:gdLst/>
              <a:ahLst/>
              <a:cxnLst/>
              <a:rect r="r" b="b" t="t" l="l"/>
              <a:pathLst>
                <a:path h="520622" w="781326">
                  <a:moveTo>
                    <a:pt x="133094" y="0"/>
                  </a:moveTo>
                  <a:lnTo>
                    <a:pt x="648232" y="0"/>
                  </a:lnTo>
                  <a:cubicBezTo>
                    <a:pt x="721738" y="0"/>
                    <a:pt x="781326" y="59588"/>
                    <a:pt x="781326" y="133094"/>
                  </a:cubicBezTo>
                  <a:lnTo>
                    <a:pt x="781326" y="387528"/>
                  </a:lnTo>
                  <a:cubicBezTo>
                    <a:pt x="781326" y="461034"/>
                    <a:pt x="721738" y="520622"/>
                    <a:pt x="648232" y="520622"/>
                  </a:cubicBezTo>
                  <a:lnTo>
                    <a:pt x="133094" y="520622"/>
                  </a:lnTo>
                  <a:cubicBezTo>
                    <a:pt x="59588" y="520622"/>
                    <a:pt x="0" y="461034"/>
                    <a:pt x="0" y="387528"/>
                  </a:cubicBezTo>
                  <a:lnTo>
                    <a:pt x="0" y="133094"/>
                  </a:lnTo>
                  <a:cubicBezTo>
                    <a:pt x="0" y="59588"/>
                    <a:pt x="59588" y="0"/>
                    <a:pt x="13309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781326" cy="568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79138" y="377810"/>
            <a:ext cx="2070170" cy="207017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0696" t="-1782" r="-9904" b="-18818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8119564" y="6156184"/>
            <a:ext cx="10326938" cy="9822023"/>
          </a:xfrm>
          <a:custGeom>
            <a:avLst/>
            <a:gdLst/>
            <a:ahLst/>
            <a:cxnLst/>
            <a:rect r="r" b="b" t="t" l="l"/>
            <a:pathLst>
              <a:path h="9822023" w="10326938">
                <a:moveTo>
                  <a:pt x="0" y="0"/>
                </a:moveTo>
                <a:lnTo>
                  <a:pt x="10326938" y="0"/>
                </a:lnTo>
                <a:lnTo>
                  <a:pt x="10326938" y="9822024"/>
                </a:lnTo>
                <a:lnTo>
                  <a:pt x="0" y="98220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220957" y="1981924"/>
            <a:ext cx="9846085" cy="1418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72"/>
              </a:lnSpc>
            </a:pPr>
            <a:r>
              <a:rPr lang="en-US" b="true" sz="8265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PRESENTATION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31277" y="98437"/>
            <a:ext cx="15025446" cy="3555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84"/>
              </a:lnSpc>
            </a:pPr>
            <a:r>
              <a:rPr lang="en-US" sz="5703">
                <a:solidFill>
                  <a:srgbClr val="FF3131"/>
                </a:solidFill>
                <a:latin typeface="Genty Sans"/>
                <a:ea typeface="Genty Sans"/>
                <a:cs typeface="Genty Sans"/>
                <a:sym typeface="Genty Sans"/>
              </a:rPr>
              <a:t>J D COLLEGE OF ENGINEERING &amp; MANAGEMENT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739313" y="5593925"/>
            <a:ext cx="15238444" cy="603304"/>
            <a:chOff x="0" y="0"/>
            <a:chExt cx="20317925" cy="804406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6568239" y="30764"/>
              <a:ext cx="13749686" cy="6762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b="true" sz="3000">
                  <a:solidFill>
                    <a:srgbClr val="004AAD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COMPUTER ARCHITECTURE AND ORGANIZATION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85725"/>
              <a:ext cx="5338329" cy="8901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303642"/>
                  </a:solidFill>
                  <a:latin typeface="Genty Sans"/>
                  <a:ea typeface="Genty Sans"/>
                  <a:cs typeface="Genty Sans"/>
                  <a:sym typeface="Genty Sans"/>
                </a:rPr>
                <a:t>SUBJECT 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5226060" y="-85725"/>
              <a:ext cx="1073744" cy="8901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303642"/>
                  </a:solidFill>
                  <a:latin typeface="Genty Sans"/>
                  <a:ea typeface="Genty Sans"/>
                  <a:cs typeface="Genty Sans"/>
                  <a:sym typeface="Genty Sans"/>
                </a:rPr>
                <a:t>: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838693" y="377810"/>
            <a:ext cx="2070170" cy="207017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0696" t="-1782" r="-9904" b="-18818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7259300" y="4564511"/>
            <a:ext cx="2966598" cy="1976738"/>
            <a:chOff x="0" y="0"/>
            <a:chExt cx="781326" cy="52062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81326" cy="520622"/>
            </a:xfrm>
            <a:custGeom>
              <a:avLst/>
              <a:gdLst/>
              <a:ahLst/>
              <a:cxnLst/>
              <a:rect r="r" b="b" t="t" l="l"/>
              <a:pathLst>
                <a:path h="520622" w="781326">
                  <a:moveTo>
                    <a:pt x="133094" y="0"/>
                  </a:moveTo>
                  <a:lnTo>
                    <a:pt x="648232" y="0"/>
                  </a:lnTo>
                  <a:cubicBezTo>
                    <a:pt x="721738" y="0"/>
                    <a:pt x="781326" y="59588"/>
                    <a:pt x="781326" y="133094"/>
                  </a:cubicBezTo>
                  <a:lnTo>
                    <a:pt x="781326" y="387528"/>
                  </a:lnTo>
                  <a:cubicBezTo>
                    <a:pt x="781326" y="461034"/>
                    <a:pt x="721738" y="520622"/>
                    <a:pt x="648232" y="520622"/>
                  </a:cubicBezTo>
                  <a:lnTo>
                    <a:pt x="133094" y="520622"/>
                  </a:lnTo>
                  <a:cubicBezTo>
                    <a:pt x="59588" y="520622"/>
                    <a:pt x="0" y="461034"/>
                    <a:pt x="0" y="387528"/>
                  </a:cubicBezTo>
                  <a:lnTo>
                    <a:pt x="0" y="133094"/>
                  </a:lnTo>
                  <a:cubicBezTo>
                    <a:pt x="0" y="59588"/>
                    <a:pt x="59588" y="0"/>
                    <a:pt x="13309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781326" cy="568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739313" y="8909829"/>
            <a:ext cx="14772265" cy="603304"/>
            <a:chOff x="0" y="0"/>
            <a:chExt cx="19696353" cy="804406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-85725"/>
              <a:ext cx="5338329" cy="8901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303642"/>
                  </a:solidFill>
                  <a:latin typeface="Genty Sans"/>
                  <a:ea typeface="Genty Sans"/>
                  <a:cs typeface="Genty Sans"/>
                  <a:sym typeface="Genty Sans"/>
                </a:rPr>
                <a:t>ROLL NO.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6568239" y="30764"/>
              <a:ext cx="13128113" cy="6762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b="true" sz="3000">
                  <a:solidFill>
                    <a:srgbClr val="004AAD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MC250005CA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5226060" y="-85725"/>
              <a:ext cx="1073744" cy="8901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303642"/>
                  </a:solidFill>
                  <a:latin typeface="Genty Sans"/>
                  <a:ea typeface="Genty Sans"/>
                  <a:cs typeface="Genty Sans"/>
                  <a:sym typeface="Genty Sans"/>
                </a:rPr>
                <a:t>: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-144050" y="8902723"/>
            <a:ext cx="1506570" cy="1506570"/>
          </a:xfrm>
          <a:custGeom>
            <a:avLst/>
            <a:gdLst/>
            <a:ahLst/>
            <a:cxnLst/>
            <a:rect r="r" b="b" t="t" l="l"/>
            <a:pathLst>
              <a:path h="1506570" w="1506570">
                <a:moveTo>
                  <a:pt x="0" y="0"/>
                </a:moveTo>
                <a:lnTo>
                  <a:pt x="1506570" y="0"/>
                </a:lnTo>
                <a:lnTo>
                  <a:pt x="1506570" y="1506571"/>
                </a:lnTo>
                <a:lnTo>
                  <a:pt x="0" y="15065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739313" y="8080853"/>
            <a:ext cx="14772265" cy="603304"/>
            <a:chOff x="0" y="0"/>
            <a:chExt cx="19696353" cy="804406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0" y="-85725"/>
              <a:ext cx="5338329" cy="8901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303642"/>
                  </a:solidFill>
                  <a:latin typeface="Genty Sans"/>
                  <a:ea typeface="Genty Sans"/>
                  <a:cs typeface="Genty Sans"/>
                  <a:sym typeface="Genty Sans"/>
                </a:rPr>
                <a:t>PRESENTED BY 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6568239" y="30764"/>
              <a:ext cx="13128113" cy="6762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b="true" sz="3000">
                  <a:solidFill>
                    <a:srgbClr val="004AAD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ADESH G. LOKHANDE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5226060" y="-85725"/>
              <a:ext cx="1073744" cy="8901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303642"/>
                  </a:solidFill>
                  <a:latin typeface="Genty Sans"/>
                  <a:ea typeface="Genty Sans"/>
                  <a:cs typeface="Genty Sans"/>
                  <a:sym typeface="Genty Sans"/>
                </a:rPr>
                <a:t>: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739313" y="7251877"/>
            <a:ext cx="14772265" cy="603304"/>
            <a:chOff x="0" y="0"/>
            <a:chExt cx="19696353" cy="804406"/>
          </a:xfrm>
        </p:grpSpPr>
        <p:sp>
          <p:nvSpPr>
            <p:cNvPr name="TextBox 29" id="29"/>
            <p:cNvSpPr txBox="true"/>
            <p:nvPr/>
          </p:nvSpPr>
          <p:spPr>
            <a:xfrm rot="0">
              <a:off x="0" y="-85725"/>
              <a:ext cx="5338329" cy="8901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303642"/>
                  </a:solidFill>
                  <a:latin typeface="Genty Sans"/>
                  <a:ea typeface="Genty Sans"/>
                  <a:cs typeface="Genty Sans"/>
                  <a:sym typeface="Genty Sans"/>
                </a:rPr>
                <a:t>GUIDED BY 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6568239" y="30764"/>
              <a:ext cx="13128113" cy="6762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b="true" sz="3000">
                  <a:solidFill>
                    <a:srgbClr val="004AAD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PROF. RUTUJA GAUTAM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5226060" y="-85725"/>
              <a:ext cx="1073744" cy="8901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303642"/>
                  </a:solidFill>
                  <a:latin typeface="Genty Sans"/>
                  <a:ea typeface="Genty Sans"/>
                  <a:cs typeface="Genty Sans"/>
                  <a:sym typeface="Genty Sans"/>
                </a:rPr>
                <a:t>: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4220957" y="3462349"/>
            <a:ext cx="9846085" cy="523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ON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739313" y="6422901"/>
            <a:ext cx="14772265" cy="603304"/>
            <a:chOff x="0" y="0"/>
            <a:chExt cx="19696353" cy="804406"/>
          </a:xfrm>
        </p:grpSpPr>
        <p:sp>
          <p:nvSpPr>
            <p:cNvPr name="TextBox 34" id="34"/>
            <p:cNvSpPr txBox="true"/>
            <p:nvPr/>
          </p:nvSpPr>
          <p:spPr>
            <a:xfrm rot="0">
              <a:off x="0" y="-85725"/>
              <a:ext cx="5338329" cy="8901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303642"/>
                  </a:solidFill>
                  <a:latin typeface="Genty Sans"/>
                  <a:ea typeface="Genty Sans"/>
                  <a:cs typeface="Genty Sans"/>
                  <a:sym typeface="Genty Sans"/>
                </a:rPr>
                <a:t>COURSE CODE 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6568239" y="30764"/>
              <a:ext cx="13128113" cy="6762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b="true" sz="3000">
                  <a:solidFill>
                    <a:srgbClr val="004AAD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MC1A005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5226060" y="-85725"/>
              <a:ext cx="1073744" cy="8901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303642"/>
                  </a:solidFill>
                  <a:latin typeface="Genty Sans"/>
                  <a:ea typeface="Genty Sans"/>
                  <a:cs typeface="Genty Sans"/>
                  <a:sym typeface="Genty Sans"/>
                </a:rPr>
                <a:t>: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813647" y="4114447"/>
            <a:ext cx="14660707" cy="1200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b="true" sz="3999">
                <a:solidFill>
                  <a:srgbClr val="FFDE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I/O PERFORMANCE IMPROVEMENT: SPOOLING, BUFFERING &amp; CACHING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48026" y="1533525"/>
            <a:ext cx="15791948" cy="6852143"/>
            <a:chOff x="0" y="0"/>
            <a:chExt cx="21055930" cy="913619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1783838"/>
              <a:ext cx="21055930" cy="7352352"/>
              <a:chOff x="0" y="0"/>
              <a:chExt cx="4159196" cy="1452316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159196" cy="1452316"/>
              </a:xfrm>
              <a:custGeom>
                <a:avLst/>
                <a:gdLst/>
                <a:ahLst/>
                <a:cxnLst/>
                <a:rect r="r" b="b" t="t" l="l"/>
                <a:pathLst>
                  <a:path h="1452316" w="4159196">
                    <a:moveTo>
                      <a:pt x="25002" y="0"/>
                    </a:moveTo>
                    <a:lnTo>
                      <a:pt x="4134194" y="0"/>
                    </a:lnTo>
                    <a:cubicBezTo>
                      <a:pt x="4140825" y="0"/>
                      <a:pt x="4147184" y="2634"/>
                      <a:pt x="4151873" y="7323"/>
                    </a:cubicBezTo>
                    <a:cubicBezTo>
                      <a:pt x="4156562" y="12012"/>
                      <a:pt x="4159196" y="18371"/>
                      <a:pt x="4159196" y="25002"/>
                    </a:cubicBezTo>
                    <a:lnTo>
                      <a:pt x="4159196" y="1427314"/>
                    </a:lnTo>
                    <a:cubicBezTo>
                      <a:pt x="4159196" y="1441122"/>
                      <a:pt x="4148002" y="1452316"/>
                      <a:pt x="4134194" y="1452316"/>
                    </a:cubicBezTo>
                    <a:lnTo>
                      <a:pt x="25002" y="1452316"/>
                    </a:lnTo>
                    <a:cubicBezTo>
                      <a:pt x="11194" y="1452316"/>
                      <a:pt x="0" y="1441122"/>
                      <a:pt x="0" y="1427314"/>
                    </a:cubicBezTo>
                    <a:lnTo>
                      <a:pt x="0" y="25002"/>
                    </a:lnTo>
                    <a:cubicBezTo>
                      <a:pt x="0" y="11194"/>
                      <a:pt x="11194" y="0"/>
                      <a:pt x="25002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47625"/>
                <a:ext cx="4159196" cy="14999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4493045" y="-161925"/>
              <a:ext cx="12069841" cy="18374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587"/>
                </a:lnSpc>
              </a:pPr>
              <a:r>
                <a:rPr lang="en-US" b="true" sz="8277">
                  <a:solidFill>
                    <a:srgbClr val="004AAD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INTRODUCTION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902942" y="3451117"/>
            <a:ext cx="14482115" cy="3581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99"/>
              </a:lnSpc>
            </a:pPr>
            <a:r>
              <a:rPr lang="en-US" b="true" sz="3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Input and Output devices work at different speeds. A slow device can reduce overall system performance. To solve this, Spooling, Buffering, and Caching techniques are used to improve I/O performance.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873906" y="8972311"/>
            <a:ext cx="753070" cy="753070"/>
            <a:chOff x="0" y="0"/>
            <a:chExt cx="1004094" cy="1004094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004094" cy="1004094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33055" lIns="33055" bIns="33055" rIns="33055"/>
              <a:lstStyle/>
              <a:p>
                <a:pPr algn="ctr">
                  <a:lnSpc>
                    <a:spcPts val="3499"/>
                  </a:lnSpc>
                </a:pPr>
                <a:r>
                  <a:rPr lang="en-US" sz="2499">
                    <a:solidFill>
                      <a:srgbClr val="FFFFFF"/>
                    </a:solidFill>
                    <a:latin typeface="Archivo Black"/>
                    <a:ea typeface="Archivo Black"/>
                    <a:cs typeface="Archivo Black"/>
                    <a:sym typeface="Archivo Black"/>
                  </a:rPr>
                  <a:t>1</a:t>
                </a: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38715" y="38715"/>
              <a:ext cx="926663" cy="926663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33055" lIns="33055" bIns="33055" rIns="33055"/>
              <a:lstStyle/>
              <a:p>
                <a:pPr algn="ctr">
                  <a:lnSpc>
                    <a:spcPts val="3499"/>
                  </a:lnSpc>
                </a:pPr>
                <a:r>
                  <a:rPr lang="en-US" sz="2499">
                    <a:solidFill>
                      <a:srgbClr val="FFFFFF"/>
                    </a:solidFill>
                    <a:latin typeface="Archivo Black"/>
                    <a:ea typeface="Archivo Black"/>
                    <a:cs typeface="Archivo Black"/>
                    <a:sym typeface="Archivo Black"/>
                  </a:rPr>
                  <a:t>1</a:t>
                </a:r>
              </a:p>
            </p:txBody>
          </p:sp>
        </p:grpSp>
      </p:grpSp>
      <p:grpSp>
        <p:nvGrpSpPr>
          <p:cNvPr name="Group 16" id="16"/>
          <p:cNvGrpSpPr/>
          <p:nvPr/>
        </p:nvGrpSpPr>
        <p:grpSpPr>
          <a:xfrm rot="0">
            <a:off x="3872531" y="9277452"/>
            <a:ext cx="694998" cy="694998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CACAC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33055" lIns="33055" bIns="33055" rIns="33055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3D532C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2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842119" y="9277452"/>
            <a:ext cx="694998" cy="694998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CACAC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33055" lIns="33055" bIns="33055" rIns="33055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3D532C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3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811707" y="9277452"/>
            <a:ext cx="694998" cy="694998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CACAC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33055" lIns="33055" bIns="33055" rIns="33055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3D532C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4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781295" y="9277452"/>
            <a:ext cx="694998" cy="694998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CACAC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33055" lIns="33055" bIns="33055" rIns="33055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3D532C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5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750884" y="9277452"/>
            <a:ext cx="694998" cy="694998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CACAC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33055" lIns="33055" bIns="33055" rIns="33055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3D532C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6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720472" y="9277452"/>
            <a:ext cx="694998" cy="694998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CACAC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33055" lIns="33055" bIns="33055" rIns="33055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3D532C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7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5690060" y="9277452"/>
            <a:ext cx="694998" cy="694998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CACAC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33055" lIns="33055" bIns="33055" rIns="33055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3D532C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8</a:t>
              </a:r>
            </a:p>
          </p:txBody>
        </p:sp>
      </p:grpSp>
      <p:sp>
        <p:nvSpPr>
          <p:cNvPr name="AutoShape 37" id="37"/>
          <p:cNvSpPr/>
          <p:nvPr/>
        </p:nvSpPr>
        <p:spPr>
          <a:xfrm>
            <a:off x="2626976" y="9348846"/>
            <a:ext cx="1245554" cy="276105"/>
          </a:xfrm>
          <a:prstGeom prst="line">
            <a:avLst/>
          </a:prstGeom>
          <a:ln cap="flat" w="47625">
            <a:solidFill>
              <a:srgbClr val="ACACAC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AutoShape 38" id="38"/>
          <p:cNvSpPr/>
          <p:nvPr/>
        </p:nvSpPr>
        <p:spPr>
          <a:xfrm>
            <a:off x="4617810" y="9624951"/>
            <a:ext cx="1224309" cy="0"/>
          </a:xfrm>
          <a:prstGeom prst="line">
            <a:avLst/>
          </a:prstGeom>
          <a:ln cap="flat" w="47625">
            <a:solidFill>
              <a:srgbClr val="ACACAC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AutoShape 39" id="39"/>
          <p:cNvSpPr/>
          <p:nvPr/>
        </p:nvSpPr>
        <p:spPr>
          <a:xfrm flipV="true">
            <a:off x="6569078" y="9624951"/>
            <a:ext cx="1242629" cy="39952"/>
          </a:xfrm>
          <a:prstGeom prst="line">
            <a:avLst/>
          </a:prstGeom>
          <a:ln cap="flat" w="47625">
            <a:solidFill>
              <a:srgbClr val="ACACAC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AutoShape 40" id="40"/>
          <p:cNvSpPr/>
          <p:nvPr/>
        </p:nvSpPr>
        <p:spPr>
          <a:xfrm>
            <a:off x="8506705" y="9624951"/>
            <a:ext cx="1224332" cy="0"/>
          </a:xfrm>
          <a:prstGeom prst="line">
            <a:avLst/>
          </a:prstGeom>
          <a:ln cap="flat" w="47625">
            <a:solidFill>
              <a:srgbClr val="ACACAC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AutoShape 41" id="41"/>
          <p:cNvSpPr/>
          <p:nvPr/>
        </p:nvSpPr>
        <p:spPr>
          <a:xfrm>
            <a:off x="10476293" y="9624951"/>
            <a:ext cx="1186695" cy="0"/>
          </a:xfrm>
          <a:prstGeom prst="line">
            <a:avLst/>
          </a:prstGeom>
          <a:ln cap="flat" w="47625">
            <a:solidFill>
              <a:srgbClr val="ACACAC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AutoShape 42" id="42"/>
          <p:cNvSpPr/>
          <p:nvPr/>
        </p:nvSpPr>
        <p:spPr>
          <a:xfrm>
            <a:off x="12445881" y="9624951"/>
            <a:ext cx="1224309" cy="0"/>
          </a:xfrm>
          <a:prstGeom prst="line">
            <a:avLst/>
          </a:prstGeom>
          <a:ln cap="flat" w="47625">
            <a:solidFill>
              <a:srgbClr val="ACACAC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AutoShape 43" id="43"/>
          <p:cNvSpPr/>
          <p:nvPr/>
        </p:nvSpPr>
        <p:spPr>
          <a:xfrm>
            <a:off x="14415469" y="9624951"/>
            <a:ext cx="1274591" cy="72073"/>
          </a:xfrm>
          <a:prstGeom prst="line">
            <a:avLst/>
          </a:prstGeom>
          <a:ln cap="flat" w="47625">
            <a:solidFill>
              <a:srgbClr val="ACACAC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TextBox 44" id="44"/>
          <p:cNvSpPr txBox="true"/>
          <p:nvPr/>
        </p:nvSpPr>
        <p:spPr>
          <a:xfrm rot="0">
            <a:off x="423382" y="9390028"/>
            <a:ext cx="1033273" cy="422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48026" y="1533525"/>
            <a:ext cx="15791948" cy="6852143"/>
            <a:chOff x="0" y="0"/>
            <a:chExt cx="21055930" cy="913619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1783838"/>
              <a:ext cx="21055930" cy="7352352"/>
              <a:chOff x="0" y="0"/>
              <a:chExt cx="4159196" cy="1452316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159196" cy="1452316"/>
              </a:xfrm>
              <a:custGeom>
                <a:avLst/>
                <a:gdLst/>
                <a:ahLst/>
                <a:cxnLst/>
                <a:rect r="r" b="b" t="t" l="l"/>
                <a:pathLst>
                  <a:path h="1452316" w="4159196">
                    <a:moveTo>
                      <a:pt x="25002" y="0"/>
                    </a:moveTo>
                    <a:lnTo>
                      <a:pt x="4134194" y="0"/>
                    </a:lnTo>
                    <a:cubicBezTo>
                      <a:pt x="4140825" y="0"/>
                      <a:pt x="4147184" y="2634"/>
                      <a:pt x="4151873" y="7323"/>
                    </a:cubicBezTo>
                    <a:cubicBezTo>
                      <a:pt x="4156562" y="12012"/>
                      <a:pt x="4159196" y="18371"/>
                      <a:pt x="4159196" y="25002"/>
                    </a:cubicBezTo>
                    <a:lnTo>
                      <a:pt x="4159196" y="1427314"/>
                    </a:lnTo>
                    <a:cubicBezTo>
                      <a:pt x="4159196" y="1441122"/>
                      <a:pt x="4148002" y="1452316"/>
                      <a:pt x="4134194" y="1452316"/>
                    </a:cubicBezTo>
                    <a:lnTo>
                      <a:pt x="25002" y="1452316"/>
                    </a:lnTo>
                    <a:cubicBezTo>
                      <a:pt x="11194" y="1452316"/>
                      <a:pt x="0" y="1441122"/>
                      <a:pt x="0" y="1427314"/>
                    </a:cubicBezTo>
                    <a:lnTo>
                      <a:pt x="0" y="25002"/>
                    </a:lnTo>
                    <a:cubicBezTo>
                      <a:pt x="0" y="11194"/>
                      <a:pt x="11194" y="0"/>
                      <a:pt x="25002" y="0"/>
                    </a:cubicBezTo>
                    <a:close/>
                  </a:path>
                </a:pathLst>
              </a:custGeom>
              <a:solidFill>
                <a:srgbClr val="004AAD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47625"/>
                <a:ext cx="4159196" cy="14999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2363081" y="-161925"/>
              <a:ext cx="16329768" cy="18374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11587"/>
                </a:lnSpc>
                <a:spcBef>
                  <a:spcPct val="0"/>
                </a:spcBef>
              </a:pPr>
              <a:r>
                <a:rPr lang="en-US" b="true" sz="8277" strike="noStrike" u="none">
                  <a:solidFill>
                    <a:srgbClr val="004AAD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WHAT IS SPOOLING?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731525" y="3101949"/>
            <a:ext cx="14824949" cy="1422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b="true" sz="3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Spooli</a:t>
            </a:r>
            <a:r>
              <a:rPr lang="en-US" b="true" sz="3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ng stands for </a:t>
            </a:r>
            <a:r>
              <a:rPr lang="en-US" b="true" sz="3999">
                <a:solidFill>
                  <a:srgbClr val="FFDE59"/>
                </a:solidFill>
                <a:latin typeface="Poppins Bold"/>
                <a:ea typeface="Poppins Bold"/>
                <a:cs typeface="Poppins Bold"/>
                <a:sym typeface="Poppins Bold"/>
              </a:rPr>
              <a:t>Simultaneous Peripheral Operations</a:t>
            </a:r>
            <a:r>
              <a:rPr lang="en-US" b="true" sz="3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3999">
                <a:solidFill>
                  <a:srgbClr val="FFDE59"/>
                </a:solidFill>
                <a:latin typeface="Poppins Bold"/>
                <a:ea typeface="Poppins Bold"/>
                <a:cs typeface="Poppins Bold"/>
                <a:sym typeface="Poppins Bold"/>
              </a:rPr>
              <a:t>Online</a:t>
            </a:r>
            <a:r>
              <a:rPr lang="en-US" b="true" sz="3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31525" y="4739974"/>
            <a:ext cx="14824949" cy="1422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It helps manage slow devices by storing work in a queue on the disk.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31525" y="6377999"/>
            <a:ext cx="14824949" cy="1422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The device performs tasks at its own speed while the CPU continues other work.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902942" y="9277452"/>
            <a:ext cx="694998" cy="69499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33055" lIns="33055" bIns="33055" rIns="33055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843494" y="8972311"/>
            <a:ext cx="753070" cy="753070"/>
            <a:chOff x="0" y="0"/>
            <a:chExt cx="1004094" cy="1004094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004094" cy="1004094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33055" lIns="33055" bIns="33055" rIns="33055"/>
              <a:lstStyle/>
              <a:p>
                <a:pPr algn="ctr">
                  <a:lnSpc>
                    <a:spcPts val="3499"/>
                  </a:lnSpc>
                </a:pPr>
                <a:r>
                  <a:rPr lang="en-US" sz="2499">
                    <a:solidFill>
                      <a:srgbClr val="FFFFFF"/>
                    </a:solidFill>
                    <a:latin typeface="Archivo Black"/>
                    <a:ea typeface="Archivo Black"/>
                    <a:cs typeface="Archivo Black"/>
                    <a:sym typeface="Archivo Black"/>
                  </a:rPr>
                  <a:t>1</a:t>
                </a: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38715" y="38715"/>
              <a:ext cx="926663" cy="926663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33055" lIns="33055" bIns="33055" rIns="33055"/>
              <a:lstStyle/>
              <a:p>
                <a:pPr algn="ctr" marL="0" indent="0" lvl="0">
                  <a:lnSpc>
                    <a:spcPts val="3499"/>
                  </a:lnSpc>
                  <a:spcBef>
                    <a:spcPct val="0"/>
                  </a:spcBef>
                </a:pPr>
                <a:r>
                  <a:rPr lang="en-US" sz="2499" strike="noStrike" u="none">
                    <a:solidFill>
                      <a:srgbClr val="FFFFFF"/>
                    </a:solidFill>
                    <a:latin typeface="Archivo Black"/>
                    <a:ea typeface="Archivo Black"/>
                    <a:cs typeface="Archivo Black"/>
                    <a:sym typeface="Archivo Black"/>
                  </a:rPr>
                  <a:t>2</a:t>
                </a:r>
              </a:p>
            </p:txBody>
          </p:sp>
        </p:grpSp>
      </p:grpSp>
      <p:grpSp>
        <p:nvGrpSpPr>
          <p:cNvPr name="Group 21" id="21"/>
          <p:cNvGrpSpPr/>
          <p:nvPr/>
        </p:nvGrpSpPr>
        <p:grpSpPr>
          <a:xfrm rot="0">
            <a:off x="5842119" y="9277452"/>
            <a:ext cx="694998" cy="694998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CACAC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33055" lIns="33055" bIns="33055" rIns="33055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3D532C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3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811707" y="9277452"/>
            <a:ext cx="694998" cy="694998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CACAC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33055" lIns="33055" bIns="33055" rIns="33055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3D532C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4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781295" y="9277452"/>
            <a:ext cx="694998" cy="694998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CACAC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33055" lIns="33055" bIns="33055" rIns="33055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3D532C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5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750884" y="9277452"/>
            <a:ext cx="694998" cy="694998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CACAC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33055" lIns="33055" bIns="33055" rIns="33055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3D532C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6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3720472" y="9277452"/>
            <a:ext cx="694998" cy="694998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CACAC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33055" lIns="33055" bIns="33055" rIns="33055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3D532C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7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5690060" y="9277452"/>
            <a:ext cx="694998" cy="694998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CACAC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33055" lIns="33055" bIns="33055" rIns="33055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3D532C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8</a:t>
              </a:r>
            </a:p>
          </p:txBody>
        </p:sp>
      </p:grpSp>
      <p:sp>
        <p:nvSpPr>
          <p:cNvPr name="AutoShape 39" id="39"/>
          <p:cNvSpPr/>
          <p:nvPr/>
        </p:nvSpPr>
        <p:spPr>
          <a:xfrm flipV="true">
            <a:off x="2597940" y="9348846"/>
            <a:ext cx="1245554" cy="276105"/>
          </a:xfrm>
          <a:prstGeom prst="line">
            <a:avLst/>
          </a:prstGeom>
          <a:ln cap="flat" w="47625">
            <a:solidFill>
              <a:srgbClr val="004AAD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AutoShape 40" id="40"/>
          <p:cNvSpPr/>
          <p:nvPr/>
        </p:nvSpPr>
        <p:spPr>
          <a:xfrm>
            <a:off x="4596565" y="9348846"/>
            <a:ext cx="1245554" cy="276105"/>
          </a:xfrm>
          <a:prstGeom prst="line">
            <a:avLst/>
          </a:prstGeom>
          <a:ln cap="flat" w="47625">
            <a:solidFill>
              <a:srgbClr val="ACACAC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AutoShape 41" id="41"/>
          <p:cNvSpPr/>
          <p:nvPr/>
        </p:nvSpPr>
        <p:spPr>
          <a:xfrm>
            <a:off x="6537116" y="9624951"/>
            <a:ext cx="1274591" cy="0"/>
          </a:xfrm>
          <a:prstGeom prst="line">
            <a:avLst/>
          </a:prstGeom>
          <a:ln cap="flat" w="47625">
            <a:solidFill>
              <a:srgbClr val="ACACAC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AutoShape 42" id="42"/>
          <p:cNvSpPr/>
          <p:nvPr/>
        </p:nvSpPr>
        <p:spPr>
          <a:xfrm>
            <a:off x="8506705" y="9624951"/>
            <a:ext cx="1274591" cy="0"/>
          </a:xfrm>
          <a:prstGeom prst="line">
            <a:avLst/>
          </a:prstGeom>
          <a:ln cap="flat" w="47625">
            <a:solidFill>
              <a:srgbClr val="ACACAC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AutoShape 43" id="43"/>
          <p:cNvSpPr/>
          <p:nvPr/>
        </p:nvSpPr>
        <p:spPr>
          <a:xfrm>
            <a:off x="10476293" y="9624951"/>
            <a:ext cx="1274591" cy="0"/>
          </a:xfrm>
          <a:prstGeom prst="line">
            <a:avLst/>
          </a:prstGeom>
          <a:ln cap="flat" w="47625">
            <a:solidFill>
              <a:srgbClr val="ACACAC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AutoShape 44" id="44"/>
          <p:cNvSpPr/>
          <p:nvPr/>
        </p:nvSpPr>
        <p:spPr>
          <a:xfrm>
            <a:off x="12445881" y="9624951"/>
            <a:ext cx="1247525" cy="30955"/>
          </a:xfrm>
          <a:prstGeom prst="line">
            <a:avLst/>
          </a:prstGeom>
          <a:ln cap="flat" w="47625">
            <a:solidFill>
              <a:srgbClr val="ACACAC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AutoShape 45" id="45"/>
          <p:cNvSpPr/>
          <p:nvPr/>
        </p:nvSpPr>
        <p:spPr>
          <a:xfrm>
            <a:off x="14415469" y="9624951"/>
            <a:ext cx="1251398" cy="0"/>
          </a:xfrm>
          <a:prstGeom prst="line">
            <a:avLst/>
          </a:prstGeom>
          <a:ln cap="flat" w="47625">
            <a:solidFill>
              <a:srgbClr val="ACACAC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TextBox 46" id="46"/>
          <p:cNvSpPr txBox="true"/>
          <p:nvPr/>
        </p:nvSpPr>
        <p:spPr>
          <a:xfrm rot="0">
            <a:off x="423382" y="9390028"/>
            <a:ext cx="1033273" cy="422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48026" y="1533525"/>
            <a:ext cx="15791948" cy="5960189"/>
            <a:chOff x="0" y="0"/>
            <a:chExt cx="21055930" cy="7946919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1783838"/>
              <a:ext cx="21055930" cy="6163081"/>
              <a:chOff x="0" y="0"/>
              <a:chExt cx="4159196" cy="1217399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159196" cy="1217399"/>
              </a:xfrm>
              <a:custGeom>
                <a:avLst/>
                <a:gdLst/>
                <a:ahLst/>
                <a:cxnLst/>
                <a:rect r="r" b="b" t="t" l="l"/>
                <a:pathLst>
                  <a:path h="1217399" w="4159196">
                    <a:moveTo>
                      <a:pt x="25002" y="0"/>
                    </a:moveTo>
                    <a:lnTo>
                      <a:pt x="4134194" y="0"/>
                    </a:lnTo>
                    <a:cubicBezTo>
                      <a:pt x="4140825" y="0"/>
                      <a:pt x="4147184" y="2634"/>
                      <a:pt x="4151873" y="7323"/>
                    </a:cubicBezTo>
                    <a:cubicBezTo>
                      <a:pt x="4156562" y="12012"/>
                      <a:pt x="4159196" y="18371"/>
                      <a:pt x="4159196" y="25002"/>
                    </a:cubicBezTo>
                    <a:lnTo>
                      <a:pt x="4159196" y="1192396"/>
                    </a:lnTo>
                    <a:cubicBezTo>
                      <a:pt x="4159196" y="1206205"/>
                      <a:pt x="4148002" y="1217399"/>
                      <a:pt x="4134194" y="1217399"/>
                    </a:cubicBezTo>
                    <a:lnTo>
                      <a:pt x="25002" y="1217399"/>
                    </a:lnTo>
                    <a:cubicBezTo>
                      <a:pt x="11194" y="1217399"/>
                      <a:pt x="0" y="1206205"/>
                      <a:pt x="0" y="1192396"/>
                    </a:cubicBezTo>
                    <a:lnTo>
                      <a:pt x="0" y="25002"/>
                    </a:lnTo>
                    <a:cubicBezTo>
                      <a:pt x="0" y="11194"/>
                      <a:pt x="11194" y="0"/>
                      <a:pt x="25002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47625"/>
                <a:ext cx="4159196" cy="12650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841678" y="-161925"/>
              <a:ext cx="19372573" cy="18374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11587"/>
                </a:lnSpc>
                <a:spcBef>
                  <a:spcPct val="0"/>
                </a:spcBef>
              </a:pPr>
              <a:r>
                <a:rPr lang="en-US" b="true" sz="8277" strike="noStrike" u="none">
                  <a:solidFill>
                    <a:srgbClr val="004AAD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EXAMPLE OF SPOOLING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731525" y="3336570"/>
            <a:ext cx="14824949" cy="717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Printers are slower than computers.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31525" y="4509639"/>
            <a:ext cx="14824949" cy="717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Print tasks are first stored in a queue on the disk.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31525" y="5682708"/>
            <a:ext cx="14824949" cy="1422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The printer prints them one by one without stopping the computer from working.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31525" y="7732282"/>
            <a:ext cx="14824949" cy="717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 strike="noStrike" u="none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Work is queued to avoid waiting for slow devices.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902942" y="9277452"/>
            <a:ext cx="694998" cy="694998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33055" lIns="33055" bIns="33055" rIns="33055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872531" y="9277452"/>
            <a:ext cx="694998" cy="694998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33055" lIns="33055" bIns="33055" rIns="33055"/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813083" y="8972311"/>
            <a:ext cx="753070" cy="753070"/>
            <a:chOff x="0" y="0"/>
            <a:chExt cx="1004094" cy="1004094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1004094" cy="1004094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33055" lIns="33055" bIns="33055" rIns="33055"/>
              <a:lstStyle/>
              <a:p>
                <a:pPr algn="ctr">
                  <a:lnSpc>
                    <a:spcPts val="3499"/>
                  </a:lnSpc>
                </a:pPr>
                <a:r>
                  <a:rPr lang="en-US" sz="2499">
                    <a:solidFill>
                      <a:srgbClr val="FFFFFF"/>
                    </a:solidFill>
                    <a:latin typeface="Archivo Black"/>
                    <a:ea typeface="Archivo Black"/>
                    <a:cs typeface="Archivo Black"/>
                    <a:sym typeface="Archivo Black"/>
                  </a:rPr>
                  <a:t>1</a:t>
                </a: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38715" y="38715"/>
              <a:ext cx="926663" cy="926663"/>
              <a:chOff x="0" y="0"/>
              <a:chExt cx="812800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33055" lIns="33055" bIns="33055" rIns="33055"/>
              <a:lstStyle/>
              <a:p>
                <a:pPr algn="ctr" marL="0" indent="0" lvl="0">
                  <a:lnSpc>
                    <a:spcPts val="3499"/>
                  </a:lnSpc>
                  <a:spcBef>
                    <a:spcPct val="0"/>
                  </a:spcBef>
                </a:pPr>
                <a:r>
                  <a:rPr lang="en-US" sz="2499" strike="noStrike" u="none">
                    <a:solidFill>
                      <a:srgbClr val="FFFFFF"/>
                    </a:solidFill>
                    <a:latin typeface="Archivo Black"/>
                    <a:ea typeface="Archivo Black"/>
                    <a:cs typeface="Archivo Black"/>
                    <a:sym typeface="Archivo Black"/>
                  </a:rPr>
                  <a:t>3</a:t>
                </a:r>
              </a:p>
            </p:txBody>
          </p:sp>
        </p:grpSp>
      </p:grpSp>
      <p:grpSp>
        <p:nvGrpSpPr>
          <p:cNvPr name="Group 25" id="25"/>
          <p:cNvGrpSpPr/>
          <p:nvPr/>
        </p:nvGrpSpPr>
        <p:grpSpPr>
          <a:xfrm rot="0">
            <a:off x="7811707" y="9277452"/>
            <a:ext cx="694998" cy="694998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CACAC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33055" lIns="33055" bIns="33055" rIns="33055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3D532C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4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781295" y="9277452"/>
            <a:ext cx="694998" cy="694998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CACAC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33055" lIns="33055" bIns="33055" rIns="33055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3D532C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5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750884" y="9277452"/>
            <a:ext cx="694998" cy="694998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CACAC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33055" lIns="33055" bIns="33055" rIns="33055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3D532C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6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3720472" y="9277452"/>
            <a:ext cx="694998" cy="694998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CACAC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33055" lIns="33055" bIns="33055" rIns="33055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3D532C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7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5690060" y="9277452"/>
            <a:ext cx="694998" cy="694998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CACAC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33055" lIns="33055" bIns="33055" rIns="33055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3D532C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8</a:t>
              </a:r>
            </a:p>
          </p:txBody>
        </p:sp>
      </p:grpSp>
      <p:sp>
        <p:nvSpPr>
          <p:cNvPr name="AutoShape 40" id="40"/>
          <p:cNvSpPr/>
          <p:nvPr/>
        </p:nvSpPr>
        <p:spPr>
          <a:xfrm>
            <a:off x="2675445" y="9624951"/>
            <a:ext cx="1197085" cy="0"/>
          </a:xfrm>
          <a:prstGeom prst="line">
            <a:avLst/>
          </a:prstGeom>
          <a:ln cap="flat" w="47625">
            <a:solidFill>
              <a:srgbClr val="004AAD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AutoShape 41" id="41"/>
          <p:cNvSpPr/>
          <p:nvPr/>
        </p:nvSpPr>
        <p:spPr>
          <a:xfrm flipV="true">
            <a:off x="4567528" y="9371709"/>
            <a:ext cx="1245554" cy="253243"/>
          </a:xfrm>
          <a:prstGeom prst="line">
            <a:avLst/>
          </a:prstGeom>
          <a:ln cap="flat" w="47625">
            <a:solidFill>
              <a:srgbClr val="004AAD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AutoShape 42" id="42"/>
          <p:cNvSpPr/>
          <p:nvPr/>
        </p:nvSpPr>
        <p:spPr>
          <a:xfrm>
            <a:off x="6566153" y="9348846"/>
            <a:ext cx="1245554" cy="276105"/>
          </a:xfrm>
          <a:prstGeom prst="line">
            <a:avLst/>
          </a:prstGeom>
          <a:ln cap="flat" w="47625">
            <a:solidFill>
              <a:srgbClr val="ACACAC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AutoShape 43" id="43"/>
          <p:cNvSpPr/>
          <p:nvPr/>
        </p:nvSpPr>
        <p:spPr>
          <a:xfrm>
            <a:off x="8506705" y="9624951"/>
            <a:ext cx="1274591" cy="0"/>
          </a:xfrm>
          <a:prstGeom prst="line">
            <a:avLst/>
          </a:prstGeom>
          <a:ln cap="flat" w="47625">
            <a:solidFill>
              <a:srgbClr val="ACACAC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AutoShape 44" id="44"/>
          <p:cNvSpPr/>
          <p:nvPr/>
        </p:nvSpPr>
        <p:spPr>
          <a:xfrm>
            <a:off x="10521547" y="9624951"/>
            <a:ext cx="1229337" cy="0"/>
          </a:xfrm>
          <a:prstGeom prst="line">
            <a:avLst/>
          </a:prstGeom>
          <a:ln cap="flat" w="47625">
            <a:solidFill>
              <a:srgbClr val="ACACAC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AutoShape 45" id="45"/>
          <p:cNvSpPr/>
          <p:nvPr/>
        </p:nvSpPr>
        <p:spPr>
          <a:xfrm>
            <a:off x="12445881" y="9624951"/>
            <a:ext cx="1224309" cy="0"/>
          </a:xfrm>
          <a:prstGeom prst="line">
            <a:avLst/>
          </a:prstGeom>
          <a:ln cap="flat" w="47625">
            <a:solidFill>
              <a:srgbClr val="ACACAC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AutoShape 46" id="46"/>
          <p:cNvSpPr/>
          <p:nvPr/>
        </p:nvSpPr>
        <p:spPr>
          <a:xfrm>
            <a:off x="14455066" y="9624951"/>
            <a:ext cx="1234994" cy="0"/>
          </a:xfrm>
          <a:prstGeom prst="line">
            <a:avLst/>
          </a:prstGeom>
          <a:ln cap="flat" w="47625">
            <a:solidFill>
              <a:srgbClr val="ACACAC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TextBox 47" id="47"/>
          <p:cNvSpPr txBox="true"/>
          <p:nvPr/>
        </p:nvSpPr>
        <p:spPr>
          <a:xfrm rot="0">
            <a:off x="423382" y="9390028"/>
            <a:ext cx="1033273" cy="422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48026" y="1533525"/>
            <a:ext cx="15791948" cy="6852143"/>
            <a:chOff x="0" y="0"/>
            <a:chExt cx="21055930" cy="913619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1783838"/>
              <a:ext cx="21055930" cy="7352352"/>
              <a:chOff x="0" y="0"/>
              <a:chExt cx="4159196" cy="1452316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159196" cy="1452316"/>
              </a:xfrm>
              <a:custGeom>
                <a:avLst/>
                <a:gdLst/>
                <a:ahLst/>
                <a:cxnLst/>
                <a:rect r="r" b="b" t="t" l="l"/>
                <a:pathLst>
                  <a:path h="1452316" w="4159196">
                    <a:moveTo>
                      <a:pt x="25002" y="0"/>
                    </a:moveTo>
                    <a:lnTo>
                      <a:pt x="4134194" y="0"/>
                    </a:lnTo>
                    <a:cubicBezTo>
                      <a:pt x="4140825" y="0"/>
                      <a:pt x="4147184" y="2634"/>
                      <a:pt x="4151873" y="7323"/>
                    </a:cubicBezTo>
                    <a:cubicBezTo>
                      <a:pt x="4156562" y="12012"/>
                      <a:pt x="4159196" y="18371"/>
                      <a:pt x="4159196" y="25002"/>
                    </a:cubicBezTo>
                    <a:lnTo>
                      <a:pt x="4159196" y="1427314"/>
                    </a:lnTo>
                    <a:cubicBezTo>
                      <a:pt x="4159196" y="1441122"/>
                      <a:pt x="4148002" y="1452316"/>
                      <a:pt x="4134194" y="1452316"/>
                    </a:cubicBezTo>
                    <a:lnTo>
                      <a:pt x="25002" y="1452316"/>
                    </a:lnTo>
                    <a:cubicBezTo>
                      <a:pt x="11194" y="1452316"/>
                      <a:pt x="0" y="1441122"/>
                      <a:pt x="0" y="1427314"/>
                    </a:cubicBezTo>
                    <a:lnTo>
                      <a:pt x="0" y="25002"/>
                    </a:lnTo>
                    <a:cubicBezTo>
                      <a:pt x="0" y="11194"/>
                      <a:pt x="11194" y="0"/>
                      <a:pt x="25002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47625"/>
                <a:ext cx="4159196" cy="14999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841678" y="-161925"/>
              <a:ext cx="19372573" cy="18374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11587"/>
                </a:lnSpc>
                <a:spcBef>
                  <a:spcPct val="0"/>
                </a:spcBef>
              </a:pPr>
              <a:r>
                <a:rPr lang="en-US" b="true" sz="8277" strike="noStrike" u="none">
                  <a:solidFill>
                    <a:srgbClr val="004AAD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WHAT IS BUFFERING?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731525" y="3431766"/>
            <a:ext cx="14824949" cy="1422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Buffering temporarily stores data in a buffer in the RAM.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31525" y="5157602"/>
            <a:ext cx="14824949" cy="1422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It helps balance the speed difference between fast and slow devices.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31525" y="6883439"/>
            <a:ext cx="14824949" cy="717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It keeps data flow smooth and prevents delays.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902942" y="9277452"/>
            <a:ext cx="694998" cy="69499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33055" lIns="33055" bIns="33055" rIns="33055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872531" y="9277452"/>
            <a:ext cx="694998" cy="69499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33055" lIns="33055" bIns="33055" rIns="33055"/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2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842119" y="9277452"/>
            <a:ext cx="694998" cy="694998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33055" lIns="33055" bIns="33055" rIns="33055"/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3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782671" y="8972311"/>
            <a:ext cx="753070" cy="753070"/>
            <a:chOff x="0" y="0"/>
            <a:chExt cx="1004094" cy="1004094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1004094" cy="1004094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33055" lIns="33055" bIns="33055" rIns="33055"/>
              <a:lstStyle/>
              <a:p>
                <a:pPr algn="ctr">
                  <a:lnSpc>
                    <a:spcPts val="3499"/>
                  </a:lnSpc>
                </a:pPr>
                <a:r>
                  <a:rPr lang="en-US" sz="2499">
                    <a:solidFill>
                      <a:srgbClr val="FFFFFF"/>
                    </a:solidFill>
                    <a:latin typeface="Archivo Black"/>
                    <a:ea typeface="Archivo Black"/>
                    <a:cs typeface="Archivo Black"/>
                    <a:sym typeface="Archivo Black"/>
                  </a:rPr>
                  <a:t>1</a:t>
                </a: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38715" y="38715"/>
              <a:ext cx="926663" cy="926663"/>
              <a:chOff x="0" y="0"/>
              <a:chExt cx="812800" cy="8128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33055" lIns="33055" bIns="33055" rIns="33055"/>
              <a:lstStyle/>
              <a:p>
                <a:pPr algn="ctr" marL="0" indent="0" lvl="0">
                  <a:lnSpc>
                    <a:spcPts val="3499"/>
                  </a:lnSpc>
                  <a:spcBef>
                    <a:spcPct val="0"/>
                  </a:spcBef>
                </a:pPr>
                <a:r>
                  <a:rPr lang="en-US" sz="2499" strike="noStrike" u="none">
                    <a:solidFill>
                      <a:srgbClr val="FFFFFF"/>
                    </a:solidFill>
                    <a:latin typeface="Archivo Black"/>
                    <a:ea typeface="Archivo Black"/>
                    <a:cs typeface="Archivo Black"/>
                    <a:sym typeface="Archivo Black"/>
                  </a:rPr>
                  <a:t>4</a:t>
                </a:r>
              </a:p>
            </p:txBody>
          </p:sp>
        </p:grpSp>
      </p:grpSp>
      <p:grpSp>
        <p:nvGrpSpPr>
          <p:cNvPr name="Group 27" id="27"/>
          <p:cNvGrpSpPr/>
          <p:nvPr/>
        </p:nvGrpSpPr>
        <p:grpSpPr>
          <a:xfrm rot="0">
            <a:off x="9781295" y="9277452"/>
            <a:ext cx="694998" cy="694998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CACAC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33055" lIns="33055" bIns="33055" rIns="33055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3D532C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5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750884" y="9277452"/>
            <a:ext cx="694998" cy="694998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CACAC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33055" lIns="33055" bIns="33055" rIns="33055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3D532C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6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3720472" y="9277452"/>
            <a:ext cx="694998" cy="694998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CACAC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33055" lIns="33055" bIns="33055" rIns="33055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3D532C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7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5690060" y="9277452"/>
            <a:ext cx="694998" cy="694998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CACAC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33055" lIns="33055" bIns="33055" rIns="33055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3D532C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8</a:t>
              </a:r>
            </a:p>
          </p:txBody>
        </p:sp>
      </p:grpSp>
      <p:sp>
        <p:nvSpPr>
          <p:cNvPr name="AutoShape 39" id="39"/>
          <p:cNvSpPr/>
          <p:nvPr/>
        </p:nvSpPr>
        <p:spPr>
          <a:xfrm>
            <a:off x="2648344" y="9624951"/>
            <a:ext cx="1224187" cy="0"/>
          </a:xfrm>
          <a:prstGeom prst="line">
            <a:avLst/>
          </a:prstGeom>
          <a:ln cap="flat" w="47625">
            <a:solidFill>
              <a:srgbClr val="004AAD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AutoShape 40" id="40"/>
          <p:cNvSpPr/>
          <p:nvPr/>
        </p:nvSpPr>
        <p:spPr>
          <a:xfrm>
            <a:off x="4567528" y="9624951"/>
            <a:ext cx="1274591" cy="0"/>
          </a:xfrm>
          <a:prstGeom prst="line">
            <a:avLst/>
          </a:prstGeom>
          <a:ln cap="flat" w="47625">
            <a:solidFill>
              <a:srgbClr val="004AAD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AutoShape 41" id="41"/>
          <p:cNvSpPr/>
          <p:nvPr/>
        </p:nvSpPr>
        <p:spPr>
          <a:xfrm flipV="true">
            <a:off x="6537116" y="9381138"/>
            <a:ext cx="1245554" cy="243813"/>
          </a:xfrm>
          <a:prstGeom prst="line">
            <a:avLst/>
          </a:prstGeom>
          <a:ln cap="flat" w="47625">
            <a:solidFill>
              <a:srgbClr val="004AAD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AutoShape 42" id="42"/>
          <p:cNvSpPr/>
          <p:nvPr/>
        </p:nvSpPr>
        <p:spPr>
          <a:xfrm>
            <a:off x="8535741" y="9348846"/>
            <a:ext cx="1245554" cy="276105"/>
          </a:xfrm>
          <a:prstGeom prst="line">
            <a:avLst/>
          </a:prstGeom>
          <a:ln cap="flat" w="47625">
            <a:solidFill>
              <a:srgbClr val="ACACAC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AutoShape 43" id="43"/>
          <p:cNvSpPr/>
          <p:nvPr/>
        </p:nvSpPr>
        <p:spPr>
          <a:xfrm>
            <a:off x="10476293" y="9624951"/>
            <a:ext cx="1274591" cy="0"/>
          </a:xfrm>
          <a:prstGeom prst="line">
            <a:avLst/>
          </a:prstGeom>
          <a:ln cap="flat" w="47625">
            <a:solidFill>
              <a:srgbClr val="ACACAC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AutoShape 44" id="44"/>
          <p:cNvSpPr/>
          <p:nvPr/>
        </p:nvSpPr>
        <p:spPr>
          <a:xfrm>
            <a:off x="12481171" y="9624951"/>
            <a:ext cx="1239301" cy="0"/>
          </a:xfrm>
          <a:prstGeom prst="line">
            <a:avLst/>
          </a:prstGeom>
          <a:ln cap="flat" w="47625">
            <a:solidFill>
              <a:srgbClr val="ACACAC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AutoShape 45" id="45"/>
          <p:cNvSpPr/>
          <p:nvPr/>
        </p:nvSpPr>
        <p:spPr>
          <a:xfrm>
            <a:off x="14445708" y="9624951"/>
            <a:ext cx="1244352" cy="0"/>
          </a:xfrm>
          <a:prstGeom prst="line">
            <a:avLst/>
          </a:prstGeom>
          <a:ln cap="flat" w="47625">
            <a:solidFill>
              <a:srgbClr val="ACACAC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TextBox 46" id="46"/>
          <p:cNvSpPr txBox="true"/>
          <p:nvPr/>
        </p:nvSpPr>
        <p:spPr>
          <a:xfrm rot="0">
            <a:off x="423382" y="9390028"/>
            <a:ext cx="1033273" cy="422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48026" y="1533525"/>
            <a:ext cx="15791948" cy="5833141"/>
            <a:chOff x="0" y="0"/>
            <a:chExt cx="21055930" cy="7777521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1783838"/>
              <a:ext cx="21055930" cy="5993683"/>
              <a:chOff x="0" y="0"/>
              <a:chExt cx="4159196" cy="1183937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159196" cy="1183937"/>
              </a:xfrm>
              <a:custGeom>
                <a:avLst/>
                <a:gdLst/>
                <a:ahLst/>
                <a:cxnLst/>
                <a:rect r="r" b="b" t="t" l="l"/>
                <a:pathLst>
                  <a:path h="1183937" w="4159196">
                    <a:moveTo>
                      <a:pt x="25002" y="0"/>
                    </a:moveTo>
                    <a:lnTo>
                      <a:pt x="4134194" y="0"/>
                    </a:lnTo>
                    <a:cubicBezTo>
                      <a:pt x="4140825" y="0"/>
                      <a:pt x="4147184" y="2634"/>
                      <a:pt x="4151873" y="7323"/>
                    </a:cubicBezTo>
                    <a:cubicBezTo>
                      <a:pt x="4156562" y="12012"/>
                      <a:pt x="4159196" y="18371"/>
                      <a:pt x="4159196" y="25002"/>
                    </a:cubicBezTo>
                    <a:lnTo>
                      <a:pt x="4159196" y="1158935"/>
                    </a:lnTo>
                    <a:cubicBezTo>
                      <a:pt x="4159196" y="1172743"/>
                      <a:pt x="4148002" y="1183937"/>
                      <a:pt x="4134194" y="1183937"/>
                    </a:cubicBezTo>
                    <a:lnTo>
                      <a:pt x="25002" y="1183937"/>
                    </a:lnTo>
                    <a:cubicBezTo>
                      <a:pt x="11194" y="1183937"/>
                      <a:pt x="0" y="1172743"/>
                      <a:pt x="0" y="1158935"/>
                    </a:cubicBezTo>
                    <a:lnTo>
                      <a:pt x="0" y="25002"/>
                    </a:lnTo>
                    <a:cubicBezTo>
                      <a:pt x="0" y="11194"/>
                      <a:pt x="11194" y="0"/>
                      <a:pt x="25002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47625"/>
                <a:ext cx="4159196" cy="123156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841678" y="-161925"/>
              <a:ext cx="19372573" cy="18374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11587"/>
                </a:lnSpc>
                <a:spcBef>
                  <a:spcPct val="0"/>
                </a:spcBef>
              </a:pPr>
              <a:r>
                <a:rPr lang="en-US" b="true" sz="8277" strike="noStrike" u="none">
                  <a:solidFill>
                    <a:srgbClr val="004AAD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EXAMPLE OF BUFFERING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731525" y="3280339"/>
            <a:ext cx="14824949" cy="1422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When you play a YouTube video, some part is loaded first before playing.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31525" y="5036024"/>
            <a:ext cx="14824949" cy="717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This stored data is called a buffer.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31525" y="6086804"/>
            <a:ext cx="14824949" cy="717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It prevents pauses when data is being fetched.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31525" y="7464053"/>
            <a:ext cx="14824949" cy="717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599"/>
              </a:lnSpc>
              <a:spcBef>
                <a:spcPct val="0"/>
              </a:spcBef>
            </a:pPr>
            <a:r>
              <a:rPr lang="en-US" b="true" sz="3999" strike="noStrike" u="none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Data is held temporarily to avoid interruptions.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902942" y="9277452"/>
            <a:ext cx="694998" cy="694998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33055" lIns="33055" bIns="33055" rIns="33055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872531" y="9277452"/>
            <a:ext cx="694998" cy="694998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33055" lIns="33055" bIns="33055" rIns="33055"/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842119" y="9277452"/>
            <a:ext cx="694998" cy="694998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33055" lIns="33055" bIns="33055" rIns="33055"/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3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811707" y="9277452"/>
            <a:ext cx="694998" cy="694998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33055" lIns="33055" bIns="33055" rIns="33055"/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4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752259" y="8972311"/>
            <a:ext cx="753070" cy="753070"/>
            <a:chOff x="0" y="0"/>
            <a:chExt cx="1004094" cy="1004094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1004094" cy="1004094"/>
              <a:chOff x="0" y="0"/>
              <a:chExt cx="812800" cy="812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33055" lIns="33055" bIns="33055" rIns="33055"/>
              <a:lstStyle/>
              <a:p>
                <a:pPr algn="ctr">
                  <a:lnSpc>
                    <a:spcPts val="3499"/>
                  </a:lnSpc>
                </a:pPr>
                <a:r>
                  <a:rPr lang="en-US" sz="2499">
                    <a:solidFill>
                      <a:srgbClr val="FFFFFF"/>
                    </a:solidFill>
                    <a:latin typeface="Archivo Black"/>
                    <a:ea typeface="Archivo Black"/>
                    <a:cs typeface="Archivo Black"/>
                    <a:sym typeface="Archivo Black"/>
                  </a:rPr>
                  <a:t>1</a:t>
                </a: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38715" y="38715"/>
              <a:ext cx="926663" cy="926663"/>
              <a:chOff x="0" y="0"/>
              <a:chExt cx="812800" cy="8128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33055" lIns="33055" bIns="33055" rIns="33055"/>
              <a:lstStyle/>
              <a:p>
                <a:pPr algn="ctr" marL="0" indent="0" lvl="0">
                  <a:lnSpc>
                    <a:spcPts val="3499"/>
                  </a:lnSpc>
                  <a:spcBef>
                    <a:spcPct val="0"/>
                  </a:spcBef>
                </a:pPr>
                <a:r>
                  <a:rPr lang="en-US" sz="2499" strike="noStrike" u="none">
                    <a:solidFill>
                      <a:srgbClr val="FFFFFF"/>
                    </a:solidFill>
                    <a:latin typeface="Archivo Black"/>
                    <a:ea typeface="Archivo Black"/>
                    <a:cs typeface="Archivo Black"/>
                    <a:sym typeface="Archivo Black"/>
                  </a:rPr>
                  <a:t>5</a:t>
                </a:r>
              </a:p>
            </p:txBody>
          </p:sp>
        </p:grpSp>
      </p:grpSp>
      <p:grpSp>
        <p:nvGrpSpPr>
          <p:cNvPr name="Group 31" id="31"/>
          <p:cNvGrpSpPr/>
          <p:nvPr/>
        </p:nvGrpSpPr>
        <p:grpSpPr>
          <a:xfrm rot="0">
            <a:off x="11750884" y="9277452"/>
            <a:ext cx="694998" cy="694998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CACAC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33055" lIns="33055" bIns="33055" rIns="33055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3D532C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6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3720472" y="9277452"/>
            <a:ext cx="694998" cy="694998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CACAC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33055" lIns="33055" bIns="33055" rIns="33055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3D532C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7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5690060" y="9277452"/>
            <a:ext cx="694998" cy="694998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CACAC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33055" lIns="33055" bIns="33055" rIns="33055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3D532C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8</a:t>
              </a:r>
            </a:p>
          </p:txBody>
        </p:sp>
      </p:grpSp>
      <p:sp>
        <p:nvSpPr>
          <p:cNvPr name="AutoShape 40" id="40"/>
          <p:cNvSpPr/>
          <p:nvPr/>
        </p:nvSpPr>
        <p:spPr>
          <a:xfrm>
            <a:off x="2633220" y="9624951"/>
            <a:ext cx="1239311" cy="0"/>
          </a:xfrm>
          <a:prstGeom prst="line">
            <a:avLst/>
          </a:prstGeom>
          <a:ln cap="flat" w="47625">
            <a:solidFill>
              <a:srgbClr val="004AAD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AutoShape 41" id="41"/>
          <p:cNvSpPr/>
          <p:nvPr/>
        </p:nvSpPr>
        <p:spPr>
          <a:xfrm>
            <a:off x="4567528" y="9624951"/>
            <a:ext cx="1249546" cy="0"/>
          </a:xfrm>
          <a:prstGeom prst="line">
            <a:avLst/>
          </a:prstGeom>
          <a:ln cap="flat" w="47625">
            <a:solidFill>
              <a:srgbClr val="004AAD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AutoShape 42" id="42"/>
          <p:cNvSpPr/>
          <p:nvPr/>
        </p:nvSpPr>
        <p:spPr>
          <a:xfrm>
            <a:off x="6537116" y="9624951"/>
            <a:ext cx="1274591" cy="0"/>
          </a:xfrm>
          <a:prstGeom prst="line">
            <a:avLst/>
          </a:prstGeom>
          <a:ln cap="flat" w="47625">
            <a:solidFill>
              <a:srgbClr val="004AAD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AutoShape 43" id="43"/>
          <p:cNvSpPr/>
          <p:nvPr/>
        </p:nvSpPr>
        <p:spPr>
          <a:xfrm flipV="true">
            <a:off x="8506705" y="9385853"/>
            <a:ext cx="1245554" cy="239098"/>
          </a:xfrm>
          <a:prstGeom prst="line">
            <a:avLst/>
          </a:prstGeom>
          <a:ln cap="flat" w="47625">
            <a:solidFill>
              <a:srgbClr val="004AAD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AutoShape 44" id="44"/>
          <p:cNvSpPr/>
          <p:nvPr/>
        </p:nvSpPr>
        <p:spPr>
          <a:xfrm>
            <a:off x="10505329" y="9348846"/>
            <a:ext cx="1245554" cy="276105"/>
          </a:xfrm>
          <a:prstGeom prst="line">
            <a:avLst/>
          </a:prstGeom>
          <a:ln cap="flat" w="47625">
            <a:solidFill>
              <a:srgbClr val="ACACAC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AutoShape 45" id="45"/>
          <p:cNvSpPr/>
          <p:nvPr/>
        </p:nvSpPr>
        <p:spPr>
          <a:xfrm>
            <a:off x="12445881" y="9624951"/>
            <a:ext cx="1249450" cy="0"/>
          </a:xfrm>
          <a:prstGeom prst="line">
            <a:avLst/>
          </a:prstGeom>
          <a:ln cap="flat" w="47625">
            <a:solidFill>
              <a:srgbClr val="ACACAC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AutoShape 46" id="46"/>
          <p:cNvSpPr/>
          <p:nvPr/>
        </p:nvSpPr>
        <p:spPr>
          <a:xfrm>
            <a:off x="14415469" y="9624951"/>
            <a:ext cx="1254564" cy="0"/>
          </a:xfrm>
          <a:prstGeom prst="line">
            <a:avLst/>
          </a:prstGeom>
          <a:ln cap="flat" w="47625">
            <a:solidFill>
              <a:srgbClr val="ACACAC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TextBox 47" id="47"/>
          <p:cNvSpPr txBox="true"/>
          <p:nvPr/>
        </p:nvSpPr>
        <p:spPr>
          <a:xfrm rot="0">
            <a:off x="423382" y="9390028"/>
            <a:ext cx="1033273" cy="422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48026" y="1533525"/>
            <a:ext cx="15791948" cy="6852143"/>
            <a:chOff x="0" y="0"/>
            <a:chExt cx="21055930" cy="913619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1783838"/>
              <a:ext cx="21055930" cy="7352352"/>
              <a:chOff x="0" y="0"/>
              <a:chExt cx="4159196" cy="1452316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159196" cy="1452316"/>
              </a:xfrm>
              <a:custGeom>
                <a:avLst/>
                <a:gdLst/>
                <a:ahLst/>
                <a:cxnLst/>
                <a:rect r="r" b="b" t="t" l="l"/>
                <a:pathLst>
                  <a:path h="1452316" w="4159196">
                    <a:moveTo>
                      <a:pt x="25002" y="0"/>
                    </a:moveTo>
                    <a:lnTo>
                      <a:pt x="4134194" y="0"/>
                    </a:lnTo>
                    <a:cubicBezTo>
                      <a:pt x="4140825" y="0"/>
                      <a:pt x="4147184" y="2634"/>
                      <a:pt x="4151873" y="7323"/>
                    </a:cubicBezTo>
                    <a:cubicBezTo>
                      <a:pt x="4156562" y="12012"/>
                      <a:pt x="4159196" y="18371"/>
                      <a:pt x="4159196" y="25002"/>
                    </a:cubicBezTo>
                    <a:lnTo>
                      <a:pt x="4159196" y="1427314"/>
                    </a:lnTo>
                    <a:cubicBezTo>
                      <a:pt x="4159196" y="1441122"/>
                      <a:pt x="4148002" y="1452316"/>
                      <a:pt x="4134194" y="1452316"/>
                    </a:cubicBezTo>
                    <a:lnTo>
                      <a:pt x="25002" y="1452316"/>
                    </a:lnTo>
                    <a:cubicBezTo>
                      <a:pt x="11194" y="1452316"/>
                      <a:pt x="0" y="1441122"/>
                      <a:pt x="0" y="1427314"/>
                    </a:cubicBezTo>
                    <a:lnTo>
                      <a:pt x="0" y="25002"/>
                    </a:lnTo>
                    <a:cubicBezTo>
                      <a:pt x="0" y="11194"/>
                      <a:pt x="11194" y="0"/>
                      <a:pt x="25002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47625"/>
                <a:ext cx="4159196" cy="14999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841678" y="-161925"/>
              <a:ext cx="19372573" cy="18374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11587"/>
                </a:lnSpc>
                <a:spcBef>
                  <a:spcPct val="0"/>
                </a:spcBef>
              </a:pPr>
              <a:r>
                <a:rPr lang="en-US" b="true" sz="8277" strike="noStrike" u="none">
                  <a:solidFill>
                    <a:srgbClr val="004AAD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WHAT IS CACHING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731525" y="3101949"/>
            <a:ext cx="14824949" cy="1422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Caching stores frequently used data in cache memory, which is very close to the CPU.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31525" y="4970395"/>
            <a:ext cx="14824949" cy="1422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This reduces the need to fetch data repeatedly from slower memory.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31525" y="6838842"/>
            <a:ext cx="14824949" cy="717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It increases the system performance.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902942" y="9277452"/>
            <a:ext cx="694998" cy="69499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33055" lIns="33055" bIns="33055" rIns="33055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872531" y="9277452"/>
            <a:ext cx="694998" cy="69499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33055" lIns="33055" bIns="33055" rIns="33055"/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2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842119" y="9277452"/>
            <a:ext cx="694998" cy="694998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33055" lIns="33055" bIns="33055" rIns="33055"/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3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811707" y="9277452"/>
            <a:ext cx="694998" cy="694998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33055" lIns="33055" bIns="33055" rIns="33055"/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4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781295" y="9277452"/>
            <a:ext cx="694998" cy="694998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33055" lIns="33055" bIns="33055" rIns="33055"/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5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721847" y="8972311"/>
            <a:ext cx="753070" cy="753070"/>
            <a:chOff x="0" y="0"/>
            <a:chExt cx="1004094" cy="1004094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1004094" cy="1004094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33055" lIns="33055" bIns="33055" rIns="33055"/>
              <a:lstStyle/>
              <a:p>
                <a:pPr algn="ctr">
                  <a:lnSpc>
                    <a:spcPts val="3499"/>
                  </a:lnSpc>
                </a:pPr>
                <a:r>
                  <a:rPr lang="en-US" sz="2499">
                    <a:solidFill>
                      <a:srgbClr val="FFFFFF"/>
                    </a:solidFill>
                    <a:latin typeface="Archivo Black"/>
                    <a:ea typeface="Archivo Black"/>
                    <a:cs typeface="Archivo Black"/>
                    <a:sym typeface="Archivo Black"/>
                  </a:rPr>
                  <a:t>1</a:t>
                </a: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38715" y="38715"/>
              <a:ext cx="926663" cy="926663"/>
              <a:chOff x="0" y="0"/>
              <a:chExt cx="812800" cy="8128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33055" lIns="33055" bIns="33055" rIns="33055"/>
              <a:lstStyle/>
              <a:p>
                <a:pPr algn="ctr" marL="0" indent="0" lvl="0">
                  <a:lnSpc>
                    <a:spcPts val="3499"/>
                  </a:lnSpc>
                  <a:spcBef>
                    <a:spcPct val="0"/>
                  </a:spcBef>
                </a:pPr>
                <a:r>
                  <a:rPr lang="en-US" sz="2499" strike="noStrike" u="none">
                    <a:solidFill>
                      <a:srgbClr val="FFFFFF"/>
                    </a:solidFill>
                    <a:latin typeface="Archivo Black"/>
                    <a:ea typeface="Archivo Black"/>
                    <a:cs typeface="Archivo Black"/>
                    <a:sym typeface="Archivo Black"/>
                  </a:rPr>
                  <a:t>6</a:t>
                </a:r>
              </a:p>
            </p:txBody>
          </p:sp>
        </p:grpSp>
      </p:grpSp>
      <p:grpSp>
        <p:nvGrpSpPr>
          <p:cNvPr name="Group 33" id="33"/>
          <p:cNvGrpSpPr/>
          <p:nvPr/>
        </p:nvGrpSpPr>
        <p:grpSpPr>
          <a:xfrm rot="0">
            <a:off x="13720472" y="9277452"/>
            <a:ext cx="694998" cy="694998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CACAC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33055" lIns="33055" bIns="33055" rIns="33055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3D532C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7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5690060" y="9277452"/>
            <a:ext cx="694998" cy="694998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CACAC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33055" lIns="33055" bIns="33055" rIns="33055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3D532C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8</a:t>
              </a:r>
            </a:p>
          </p:txBody>
        </p:sp>
      </p:grpSp>
      <p:sp>
        <p:nvSpPr>
          <p:cNvPr name="AutoShape 39" id="39"/>
          <p:cNvSpPr/>
          <p:nvPr/>
        </p:nvSpPr>
        <p:spPr>
          <a:xfrm>
            <a:off x="2597940" y="9624951"/>
            <a:ext cx="1274591" cy="0"/>
          </a:xfrm>
          <a:prstGeom prst="line">
            <a:avLst/>
          </a:prstGeom>
          <a:ln cap="flat" w="47625">
            <a:solidFill>
              <a:srgbClr val="004AAD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AutoShape 40" id="40"/>
          <p:cNvSpPr/>
          <p:nvPr/>
        </p:nvSpPr>
        <p:spPr>
          <a:xfrm>
            <a:off x="4567528" y="9624951"/>
            <a:ext cx="1274591" cy="0"/>
          </a:xfrm>
          <a:prstGeom prst="line">
            <a:avLst/>
          </a:prstGeom>
          <a:ln cap="flat" w="47625">
            <a:solidFill>
              <a:srgbClr val="004AAD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AutoShape 41" id="41"/>
          <p:cNvSpPr/>
          <p:nvPr/>
        </p:nvSpPr>
        <p:spPr>
          <a:xfrm>
            <a:off x="6537116" y="9624951"/>
            <a:ext cx="1254587" cy="0"/>
          </a:xfrm>
          <a:prstGeom prst="line">
            <a:avLst/>
          </a:prstGeom>
          <a:ln cap="flat" w="47625">
            <a:solidFill>
              <a:srgbClr val="004AAD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AutoShape 42" id="42"/>
          <p:cNvSpPr/>
          <p:nvPr/>
        </p:nvSpPr>
        <p:spPr>
          <a:xfrm>
            <a:off x="8506705" y="9624951"/>
            <a:ext cx="1229373" cy="0"/>
          </a:xfrm>
          <a:prstGeom prst="line">
            <a:avLst/>
          </a:prstGeom>
          <a:ln cap="flat" w="47625">
            <a:solidFill>
              <a:srgbClr val="004AAD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AutoShape 43" id="43"/>
          <p:cNvSpPr/>
          <p:nvPr/>
        </p:nvSpPr>
        <p:spPr>
          <a:xfrm flipV="true">
            <a:off x="10476293" y="9348846"/>
            <a:ext cx="1222726" cy="276105"/>
          </a:xfrm>
          <a:prstGeom prst="line">
            <a:avLst/>
          </a:prstGeom>
          <a:ln cap="flat" w="47625">
            <a:solidFill>
              <a:srgbClr val="004AAD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AutoShape 44" id="44"/>
          <p:cNvSpPr/>
          <p:nvPr/>
        </p:nvSpPr>
        <p:spPr>
          <a:xfrm>
            <a:off x="12474917" y="9348846"/>
            <a:ext cx="1245554" cy="276105"/>
          </a:xfrm>
          <a:prstGeom prst="line">
            <a:avLst/>
          </a:prstGeom>
          <a:ln cap="flat" w="47625">
            <a:solidFill>
              <a:srgbClr val="ACACAC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AutoShape 45" id="45"/>
          <p:cNvSpPr/>
          <p:nvPr/>
        </p:nvSpPr>
        <p:spPr>
          <a:xfrm>
            <a:off x="14415469" y="9624951"/>
            <a:ext cx="1219152" cy="0"/>
          </a:xfrm>
          <a:prstGeom prst="line">
            <a:avLst/>
          </a:prstGeom>
          <a:ln cap="flat" w="47625">
            <a:solidFill>
              <a:srgbClr val="ACACAC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TextBox 46" id="46"/>
          <p:cNvSpPr txBox="true"/>
          <p:nvPr/>
        </p:nvSpPr>
        <p:spPr>
          <a:xfrm rot="0">
            <a:off x="423382" y="9390028"/>
            <a:ext cx="1033273" cy="422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48026" y="1533525"/>
            <a:ext cx="15791948" cy="5618274"/>
            <a:chOff x="0" y="0"/>
            <a:chExt cx="21055930" cy="7491032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1783838"/>
              <a:ext cx="21055930" cy="5707193"/>
              <a:chOff x="0" y="0"/>
              <a:chExt cx="4159196" cy="1127347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159196" cy="1127347"/>
              </a:xfrm>
              <a:custGeom>
                <a:avLst/>
                <a:gdLst/>
                <a:ahLst/>
                <a:cxnLst/>
                <a:rect r="r" b="b" t="t" l="l"/>
                <a:pathLst>
                  <a:path h="1127347" w="4159196">
                    <a:moveTo>
                      <a:pt x="25002" y="0"/>
                    </a:moveTo>
                    <a:lnTo>
                      <a:pt x="4134194" y="0"/>
                    </a:lnTo>
                    <a:cubicBezTo>
                      <a:pt x="4140825" y="0"/>
                      <a:pt x="4147184" y="2634"/>
                      <a:pt x="4151873" y="7323"/>
                    </a:cubicBezTo>
                    <a:cubicBezTo>
                      <a:pt x="4156562" y="12012"/>
                      <a:pt x="4159196" y="18371"/>
                      <a:pt x="4159196" y="25002"/>
                    </a:cubicBezTo>
                    <a:lnTo>
                      <a:pt x="4159196" y="1102344"/>
                    </a:lnTo>
                    <a:cubicBezTo>
                      <a:pt x="4159196" y="1116153"/>
                      <a:pt x="4148002" y="1127347"/>
                      <a:pt x="4134194" y="1127347"/>
                    </a:cubicBezTo>
                    <a:lnTo>
                      <a:pt x="25002" y="1127347"/>
                    </a:lnTo>
                    <a:cubicBezTo>
                      <a:pt x="11194" y="1127347"/>
                      <a:pt x="0" y="1116153"/>
                      <a:pt x="0" y="1102344"/>
                    </a:cubicBezTo>
                    <a:lnTo>
                      <a:pt x="0" y="25002"/>
                    </a:lnTo>
                    <a:cubicBezTo>
                      <a:pt x="0" y="11194"/>
                      <a:pt x="11194" y="0"/>
                      <a:pt x="25002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47625"/>
                <a:ext cx="4159196" cy="11749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841678" y="-161925"/>
              <a:ext cx="19372573" cy="18374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11587"/>
                </a:lnSpc>
                <a:spcBef>
                  <a:spcPct val="0"/>
                </a:spcBef>
              </a:pPr>
              <a:r>
                <a:rPr lang="en-US" b="true" sz="8277" strike="noStrike" u="none">
                  <a:solidFill>
                    <a:srgbClr val="004AAD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EXAMPLE OF CACHING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731525" y="3431805"/>
            <a:ext cx="14260045" cy="1422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If you open a recently used file, it opens faster because it is stored in cache.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31525" y="5334000"/>
            <a:ext cx="14824949" cy="717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The CPU can quickly access cached data.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11985" y="7231125"/>
            <a:ext cx="13264031" cy="1422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599"/>
              </a:lnSpc>
              <a:spcBef>
                <a:spcPct val="0"/>
              </a:spcBef>
            </a:pPr>
            <a:r>
              <a:rPr lang="en-US" b="true" sz="3999" strike="noStrike" u="none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Frequently accessed data is stored in fast memory for quick access.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902942" y="9277452"/>
            <a:ext cx="694998" cy="69499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33055" lIns="33055" bIns="33055" rIns="33055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872531" y="9277452"/>
            <a:ext cx="694998" cy="69499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33055" lIns="33055" bIns="33055" rIns="33055"/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2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842119" y="9277452"/>
            <a:ext cx="694998" cy="694998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33055" lIns="33055" bIns="33055" rIns="33055"/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3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811707" y="9277452"/>
            <a:ext cx="694998" cy="694998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33055" lIns="33055" bIns="33055" rIns="33055"/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4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781295" y="9277452"/>
            <a:ext cx="694998" cy="694998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33055" lIns="33055" bIns="33055" rIns="33055"/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5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750884" y="9277452"/>
            <a:ext cx="694998" cy="694998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33055" lIns="33055" bIns="33055" rIns="33055"/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6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691435" y="8972311"/>
            <a:ext cx="753070" cy="753070"/>
            <a:chOff x="0" y="0"/>
            <a:chExt cx="1004094" cy="1004094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1004094" cy="1004094"/>
              <a:chOff x="0" y="0"/>
              <a:chExt cx="812800" cy="8128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33055" lIns="33055" bIns="33055" rIns="33055"/>
              <a:lstStyle/>
              <a:p>
                <a:pPr algn="ctr">
                  <a:lnSpc>
                    <a:spcPts val="3499"/>
                  </a:lnSpc>
                </a:pPr>
                <a:r>
                  <a:rPr lang="en-US" sz="2499">
                    <a:solidFill>
                      <a:srgbClr val="FFFFFF"/>
                    </a:solidFill>
                    <a:latin typeface="Archivo Black"/>
                    <a:ea typeface="Archivo Black"/>
                    <a:cs typeface="Archivo Black"/>
                    <a:sym typeface="Archivo Black"/>
                  </a:rPr>
                  <a:t>1</a:t>
                </a: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38715" y="38715"/>
              <a:ext cx="926663" cy="926663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33055" lIns="33055" bIns="33055" rIns="33055"/>
              <a:lstStyle/>
              <a:p>
                <a:pPr algn="ctr" marL="0" indent="0" lvl="0">
                  <a:lnSpc>
                    <a:spcPts val="3499"/>
                  </a:lnSpc>
                  <a:spcBef>
                    <a:spcPct val="0"/>
                  </a:spcBef>
                </a:pPr>
                <a:r>
                  <a:rPr lang="en-US" sz="2499" strike="noStrike" u="none">
                    <a:solidFill>
                      <a:srgbClr val="FFFFFF"/>
                    </a:solidFill>
                    <a:latin typeface="Archivo Black"/>
                    <a:ea typeface="Archivo Black"/>
                    <a:cs typeface="Archivo Black"/>
                    <a:sym typeface="Archivo Black"/>
                  </a:rPr>
                  <a:t>7</a:t>
                </a:r>
              </a:p>
            </p:txBody>
          </p:sp>
        </p:grpSp>
      </p:grpSp>
      <p:grpSp>
        <p:nvGrpSpPr>
          <p:cNvPr name="Group 36" id="36"/>
          <p:cNvGrpSpPr/>
          <p:nvPr/>
        </p:nvGrpSpPr>
        <p:grpSpPr>
          <a:xfrm rot="0">
            <a:off x="15690060" y="9277452"/>
            <a:ext cx="694998" cy="694998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CACAC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33055" lIns="33055" bIns="33055" rIns="33055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3D532C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8</a:t>
              </a:r>
            </a:p>
          </p:txBody>
        </p:sp>
      </p:grpSp>
      <p:sp>
        <p:nvSpPr>
          <p:cNvPr name="AutoShape 39" id="39"/>
          <p:cNvSpPr/>
          <p:nvPr/>
        </p:nvSpPr>
        <p:spPr>
          <a:xfrm>
            <a:off x="2597940" y="9624951"/>
            <a:ext cx="1274591" cy="0"/>
          </a:xfrm>
          <a:prstGeom prst="line">
            <a:avLst/>
          </a:prstGeom>
          <a:ln cap="flat" w="47625">
            <a:solidFill>
              <a:srgbClr val="004AAD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AutoShape 40" id="40"/>
          <p:cNvSpPr/>
          <p:nvPr/>
        </p:nvSpPr>
        <p:spPr>
          <a:xfrm>
            <a:off x="4567528" y="9624951"/>
            <a:ext cx="1239301" cy="0"/>
          </a:xfrm>
          <a:prstGeom prst="line">
            <a:avLst/>
          </a:prstGeom>
          <a:ln cap="flat" w="47625">
            <a:solidFill>
              <a:srgbClr val="004AAD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AutoShape 41" id="41"/>
          <p:cNvSpPr/>
          <p:nvPr/>
        </p:nvSpPr>
        <p:spPr>
          <a:xfrm>
            <a:off x="6537116" y="9624951"/>
            <a:ext cx="1239393" cy="0"/>
          </a:xfrm>
          <a:prstGeom prst="line">
            <a:avLst/>
          </a:prstGeom>
          <a:ln cap="flat" w="47625">
            <a:solidFill>
              <a:srgbClr val="004AAD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AutoShape 42" id="42"/>
          <p:cNvSpPr/>
          <p:nvPr/>
        </p:nvSpPr>
        <p:spPr>
          <a:xfrm>
            <a:off x="8506705" y="9624951"/>
            <a:ext cx="1249549" cy="0"/>
          </a:xfrm>
          <a:prstGeom prst="line">
            <a:avLst/>
          </a:prstGeom>
          <a:ln cap="flat" w="47625">
            <a:solidFill>
              <a:srgbClr val="004AAD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AutoShape 43" id="43"/>
          <p:cNvSpPr/>
          <p:nvPr/>
        </p:nvSpPr>
        <p:spPr>
          <a:xfrm>
            <a:off x="10476293" y="9624951"/>
            <a:ext cx="1232068" cy="0"/>
          </a:xfrm>
          <a:prstGeom prst="line">
            <a:avLst/>
          </a:prstGeom>
          <a:ln cap="flat" w="47625">
            <a:solidFill>
              <a:srgbClr val="004AAD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AutoShape 44" id="44"/>
          <p:cNvSpPr/>
          <p:nvPr/>
        </p:nvSpPr>
        <p:spPr>
          <a:xfrm flipV="true">
            <a:off x="12445881" y="9395283"/>
            <a:ext cx="1245554" cy="229668"/>
          </a:xfrm>
          <a:prstGeom prst="line">
            <a:avLst/>
          </a:prstGeom>
          <a:ln cap="flat" w="47625">
            <a:solidFill>
              <a:srgbClr val="004AAD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AutoShape 45" id="45"/>
          <p:cNvSpPr/>
          <p:nvPr/>
        </p:nvSpPr>
        <p:spPr>
          <a:xfrm>
            <a:off x="14444506" y="9371709"/>
            <a:ext cx="1245554" cy="253243"/>
          </a:xfrm>
          <a:prstGeom prst="line">
            <a:avLst/>
          </a:prstGeom>
          <a:ln cap="flat" w="47625">
            <a:solidFill>
              <a:srgbClr val="ACACAC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TextBox 46" id="46"/>
          <p:cNvSpPr txBox="true"/>
          <p:nvPr/>
        </p:nvSpPr>
        <p:spPr>
          <a:xfrm rot="0">
            <a:off x="423382" y="9390028"/>
            <a:ext cx="1033273" cy="422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94194" y="627925"/>
            <a:ext cx="15499612" cy="8291470"/>
            <a:chOff x="0" y="0"/>
            <a:chExt cx="20666149" cy="11055294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2058558"/>
              <a:ext cx="20666149" cy="8996736"/>
              <a:chOff x="0" y="0"/>
              <a:chExt cx="5957862" cy="2593676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5957862" cy="2593677"/>
              </a:xfrm>
              <a:custGeom>
                <a:avLst/>
                <a:gdLst/>
                <a:ahLst/>
                <a:cxnLst/>
                <a:rect r="r" b="b" t="t" l="l"/>
                <a:pathLst>
                  <a:path h="2593677" w="5957862">
                    <a:moveTo>
                      <a:pt x="25474" y="0"/>
                    </a:moveTo>
                    <a:lnTo>
                      <a:pt x="5932388" y="0"/>
                    </a:lnTo>
                    <a:cubicBezTo>
                      <a:pt x="5939144" y="0"/>
                      <a:pt x="5945623" y="2684"/>
                      <a:pt x="5950400" y="7461"/>
                    </a:cubicBezTo>
                    <a:cubicBezTo>
                      <a:pt x="5955178" y="12238"/>
                      <a:pt x="5957862" y="18718"/>
                      <a:pt x="5957862" y="25474"/>
                    </a:cubicBezTo>
                    <a:lnTo>
                      <a:pt x="5957862" y="2568203"/>
                    </a:lnTo>
                    <a:cubicBezTo>
                      <a:pt x="5957862" y="2574959"/>
                      <a:pt x="5955178" y="2581438"/>
                      <a:pt x="5950400" y="2586215"/>
                    </a:cubicBezTo>
                    <a:cubicBezTo>
                      <a:pt x="5945623" y="2590993"/>
                      <a:pt x="5939144" y="2593677"/>
                      <a:pt x="5932388" y="2593677"/>
                    </a:cubicBezTo>
                    <a:lnTo>
                      <a:pt x="25474" y="2593677"/>
                    </a:lnTo>
                    <a:cubicBezTo>
                      <a:pt x="18718" y="2593677"/>
                      <a:pt x="12238" y="2590993"/>
                      <a:pt x="7461" y="2586215"/>
                    </a:cubicBezTo>
                    <a:cubicBezTo>
                      <a:pt x="2684" y="2581438"/>
                      <a:pt x="0" y="2574959"/>
                      <a:pt x="0" y="2568203"/>
                    </a:cubicBezTo>
                    <a:lnTo>
                      <a:pt x="0" y="25474"/>
                    </a:lnTo>
                    <a:cubicBezTo>
                      <a:pt x="0" y="18718"/>
                      <a:pt x="2684" y="12238"/>
                      <a:pt x="7461" y="7461"/>
                    </a:cubicBezTo>
                    <a:cubicBezTo>
                      <a:pt x="12238" y="2684"/>
                      <a:pt x="18718" y="0"/>
                      <a:pt x="25474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47625"/>
                <a:ext cx="5957862" cy="26413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5006182" y="-161925"/>
              <a:ext cx="10653786" cy="18374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11587"/>
                </a:lnSpc>
                <a:spcBef>
                  <a:spcPct val="0"/>
                </a:spcBef>
              </a:pPr>
              <a:r>
                <a:rPr lang="en-US" b="true" sz="8277" strike="noStrike" u="none">
                  <a:solidFill>
                    <a:srgbClr val="004AAD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CONCLUSION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86575" y="2676133"/>
            <a:ext cx="14803486" cy="1193945"/>
            <a:chOff x="0" y="0"/>
            <a:chExt cx="19737981" cy="1591926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353652" cy="1591926"/>
              <a:chOff x="0" y="0"/>
              <a:chExt cx="812800" cy="955872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955872"/>
              </a:xfrm>
              <a:custGeom>
                <a:avLst/>
                <a:gdLst/>
                <a:ahLst/>
                <a:cxnLst/>
                <a:rect r="r" b="b" t="t" l="l"/>
                <a:pathLst>
                  <a:path h="955872" w="812800">
                    <a:moveTo>
                      <a:pt x="406400" y="0"/>
                    </a:moveTo>
                    <a:cubicBezTo>
                      <a:pt x="181951" y="0"/>
                      <a:pt x="0" y="213979"/>
                      <a:pt x="0" y="477936"/>
                    </a:cubicBezTo>
                    <a:cubicBezTo>
                      <a:pt x="0" y="741893"/>
                      <a:pt x="181951" y="955872"/>
                      <a:pt x="406400" y="955872"/>
                    </a:cubicBezTo>
                    <a:cubicBezTo>
                      <a:pt x="630849" y="955872"/>
                      <a:pt x="812800" y="741893"/>
                      <a:pt x="812800" y="477936"/>
                    </a:cubicBezTo>
                    <a:cubicBezTo>
                      <a:pt x="812800" y="213979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57150" cap="sq">
                <a:solidFill>
                  <a:srgbClr val="004AAD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13413"/>
                <a:ext cx="660400" cy="85284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599"/>
                  </a:lnSpc>
                </a:pPr>
                <a:r>
                  <a:rPr lang="en-US" sz="3999">
                    <a:solidFill>
                      <a:srgbClr val="004AAD"/>
                    </a:solidFill>
                    <a:latin typeface="Archivo Black"/>
                    <a:ea typeface="Archivo Black"/>
                    <a:cs typeface="Archivo Black"/>
                    <a:sym typeface="Archivo Black"/>
                  </a:rPr>
                  <a:t>1</a:t>
                </a: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2105541" y="279460"/>
              <a:ext cx="17632439" cy="9187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b="true" sz="3999" strike="noStrike" u="non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All three techniques improve I/O performance.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86575" y="4477021"/>
            <a:ext cx="14981425" cy="2013112"/>
            <a:chOff x="0" y="0"/>
            <a:chExt cx="19975233" cy="268415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546112"/>
              <a:ext cx="1353652" cy="1591926"/>
              <a:chOff x="0" y="0"/>
              <a:chExt cx="812800" cy="955872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955872"/>
              </a:xfrm>
              <a:custGeom>
                <a:avLst/>
                <a:gdLst/>
                <a:ahLst/>
                <a:cxnLst/>
                <a:rect r="r" b="b" t="t" l="l"/>
                <a:pathLst>
                  <a:path h="955872" w="812800">
                    <a:moveTo>
                      <a:pt x="406400" y="0"/>
                    </a:moveTo>
                    <a:cubicBezTo>
                      <a:pt x="181951" y="0"/>
                      <a:pt x="0" y="213979"/>
                      <a:pt x="0" y="477936"/>
                    </a:cubicBezTo>
                    <a:cubicBezTo>
                      <a:pt x="0" y="741893"/>
                      <a:pt x="181951" y="955872"/>
                      <a:pt x="406400" y="955872"/>
                    </a:cubicBezTo>
                    <a:cubicBezTo>
                      <a:pt x="630849" y="955872"/>
                      <a:pt x="812800" y="741893"/>
                      <a:pt x="812800" y="477936"/>
                    </a:cubicBezTo>
                    <a:cubicBezTo>
                      <a:pt x="812800" y="213979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57150" cap="sq">
                <a:solidFill>
                  <a:srgbClr val="004AAD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13413"/>
                <a:ext cx="660400" cy="85284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599"/>
                  </a:lnSpc>
                </a:pPr>
                <a:r>
                  <a:rPr lang="en-US" sz="3999">
                    <a:solidFill>
                      <a:srgbClr val="004AAD"/>
                    </a:solidFill>
                    <a:latin typeface="Archivo Black"/>
                    <a:ea typeface="Archivo Black"/>
                    <a:cs typeface="Archivo Black"/>
                    <a:sym typeface="Archivo Black"/>
                  </a:rPr>
                  <a:t>2</a:t>
                </a: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2105541" y="-114300"/>
              <a:ext cx="17869691" cy="2798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b="true" sz="3999" strike="noStrike" u="non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Spooling uses queue storage, Buffering holds data temporarily, and Caching stores frequently used data in fast memory.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86575" y="7097075"/>
            <a:ext cx="14803486" cy="1308208"/>
            <a:chOff x="0" y="0"/>
            <a:chExt cx="19737981" cy="1744278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76176"/>
              <a:ext cx="1353652" cy="1591926"/>
              <a:chOff x="0" y="0"/>
              <a:chExt cx="812800" cy="955872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955872"/>
              </a:xfrm>
              <a:custGeom>
                <a:avLst/>
                <a:gdLst/>
                <a:ahLst/>
                <a:cxnLst/>
                <a:rect r="r" b="b" t="t" l="l"/>
                <a:pathLst>
                  <a:path h="955872" w="812800">
                    <a:moveTo>
                      <a:pt x="406400" y="0"/>
                    </a:moveTo>
                    <a:cubicBezTo>
                      <a:pt x="181951" y="0"/>
                      <a:pt x="0" y="213979"/>
                      <a:pt x="0" y="477936"/>
                    </a:cubicBezTo>
                    <a:cubicBezTo>
                      <a:pt x="0" y="741893"/>
                      <a:pt x="181951" y="955872"/>
                      <a:pt x="406400" y="955872"/>
                    </a:cubicBezTo>
                    <a:cubicBezTo>
                      <a:pt x="630849" y="955872"/>
                      <a:pt x="812800" y="741893"/>
                      <a:pt x="812800" y="477936"/>
                    </a:cubicBezTo>
                    <a:cubicBezTo>
                      <a:pt x="812800" y="213979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57150" cap="sq">
                <a:solidFill>
                  <a:srgbClr val="004AAD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6200" y="13413"/>
                <a:ext cx="660400" cy="85284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599"/>
                  </a:lnSpc>
                </a:pPr>
                <a:r>
                  <a:rPr lang="en-US" sz="3999">
                    <a:solidFill>
                      <a:srgbClr val="004AAD"/>
                    </a:solidFill>
                    <a:latin typeface="Archivo Black"/>
                    <a:ea typeface="Archivo Black"/>
                    <a:cs typeface="Archivo Black"/>
                    <a:sym typeface="Archivo Black"/>
                  </a:rPr>
                  <a:t>3</a:t>
                </a: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2105541" y="-114300"/>
              <a:ext cx="17632439" cy="18585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b="true" sz="3999" strike="noStrike" u="non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These methods make the system faster and more efficient.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902942" y="9277452"/>
            <a:ext cx="694998" cy="694998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33055" lIns="33055" bIns="33055" rIns="33055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1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872531" y="9277452"/>
            <a:ext cx="694998" cy="694998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33055" lIns="33055" bIns="33055" rIns="33055"/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2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842119" y="9277452"/>
            <a:ext cx="694998" cy="694998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33055" lIns="33055" bIns="33055" rIns="33055"/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3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811707" y="9277452"/>
            <a:ext cx="694998" cy="694998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33055" lIns="33055" bIns="33055" rIns="33055"/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4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781295" y="9277452"/>
            <a:ext cx="694998" cy="694998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33055" lIns="33055" bIns="33055" rIns="33055"/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5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750884" y="9277452"/>
            <a:ext cx="694998" cy="694998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33055" lIns="33055" bIns="33055" rIns="33055"/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6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3720472" y="9277452"/>
            <a:ext cx="694998" cy="694998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33055" lIns="33055" bIns="33055" rIns="33055"/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7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5661024" y="8972311"/>
            <a:ext cx="753070" cy="753070"/>
            <a:chOff x="0" y="0"/>
            <a:chExt cx="1004094" cy="1004094"/>
          </a:xfrm>
        </p:grpSpPr>
        <p:grpSp>
          <p:nvGrpSpPr>
            <p:cNvPr name="Group 45" id="45"/>
            <p:cNvGrpSpPr/>
            <p:nvPr/>
          </p:nvGrpSpPr>
          <p:grpSpPr>
            <a:xfrm rot="0">
              <a:off x="0" y="0"/>
              <a:ext cx="1004094" cy="1004094"/>
              <a:chOff x="0" y="0"/>
              <a:chExt cx="812800" cy="8128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33055" lIns="33055" bIns="33055" rIns="33055"/>
              <a:lstStyle/>
              <a:p>
                <a:pPr algn="ctr">
                  <a:lnSpc>
                    <a:spcPts val="3499"/>
                  </a:lnSpc>
                </a:pPr>
                <a:r>
                  <a:rPr lang="en-US" sz="2499">
                    <a:solidFill>
                      <a:srgbClr val="FFFFFF"/>
                    </a:solidFill>
                    <a:latin typeface="Archivo Black"/>
                    <a:ea typeface="Archivo Black"/>
                    <a:cs typeface="Archivo Black"/>
                    <a:sym typeface="Archivo Black"/>
                  </a:rPr>
                  <a:t>1</a:t>
                </a: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38715" y="38715"/>
              <a:ext cx="926663" cy="926663"/>
              <a:chOff x="0" y="0"/>
              <a:chExt cx="812800" cy="81280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33055" lIns="33055" bIns="33055" rIns="33055"/>
              <a:lstStyle/>
              <a:p>
                <a:pPr algn="ctr" marL="0" indent="0" lvl="0">
                  <a:lnSpc>
                    <a:spcPts val="3499"/>
                  </a:lnSpc>
                  <a:spcBef>
                    <a:spcPct val="0"/>
                  </a:spcBef>
                </a:pPr>
                <a:r>
                  <a:rPr lang="en-US" sz="2499" strike="noStrike" u="none">
                    <a:solidFill>
                      <a:srgbClr val="FFFFFF"/>
                    </a:solidFill>
                    <a:latin typeface="Archivo Black"/>
                    <a:ea typeface="Archivo Black"/>
                    <a:cs typeface="Archivo Black"/>
                    <a:sym typeface="Archivo Black"/>
                  </a:rPr>
                  <a:t>8</a:t>
                </a:r>
              </a:p>
            </p:txBody>
          </p:sp>
        </p:grpSp>
      </p:grpSp>
      <p:sp>
        <p:nvSpPr>
          <p:cNvPr name="AutoShape 51" id="51"/>
          <p:cNvSpPr/>
          <p:nvPr/>
        </p:nvSpPr>
        <p:spPr>
          <a:xfrm>
            <a:off x="2597940" y="9624951"/>
            <a:ext cx="1244434" cy="0"/>
          </a:xfrm>
          <a:prstGeom prst="line">
            <a:avLst/>
          </a:prstGeom>
          <a:ln cap="flat" w="47625">
            <a:solidFill>
              <a:srgbClr val="004AAD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AutoShape 52" id="52"/>
          <p:cNvSpPr/>
          <p:nvPr/>
        </p:nvSpPr>
        <p:spPr>
          <a:xfrm>
            <a:off x="4567528" y="9624951"/>
            <a:ext cx="1229218" cy="0"/>
          </a:xfrm>
          <a:prstGeom prst="line">
            <a:avLst/>
          </a:prstGeom>
          <a:ln cap="flat" w="47625">
            <a:solidFill>
              <a:srgbClr val="004AAD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AutoShape 53" id="53"/>
          <p:cNvSpPr/>
          <p:nvPr/>
        </p:nvSpPr>
        <p:spPr>
          <a:xfrm>
            <a:off x="6537116" y="9624951"/>
            <a:ext cx="1234269" cy="0"/>
          </a:xfrm>
          <a:prstGeom prst="line">
            <a:avLst/>
          </a:prstGeom>
          <a:ln cap="flat" w="47625">
            <a:solidFill>
              <a:srgbClr val="004AAD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AutoShape 54" id="54"/>
          <p:cNvSpPr/>
          <p:nvPr/>
        </p:nvSpPr>
        <p:spPr>
          <a:xfrm>
            <a:off x="8506705" y="9624951"/>
            <a:ext cx="1234414" cy="0"/>
          </a:xfrm>
          <a:prstGeom prst="line">
            <a:avLst/>
          </a:prstGeom>
          <a:ln cap="flat" w="47625">
            <a:solidFill>
              <a:srgbClr val="004AAD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AutoShape 55" id="55"/>
          <p:cNvSpPr/>
          <p:nvPr/>
        </p:nvSpPr>
        <p:spPr>
          <a:xfrm>
            <a:off x="10476293" y="9624951"/>
            <a:ext cx="1237110" cy="0"/>
          </a:xfrm>
          <a:prstGeom prst="line">
            <a:avLst/>
          </a:prstGeom>
          <a:ln cap="flat" w="47625">
            <a:solidFill>
              <a:srgbClr val="004AAD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AutoShape 56" id="56"/>
          <p:cNvSpPr/>
          <p:nvPr/>
        </p:nvSpPr>
        <p:spPr>
          <a:xfrm>
            <a:off x="12445881" y="9624951"/>
            <a:ext cx="1239526" cy="0"/>
          </a:xfrm>
          <a:prstGeom prst="line">
            <a:avLst/>
          </a:prstGeom>
          <a:ln cap="flat" w="47625">
            <a:solidFill>
              <a:srgbClr val="004AAD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AutoShape 57" id="57"/>
          <p:cNvSpPr/>
          <p:nvPr/>
        </p:nvSpPr>
        <p:spPr>
          <a:xfrm flipV="true">
            <a:off x="14415469" y="9371709"/>
            <a:ext cx="1222726" cy="253243"/>
          </a:xfrm>
          <a:prstGeom prst="line">
            <a:avLst/>
          </a:prstGeom>
          <a:ln cap="flat" w="47625">
            <a:solidFill>
              <a:srgbClr val="004AAD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TextBox 58" id="58"/>
          <p:cNvSpPr txBox="true"/>
          <p:nvPr/>
        </p:nvSpPr>
        <p:spPr>
          <a:xfrm rot="0">
            <a:off x="423382" y="9390028"/>
            <a:ext cx="1033273" cy="422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739159" y="2595027"/>
            <a:ext cx="3478318" cy="2331749"/>
            <a:chOff x="0" y="0"/>
            <a:chExt cx="916100" cy="614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6100" cy="614123"/>
            </a:xfrm>
            <a:custGeom>
              <a:avLst/>
              <a:gdLst/>
              <a:ahLst/>
              <a:cxnLst/>
              <a:rect r="r" b="b" t="t" l="l"/>
              <a:pathLst>
                <a:path h="614123" w="916100">
                  <a:moveTo>
                    <a:pt x="113514" y="0"/>
                  </a:moveTo>
                  <a:lnTo>
                    <a:pt x="802586" y="0"/>
                  </a:lnTo>
                  <a:cubicBezTo>
                    <a:pt x="832692" y="0"/>
                    <a:pt x="861565" y="11959"/>
                    <a:pt x="882853" y="33247"/>
                  </a:cubicBezTo>
                  <a:cubicBezTo>
                    <a:pt x="904141" y="54536"/>
                    <a:pt x="916100" y="83408"/>
                    <a:pt x="916100" y="113514"/>
                  </a:cubicBezTo>
                  <a:lnTo>
                    <a:pt x="916100" y="500609"/>
                  </a:lnTo>
                  <a:cubicBezTo>
                    <a:pt x="916100" y="530715"/>
                    <a:pt x="904141" y="559588"/>
                    <a:pt x="882853" y="580876"/>
                  </a:cubicBezTo>
                  <a:cubicBezTo>
                    <a:pt x="861565" y="602164"/>
                    <a:pt x="832692" y="614123"/>
                    <a:pt x="802586" y="614123"/>
                  </a:cubicBezTo>
                  <a:lnTo>
                    <a:pt x="113514" y="614123"/>
                  </a:lnTo>
                  <a:cubicBezTo>
                    <a:pt x="50822" y="614123"/>
                    <a:pt x="0" y="563301"/>
                    <a:pt x="0" y="500609"/>
                  </a:cubicBezTo>
                  <a:lnTo>
                    <a:pt x="0" y="113514"/>
                  </a:lnTo>
                  <a:cubicBezTo>
                    <a:pt x="0" y="83408"/>
                    <a:pt x="11959" y="54536"/>
                    <a:pt x="33247" y="33247"/>
                  </a:cubicBezTo>
                  <a:cubicBezTo>
                    <a:pt x="54536" y="11959"/>
                    <a:pt x="83408" y="0"/>
                    <a:pt x="11351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916100" cy="661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548841" y="2595027"/>
            <a:ext cx="3478318" cy="2331749"/>
            <a:chOff x="0" y="0"/>
            <a:chExt cx="916100" cy="61412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6100" cy="614123"/>
            </a:xfrm>
            <a:custGeom>
              <a:avLst/>
              <a:gdLst/>
              <a:ahLst/>
              <a:cxnLst/>
              <a:rect r="r" b="b" t="t" l="l"/>
              <a:pathLst>
                <a:path h="614123" w="916100">
                  <a:moveTo>
                    <a:pt x="113514" y="0"/>
                  </a:moveTo>
                  <a:lnTo>
                    <a:pt x="802586" y="0"/>
                  </a:lnTo>
                  <a:cubicBezTo>
                    <a:pt x="832692" y="0"/>
                    <a:pt x="861565" y="11959"/>
                    <a:pt x="882853" y="33247"/>
                  </a:cubicBezTo>
                  <a:cubicBezTo>
                    <a:pt x="904141" y="54536"/>
                    <a:pt x="916100" y="83408"/>
                    <a:pt x="916100" y="113514"/>
                  </a:cubicBezTo>
                  <a:lnTo>
                    <a:pt x="916100" y="500609"/>
                  </a:lnTo>
                  <a:cubicBezTo>
                    <a:pt x="916100" y="530715"/>
                    <a:pt x="904141" y="559588"/>
                    <a:pt x="882853" y="580876"/>
                  </a:cubicBezTo>
                  <a:cubicBezTo>
                    <a:pt x="861565" y="602164"/>
                    <a:pt x="832692" y="614123"/>
                    <a:pt x="802586" y="614123"/>
                  </a:cubicBezTo>
                  <a:lnTo>
                    <a:pt x="113514" y="614123"/>
                  </a:lnTo>
                  <a:cubicBezTo>
                    <a:pt x="50822" y="614123"/>
                    <a:pt x="0" y="563301"/>
                    <a:pt x="0" y="500609"/>
                  </a:cubicBezTo>
                  <a:lnTo>
                    <a:pt x="0" y="113514"/>
                  </a:lnTo>
                  <a:cubicBezTo>
                    <a:pt x="0" y="83408"/>
                    <a:pt x="11959" y="54536"/>
                    <a:pt x="33247" y="33247"/>
                  </a:cubicBezTo>
                  <a:cubicBezTo>
                    <a:pt x="54536" y="11959"/>
                    <a:pt x="83408" y="0"/>
                    <a:pt x="11351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916100" cy="661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985575" y="2299752"/>
            <a:ext cx="14316850" cy="2627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20"/>
              </a:lnSpc>
            </a:pPr>
            <a:r>
              <a:rPr lang="en-US" b="true" sz="1530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00357" y="5153134"/>
            <a:ext cx="12687286" cy="1852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6"/>
              </a:lnSpc>
            </a:pPr>
            <a:r>
              <a:rPr lang="en-US" sz="5304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SO MUCH MA’AM TO GIVING ME THIS OPPORTUNITY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6156" y="1451932"/>
            <a:ext cx="4553284" cy="1933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05"/>
              </a:lnSpc>
            </a:pPr>
            <a:r>
              <a:rPr lang="en-US" b="true" sz="6337">
                <a:solidFill>
                  <a:srgbClr val="FFFFFF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ANY DOUBTS?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36156" y="569828"/>
            <a:ext cx="4553284" cy="885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45"/>
              </a:lnSpc>
            </a:pPr>
            <a:r>
              <a:rPr lang="en-US" b="true" sz="5787">
                <a:solidFill>
                  <a:srgbClr val="FFDE59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STUDENTS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DAG5fldO49g</dc:identifier>
  <dcterms:modified xsi:type="dcterms:W3CDTF">2011-08-01T06:04:30Z</dcterms:modified>
  <cp:revision>1</cp:revision>
  <dc:title>Adesh CAO Presentation</dc:title>
</cp:coreProperties>
</file>