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5727757-76EF-4D08-A9FE-96B01D8731D9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F8557-1A94-4525-842A-4B8F900335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65E9EE-4B07-48F3-BD75-465659B76E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428A24-11E4-4706-8914-0875624C5A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F8B231-BAC2-441B-904B-B359C6AE85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F95219-48E2-4E43-99A8-D6466DEA42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F31528-DB84-4BC9-8ABE-14D99AB73B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3017A7-8DFB-4F95-AB1B-9CD36FBD1A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6F9149-AF38-4954-A516-CCECB07A6B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09B3C3-827C-4033-AFD5-74222429BC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6F7383-40FE-46E1-BBBC-F3130A15DB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31EA32-DFB7-45C4-A418-61F53860E4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671B6D-D707-4714-8AF1-10E758DD99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8B7C65-B4BD-4DC9-AB04-72B7B5E1BD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DAC140-5DE0-4DEA-84A5-E7F8DDD57C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E95890-416B-4752-B608-DC233DCF2C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1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Clou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Appli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catio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Deve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lopm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ent 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Envir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onm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ents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C11FEF-1DA4-434E-B6AE-A92E08B34FEE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548640" y="64191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Cloud Application 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Development </a:t>
            </a: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Environments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A38AB-D4E2-4364-AF1F-BBF631FF9BD6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64191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Cloud Application Development Environments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3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A0EFC9-0C40-4DDA-9B3F-6F4482FA3AFD}" type="slidenum">
              <a: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640080" y="1188720"/>
            <a:ext cx="64004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 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ment 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Environ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ments</a:t>
            </a:r>
            <a:endParaRPr lang="en-IN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640080" y="365760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r>
              <a:rPr lang="en-US" sz="2200" b="1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lang="en-US" sz="22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Azure</a:t>
            </a:r>
            <a:r>
              <a:rPr lang="en-US" sz="2200" b="1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lang="en-US" sz="22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lass card 1"/>
          <p:cNvSpPr/>
          <p:nvPr/>
        </p:nvSpPr>
        <p:spPr>
          <a:xfrm>
            <a:off x="640080" y="4709160"/>
            <a:ext cx="4845960" cy="1188360"/>
          </a:xfrm>
          <a:prstGeom prst="roundRect">
            <a:avLst>
              <a:gd name="adj" fmla="val 1384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914400" y="4846320"/>
            <a:ext cx="43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Namini Itankar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Cloud Computing  |  JD </a:t>
            </a: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College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Glass card 2"/>
          <p:cNvSpPr/>
          <p:nvPr/>
        </p:nvSpPr>
        <p:spPr>
          <a:xfrm>
            <a:off x="8503920" y="34290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5AC8FA">
              <a:alpha val="18000"/>
            </a:srgbClr>
          </a:solidFill>
          <a:ln w="12700">
            <a:solidFill>
              <a:srgbClr val="5AC8FA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8686800" y="3620880"/>
            <a:ext cx="109440" cy="109440"/>
          </a:xfrm>
          <a:prstGeom prst="ellipse">
            <a:avLst/>
          </a:prstGeom>
          <a:solidFill>
            <a:srgbClr val="7CF0A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8869680" y="362088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9052560" y="362088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9326880" y="3630240"/>
            <a:ext cx="731160" cy="9108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lass card 3"/>
          <p:cNvSpPr/>
          <p:nvPr/>
        </p:nvSpPr>
        <p:spPr>
          <a:xfrm>
            <a:off x="8503920" y="405072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5AC8FA">
              <a:alpha val="18000"/>
            </a:srgbClr>
          </a:solidFill>
          <a:ln w="12700">
            <a:solidFill>
              <a:srgbClr val="5AC8FA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8686800" y="4242960"/>
            <a:ext cx="109440" cy="109440"/>
          </a:xfrm>
          <a:prstGeom prst="ellipse">
            <a:avLst/>
          </a:prstGeom>
          <a:solidFill>
            <a:srgbClr val="7CF0A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8869680" y="424296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9052560" y="424296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9326880" y="4251960"/>
            <a:ext cx="731160" cy="9108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lass card 4"/>
          <p:cNvSpPr/>
          <p:nvPr/>
        </p:nvSpPr>
        <p:spPr>
          <a:xfrm>
            <a:off x="8503920" y="467244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5AC8FA">
              <a:alpha val="18000"/>
            </a:srgbClr>
          </a:solidFill>
          <a:ln w="12700">
            <a:solidFill>
              <a:srgbClr val="5AC8FA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8686800" y="4864680"/>
            <a:ext cx="109440" cy="109440"/>
          </a:xfrm>
          <a:prstGeom prst="ellipse">
            <a:avLst/>
          </a:prstGeom>
          <a:solidFill>
            <a:srgbClr val="7CF0A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8869680" y="486468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9052560" y="486468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9326880" y="4873680"/>
            <a:ext cx="731160" cy="9108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sldNum" idx="7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CB6E5-46E3-404E-A0AA-AB2F2071467C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Introduction to Cloud Computing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On-demand IT resources delivered over the internet, paid for as you use them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548640" y="1645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Service models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Glass card 5"/>
          <p:cNvSpPr/>
          <p:nvPr/>
        </p:nvSpPr>
        <p:spPr>
          <a:xfrm>
            <a:off x="548640" y="2103120"/>
            <a:ext cx="5486040" cy="959760"/>
          </a:xfrm>
          <a:prstGeom prst="roundRect">
            <a:avLst>
              <a:gd name="adj" fmla="val 17143"/>
            </a:avLst>
          </a:prstGeom>
          <a:solidFill>
            <a:srgbClr val="8B80F9">
              <a:alpha val="15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777240" y="2103120"/>
            <a:ext cx="1279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SaaS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2103120" y="210312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Ready-to-use software over the web, such as webmail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lass card 6"/>
          <p:cNvSpPr/>
          <p:nvPr/>
        </p:nvSpPr>
        <p:spPr>
          <a:xfrm>
            <a:off x="548640" y="3200400"/>
            <a:ext cx="5486040" cy="959760"/>
          </a:xfrm>
          <a:prstGeom prst="roundRect">
            <a:avLst>
              <a:gd name="adj" fmla="val 17143"/>
            </a:avLst>
          </a:prstGeom>
          <a:solidFill>
            <a:srgbClr val="5AC8FA">
              <a:alpha val="15000"/>
            </a:srgbClr>
          </a:solidFill>
          <a:ln w="12700">
            <a:solidFill>
              <a:srgbClr val="5AC8FA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777240" y="3200400"/>
            <a:ext cx="1279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PaaS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2103120" y="320040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platform to build and deploy apps, such as Elastic Beanstalk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lass card 7"/>
          <p:cNvSpPr/>
          <p:nvPr/>
        </p:nvSpPr>
        <p:spPr>
          <a:xfrm>
            <a:off x="548640" y="4297680"/>
            <a:ext cx="5486040" cy="959760"/>
          </a:xfrm>
          <a:prstGeom prst="roundRect">
            <a:avLst>
              <a:gd name="adj" fmla="val 17143"/>
            </a:avLst>
          </a:prstGeom>
          <a:solidFill>
            <a:srgbClr val="4285F4">
              <a:alpha val="15000"/>
            </a:srgbClr>
          </a:solidFill>
          <a:ln w="12700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777240" y="4297680"/>
            <a:ext cx="1279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IaaS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2103120" y="429768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 machines, storage and networks, such as EC2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lass card 8"/>
          <p:cNvSpPr/>
          <p:nvPr/>
        </p:nvSpPr>
        <p:spPr>
          <a:xfrm>
            <a:off x="548640" y="5440680"/>
            <a:ext cx="5486040" cy="6397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548640" y="544068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Deployment models:  Public · Private · Hybrid · Community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Glass card 9"/>
          <p:cNvSpPr/>
          <p:nvPr/>
        </p:nvSpPr>
        <p:spPr>
          <a:xfrm>
            <a:off x="6400800" y="1691640"/>
            <a:ext cx="5257440" cy="4388760"/>
          </a:xfrm>
          <a:prstGeom prst="roundRect">
            <a:avLst>
              <a:gd name="adj" fmla="val 458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66751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Cloud icon"/>
          <p:cNvPicPr/>
          <p:nvPr/>
        </p:nvPicPr>
        <p:blipFill>
          <a:blip r:embed="rId1"/>
          <a:stretch/>
        </p:blipFill>
        <p:spPr>
          <a:xfrm>
            <a:off x="68122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6"/>
          <p:cNvSpPr/>
          <p:nvPr/>
        </p:nvSpPr>
        <p:spPr>
          <a:xfrm>
            <a:off x="7360920" y="187452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Five essential characteristics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As defined by NIST SP 800-145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Glass card 10"/>
          <p:cNvSpPr/>
          <p:nvPr/>
        </p:nvSpPr>
        <p:spPr>
          <a:xfrm>
            <a:off x="6675120" y="274320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" descr="CheckCircle icon"/>
          <p:cNvPicPr/>
          <p:nvPr/>
        </p:nvPicPr>
        <p:blipFill>
          <a:blip r:embed="rId2"/>
          <a:stretch/>
        </p:blipFill>
        <p:spPr>
          <a:xfrm>
            <a:off x="6858000" y="2871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8"/>
          <p:cNvSpPr/>
          <p:nvPr/>
        </p:nvSpPr>
        <p:spPr>
          <a:xfrm>
            <a:off x="7360920" y="274320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On-demand self-service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Glass card 11"/>
          <p:cNvSpPr/>
          <p:nvPr/>
        </p:nvSpPr>
        <p:spPr>
          <a:xfrm>
            <a:off x="6675120" y="338328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2" descr="CheckCircle icon"/>
          <p:cNvPicPr/>
          <p:nvPr/>
        </p:nvPicPr>
        <p:blipFill>
          <a:blip r:embed="rId3"/>
          <a:stretch/>
        </p:blipFill>
        <p:spPr>
          <a:xfrm>
            <a:off x="6858000" y="35114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0"/>
          <p:cNvSpPr/>
          <p:nvPr/>
        </p:nvSpPr>
        <p:spPr>
          <a:xfrm>
            <a:off x="7360920" y="338328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Broad network access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lass card 12"/>
          <p:cNvSpPr/>
          <p:nvPr/>
        </p:nvSpPr>
        <p:spPr>
          <a:xfrm>
            <a:off x="6675120" y="402336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3" descr="CheckCircle icon"/>
          <p:cNvPicPr/>
          <p:nvPr/>
        </p:nvPicPr>
        <p:blipFill>
          <a:blip r:embed="rId4"/>
          <a:stretch/>
        </p:blipFill>
        <p:spPr>
          <a:xfrm>
            <a:off x="6858000" y="4151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22"/>
          <p:cNvSpPr/>
          <p:nvPr/>
        </p:nvSpPr>
        <p:spPr>
          <a:xfrm>
            <a:off x="7360920" y="402336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Resource pooling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lass card 13"/>
          <p:cNvSpPr/>
          <p:nvPr/>
        </p:nvSpPr>
        <p:spPr>
          <a:xfrm>
            <a:off x="6675120" y="466344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4" descr="CheckCircle icon"/>
          <p:cNvPicPr/>
          <p:nvPr/>
        </p:nvPicPr>
        <p:blipFill>
          <a:blip r:embed="rId5"/>
          <a:stretch/>
        </p:blipFill>
        <p:spPr>
          <a:xfrm>
            <a:off x="6858000" y="47916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24"/>
          <p:cNvSpPr/>
          <p:nvPr/>
        </p:nvSpPr>
        <p:spPr>
          <a:xfrm>
            <a:off x="7360920" y="466344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Rapid elasticity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lass card 14"/>
          <p:cNvSpPr/>
          <p:nvPr/>
        </p:nvSpPr>
        <p:spPr>
          <a:xfrm>
            <a:off x="6675120" y="530352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5" descr="CheckCircle icon"/>
          <p:cNvPicPr/>
          <p:nvPr/>
        </p:nvPicPr>
        <p:blipFill>
          <a:blip r:embed="rId6"/>
          <a:stretch/>
        </p:blipFill>
        <p:spPr>
          <a:xfrm>
            <a:off x="6858000" y="5431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6"/>
          <p:cNvSpPr/>
          <p:nvPr/>
        </p:nvSpPr>
        <p:spPr>
          <a:xfrm>
            <a:off x="7360920" y="530352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Measured service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8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49CCBE-C6CE-42F1-B83A-7E4439C3CDC4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Development Environments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From a developer's keyboard to a running, scalable application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lass card 15"/>
          <p:cNvSpPr/>
          <p:nvPr/>
        </p:nvSpPr>
        <p:spPr>
          <a:xfrm>
            <a:off x="567000" y="1783080"/>
            <a:ext cx="2422800" cy="3200040"/>
          </a:xfrm>
          <a:prstGeom prst="roundRect">
            <a:avLst>
              <a:gd name="adj" fmla="val 67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841320" y="2057400"/>
            <a:ext cx="731160" cy="7311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0" descr="Users icon"/>
          <p:cNvPicPr/>
          <p:nvPr/>
        </p:nvPicPr>
        <p:blipFill>
          <a:blip r:embed="rId1"/>
          <a:stretch/>
        </p:blipFill>
        <p:spPr>
          <a:xfrm>
            <a:off x="102420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4"/>
          <p:cNvSpPr/>
          <p:nvPr/>
        </p:nvSpPr>
        <p:spPr>
          <a:xfrm>
            <a:off x="841320" y="29718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841320" y="3474720"/>
            <a:ext cx="196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Write and review code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Collaborate in teams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 from anywhere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3044880" y="3383280"/>
            <a:ext cx="347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lass card 16"/>
          <p:cNvSpPr/>
          <p:nvPr/>
        </p:nvSpPr>
        <p:spPr>
          <a:xfrm>
            <a:off x="3447360" y="1783080"/>
            <a:ext cx="2422800" cy="3200040"/>
          </a:xfrm>
          <a:prstGeom prst="roundRect">
            <a:avLst>
              <a:gd name="adj" fmla="val 67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3721680" y="2057400"/>
            <a:ext cx="731160" cy="731160"/>
          </a:xfrm>
          <a:prstGeom prst="ellipse">
            <a:avLst/>
          </a:prstGeom>
          <a:solidFill>
            <a:srgbClr val="8B80F9">
              <a:alpha val="30000"/>
            </a:srgbClr>
          </a:solidFill>
          <a:ln w="9525">
            <a:solidFill>
              <a:srgbClr val="8B80F9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1" descr="Tools icon"/>
          <p:cNvPicPr/>
          <p:nvPr/>
        </p:nvPicPr>
        <p:blipFill>
          <a:blip r:embed="rId2"/>
          <a:stretch/>
        </p:blipFill>
        <p:spPr>
          <a:xfrm>
            <a:off x="390456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9"/>
          <p:cNvSpPr/>
          <p:nvPr/>
        </p:nvSpPr>
        <p:spPr>
          <a:xfrm>
            <a:off x="3721680" y="29718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Tools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3721680" y="3474720"/>
            <a:ext cx="196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IDEs and cloud shells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repositories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SDKs and CLIs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5925240" y="3383280"/>
            <a:ext cx="347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lass card 17"/>
          <p:cNvSpPr/>
          <p:nvPr/>
        </p:nvSpPr>
        <p:spPr>
          <a:xfrm>
            <a:off x="6327720" y="1783080"/>
            <a:ext cx="2422800" cy="3200040"/>
          </a:xfrm>
          <a:prstGeom prst="roundRect">
            <a:avLst>
              <a:gd name="adj" fmla="val 67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6602040" y="2057400"/>
            <a:ext cx="731160" cy="73116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2" descr="Server icon"/>
          <p:cNvPicPr/>
          <p:nvPr/>
        </p:nvPicPr>
        <p:blipFill>
          <a:blip r:embed="rId3"/>
          <a:stretch/>
        </p:blipFill>
        <p:spPr>
          <a:xfrm>
            <a:off x="678492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14"/>
          <p:cNvSpPr/>
          <p:nvPr/>
        </p:nvSpPr>
        <p:spPr>
          <a:xfrm>
            <a:off x="6602040" y="29718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6602040" y="3474720"/>
            <a:ext cx="196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 and containers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Storage and databases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6"/>
          <p:cNvSpPr/>
          <p:nvPr/>
        </p:nvSpPr>
        <p:spPr>
          <a:xfrm>
            <a:off x="8805600" y="3383280"/>
            <a:ext cx="347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lass card 18"/>
          <p:cNvSpPr/>
          <p:nvPr/>
        </p:nvSpPr>
        <p:spPr>
          <a:xfrm>
            <a:off x="9208080" y="1783080"/>
            <a:ext cx="2422800" cy="3200040"/>
          </a:xfrm>
          <a:prstGeom prst="roundRect">
            <a:avLst>
              <a:gd name="adj" fmla="val 67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8"/>
          <p:cNvSpPr/>
          <p:nvPr/>
        </p:nvSpPr>
        <p:spPr>
          <a:xfrm>
            <a:off x="9482400" y="2057400"/>
            <a:ext cx="731160" cy="731160"/>
          </a:xfrm>
          <a:prstGeom prst="ellipse">
            <a:avLst/>
          </a:prstGeom>
          <a:solidFill>
            <a:srgbClr val="34C77B">
              <a:alpha val="30000"/>
            </a:srgbClr>
          </a:solidFill>
          <a:ln w="9525">
            <a:solidFill>
              <a:srgbClr val="34C77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3" descr="Rocket icon"/>
          <p:cNvPicPr/>
          <p:nvPr/>
        </p:nvPicPr>
        <p:blipFill>
          <a:blip r:embed="rId4"/>
          <a:stretch/>
        </p:blipFill>
        <p:spPr>
          <a:xfrm>
            <a:off x="966528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19"/>
          <p:cNvSpPr/>
          <p:nvPr/>
        </p:nvSpPr>
        <p:spPr>
          <a:xfrm>
            <a:off x="9482400" y="29718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Deployment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9482400" y="3474720"/>
            <a:ext cx="196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CI/CD pipelines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Scalable hosting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Monitoring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lass card 19"/>
          <p:cNvSpPr/>
          <p:nvPr/>
        </p:nvSpPr>
        <p:spPr>
          <a:xfrm>
            <a:off x="567000" y="5349240"/>
            <a:ext cx="11063880" cy="685440"/>
          </a:xfrm>
          <a:prstGeom prst="roundRect">
            <a:avLst>
              <a:gd name="adj" fmla="val 49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567000" y="53492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Result: faster releases, consistent environments and easy collaboration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9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ACBE7C-1F96-4E5E-A978-6773E0561D25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Benefits of Cloud Development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Six reasons teams build on the cloud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lass card 20"/>
          <p:cNvSpPr/>
          <p:nvPr/>
        </p:nvSpPr>
        <p:spPr>
          <a:xfrm>
            <a:off x="475560" y="178308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749880" y="2057400"/>
            <a:ext cx="639720" cy="63972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ExpandArrowsAlt icon"/>
          <p:cNvPicPr/>
          <p:nvPr/>
        </p:nvPicPr>
        <p:blipFill>
          <a:blip r:embed="rId1"/>
          <a:stretch/>
        </p:blipFill>
        <p:spPr>
          <a:xfrm>
            <a:off x="909720" y="2217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4"/>
          <p:cNvSpPr/>
          <p:nvPr/>
        </p:nvSpPr>
        <p:spPr>
          <a:xfrm>
            <a:off x="1572840" y="20574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Scalability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49880" y="28803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Resources grow or shrink with demand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lass card 21"/>
          <p:cNvSpPr/>
          <p:nvPr/>
        </p:nvSpPr>
        <p:spPr>
          <a:xfrm>
            <a:off x="4316040" y="178308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4590360" y="2057400"/>
            <a:ext cx="639720" cy="639720"/>
          </a:xfrm>
          <a:prstGeom prst="ellipse">
            <a:avLst/>
          </a:prstGeom>
          <a:solidFill>
            <a:srgbClr val="8B80F9">
              <a:alpha val="30000"/>
            </a:srgbClr>
          </a:solidFill>
          <a:ln w="9525">
            <a:solidFill>
              <a:srgbClr val="8B80F9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1" descr="SlidersH icon"/>
          <p:cNvPicPr/>
          <p:nvPr/>
        </p:nvPicPr>
        <p:blipFill>
          <a:blip r:embed="rId2"/>
          <a:stretch/>
        </p:blipFill>
        <p:spPr>
          <a:xfrm>
            <a:off x="4750200" y="2217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8"/>
          <p:cNvSpPr/>
          <p:nvPr/>
        </p:nvSpPr>
        <p:spPr>
          <a:xfrm>
            <a:off x="5413320" y="20574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Flexibility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4590360" y="28803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Pick the languages, frameworks and services you need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lass card 22"/>
          <p:cNvSpPr/>
          <p:nvPr/>
        </p:nvSpPr>
        <p:spPr>
          <a:xfrm>
            <a:off x="8156520" y="178308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8430840" y="2057400"/>
            <a:ext cx="639720" cy="6397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2" descr="Users icon"/>
          <p:cNvPicPr/>
          <p:nvPr/>
        </p:nvPicPr>
        <p:blipFill>
          <a:blip r:embed="rId3"/>
          <a:stretch/>
        </p:blipFill>
        <p:spPr>
          <a:xfrm>
            <a:off x="8590680" y="2217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2"/>
          <p:cNvSpPr/>
          <p:nvPr/>
        </p:nvSpPr>
        <p:spPr>
          <a:xfrm>
            <a:off x="9253800" y="20574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Collaboration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8430840" y="28803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Teams share code, environments and pipelines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lass card 23"/>
          <p:cNvSpPr/>
          <p:nvPr/>
        </p:nvSpPr>
        <p:spPr>
          <a:xfrm>
            <a:off x="475560" y="402336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749880" y="4297680"/>
            <a:ext cx="639720" cy="639720"/>
          </a:xfrm>
          <a:prstGeom prst="ellipse">
            <a:avLst/>
          </a:prstGeom>
          <a:solidFill>
            <a:srgbClr val="8B80F9">
              <a:alpha val="30000"/>
            </a:srgbClr>
          </a:solidFill>
          <a:ln w="9525">
            <a:solidFill>
              <a:srgbClr val="8B80F9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3" descr="Cogs icon"/>
          <p:cNvPicPr/>
          <p:nvPr/>
        </p:nvPicPr>
        <p:blipFill>
          <a:blip r:embed="rId4"/>
          <a:stretch/>
        </p:blipFill>
        <p:spPr>
          <a:xfrm>
            <a:off x="909720" y="44578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16"/>
          <p:cNvSpPr/>
          <p:nvPr/>
        </p:nvSpPr>
        <p:spPr>
          <a:xfrm>
            <a:off x="1572840" y="429768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Automation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749880" y="51206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Infrastructure and releases run as code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lass card 24"/>
          <p:cNvSpPr/>
          <p:nvPr/>
        </p:nvSpPr>
        <p:spPr>
          <a:xfrm>
            <a:off x="4316040" y="402336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9"/>
          <p:cNvSpPr/>
          <p:nvPr/>
        </p:nvSpPr>
        <p:spPr>
          <a:xfrm>
            <a:off x="4590360" y="4297680"/>
            <a:ext cx="639720" cy="63972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4" descr="Globe icon"/>
          <p:cNvPicPr/>
          <p:nvPr/>
        </p:nvPicPr>
        <p:blipFill>
          <a:blip r:embed="rId5"/>
          <a:stretch/>
        </p:blipFill>
        <p:spPr>
          <a:xfrm>
            <a:off x="4750200" y="44578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0"/>
          <p:cNvSpPr/>
          <p:nvPr/>
        </p:nvSpPr>
        <p:spPr>
          <a:xfrm>
            <a:off x="5413320" y="429768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Availability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4590360" y="51206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Multiple regions and zones keep apps online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lass card 25"/>
          <p:cNvSpPr/>
          <p:nvPr/>
        </p:nvSpPr>
        <p:spPr>
          <a:xfrm>
            <a:off x="8156520" y="402336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8430840" y="4297680"/>
            <a:ext cx="639720" cy="639720"/>
          </a:xfrm>
          <a:prstGeom prst="ellipse">
            <a:avLst/>
          </a:prstGeom>
          <a:solidFill>
            <a:srgbClr val="34C77B">
              <a:alpha val="30000"/>
            </a:srgbClr>
          </a:solidFill>
          <a:ln w="9525">
            <a:solidFill>
              <a:srgbClr val="34C77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5" descr="PiggyBank icon"/>
          <p:cNvPicPr/>
          <p:nvPr/>
        </p:nvPicPr>
        <p:blipFill>
          <a:blip r:embed="rId6"/>
          <a:stretch/>
        </p:blipFill>
        <p:spPr>
          <a:xfrm>
            <a:off x="8590680" y="44578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24"/>
          <p:cNvSpPr/>
          <p:nvPr/>
        </p:nvSpPr>
        <p:spPr>
          <a:xfrm>
            <a:off x="9253800" y="429768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Cost efficiency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5"/>
          <p:cNvSpPr/>
          <p:nvPr/>
        </p:nvSpPr>
        <p:spPr>
          <a:xfrm>
            <a:off x="8430840" y="51206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Pay only for what you use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10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55F492-06C0-4857-98B9-FCDA04A1738C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Web Services (AWS)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The broadest portfolio of cloud services, from servers to CI/CD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Glass card 26"/>
          <p:cNvSpPr/>
          <p:nvPr/>
        </p:nvSpPr>
        <p:spPr>
          <a:xfrm>
            <a:off x="548640" y="178308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658440" y="189288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0" descr="Server icon"/>
          <p:cNvPicPr/>
          <p:nvPr/>
        </p:nvPicPr>
        <p:blipFill>
          <a:blip r:embed="rId1"/>
          <a:stretch/>
        </p:blipFill>
        <p:spPr>
          <a:xfrm>
            <a:off x="763560" y="199800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4"/>
          <p:cNvSpPr/>
          <p:nvPr/>
        </p:nvSpPr>
        <p:spPr>
          <a:xfrm>
            <a:off x="1234440" y="185616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EC2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Resizable virtual servers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Glass card 27"/>
          <p:cNvSpPr/>
          <p:nvPr/>
        </p:nvSpPr>
        <p:spPr>
          <a:xfrm>
            <a:off x="548640" y="25329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658440" y="264276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1" descr="Bolt icon"/>
          <p:cNvPicPr/>
          <p:nvPr/>
        </p:nvPicPr>
        <p:blipFill>
          <a:blip r:embed="rId2"/>
          <a:stretch/>
        </p:blipFill>
        <p:spPr>
          <a:xfrm>
            <a:off x="763560" y="27478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7"/>
          <p:cNvSpPr/>
          <p:nvPr/>
        </p:nvSpPr>
        <p:spPr>
          <a:xfrm>
            <a:off x="1234440" y="260604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Lambda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Run code without managing servers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Glass card 28"/>
          <p:cNvSpPr/>
          <p:nvPr/>
        </p:nvSpPr>
        <p:spPr>
          <a:xfrm>
            <a:off x="548640" y="32828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658440" y="339228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2" descr="LayerGroup icon"/>
          <p:cNvPicPr/>
          <p:nvPr/>
        </p:nvPicPr>
        <p:blipFill>
          <a:blip r:embed="rId3"/>
          <a:stretch/>
        </p:blipFill>
        <p:spPr>
          <a:xfrm>
            <a:off x="763560" y="34977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10"/>
          <p:cNvSpPr/>
          <p:nvPr/>
        </p:nvSpPr>
        <p:spPr>
          <a:xfrm>
            <a:off x="1234440" y="33559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Elastic Beanstalk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Deploy web apps; AWS handles the setup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Glass card 29"/>
          <p:cNvSpPr/>
          <p:nvPr/>
        </p:nvSpPr>
        <p:spPr>
          <a:xfrm>
            <a:off x="548640" y="40323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658440" y="414216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3" descr="Archive icon"/>
          <p:cNvPicPr/>
          <p:nvPr/>
        </p:nvPicPr>
        <p:blipFill>
          <a:blip r:embed="rId4"/>
          <a:stretch/>
        </p:blipFill>
        <p:spPr>
          <a:xfrm>
            <a:off x="763560" y="42472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13"/>
          <p:cNvSpPr/>
          <p:nvPr/>
        </p:nvSpPr>
        <p:spPr>
          <a:xfrm>
            <a:off x="1234440" y="41058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S3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Scalable object storage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lass card 30"/>
          <p:cNvSpPr/>
          <p:nvPr/>
        </p:nvSpPr>
        <p:spPr>
          <a:xfrm>
            <a:off x="548640" y="47822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658440" y="489204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4" descr="Database icon"/>
          <p:cNvPicPr/>
          <p:nvPr/>
        </p:nvPicPr>
        <p:blipFill>
          <a:blip r:embed="rId5"/>
          <a:stretch/>
        </p:blipFill>
        <p:spPr>
          <a:xfrm>
            <a:off x="763560" y="49971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16"/>
          <p:cNvSpPr/>
          <p:nvPr/>
        </p:nvSpPr>
        <p:spPr>
          <a:xfrm>
            <a:off x="1234440" y="48553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RDS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Managed relational databases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lass card 31"/>
          <p:cNvSpPr/>
          <p:nvPr/>
        </p:nvSpPr>
        <p:spPr>
          <a:xfrm>
            <a:off x="548640" y="553212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658440" y="564192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5" descr="CodeBranch icon"/>
          <p:cNvPicPr/>
          <p:nvPr/>
        </p:nvPicPr>
        <p:blipFill>
          <a:blip r:embed="rId6"/>
          <a:stretch/>
        </p:blipFill>
        <p:spPr>
          <a:xfrm>
            <a:off x="763560" y="574704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19"/>
          <p:cNvSpPr/>
          <p:nvPr/>
        </p:nvSpPr>
        <p:spPr>
          <a:xfrm>
            <a:off x="1234440" y="56052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CodePipeline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Automated CI/CD release pipelines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Glass card 32"/>
          <p:cNvSpPr/>
          <p:nvPr/>
        </p:nvSpPr>
        <p:spPr>
          <a:xfrm>
            <a:off x="5303520" y="1783080"/>
            <a:ext cx="6354720" cy="4434480"/>
          </a:xfrm>
          <a:prstGeom prst="roundRect">
            <a:avLst>
              <a:gd name="adj" fmla="val 45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1"/>
          <p:cNvSpPr/>
          <p:nvPr/>
        </p:nvSpPr>
        <p:spPr>
          <a:xfrm>
            <a:off x="5577840" y="1965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 application architecture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Glass card 33"/>
          <p:cNvSpPr/>
          <p:nvPr/>
        </p:nvSpPr>
        <p:spPr>
          <a:xfrm>
            <a:off x="548640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554112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lass card 34"/>
          <p:cNvSpPr/>
          <p:nvPr/>
        </p:nvSpPr>
        <p:spPr>
          <a:xfrm>
            <a:off x="7025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5"/>
          <p:cNvSpPr/>
          <p:nvPr/>
        </p:nvSpPr>
        <p:spPr>
          <a:xfrm>
            <a:off x="708048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Route 53 + CloudFront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lass card 35"/>
          <p:cNvSpPr/>
          <p:nvPr/>
        </p:nvSpPr>
        <p:spPr>
          <a:xfrm>
            <a:off x="8564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8619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Elastic Load Balancing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lass card 36"/>
          <p:cNvSpPr/>
          <p:nvPr/>
        </p:nvSpPr>
        <p:spPr>
          <a:xfrm>
            <a:off x="1010412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9"/>
          <p:cNvSpPr/>
          <p:nvPr/>
        </p:nvSpPr>
        <p:spPr>
          <a:xfrm>
            <a:off x="10158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Lambda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lass card 37"/>
          <p:cNvSpPr/>
          <p:nvPr/>
        </p:nvSpPr>
        <p:spPr>
          <a:xfrm>
            <a:off x="548640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1"/>
          <p:cNvSpPr/>
          <p:nvPr/>
        </p:nvSpPr>
        <p:spPr>
          <a:xfrm>
            <a:off x="554112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lass card 38"/>
          <p:cNvSpPr/>
          <p:nvPr/>
        </p:nvSpPr>
        <p:spPr>
          <a:xfrm>
            <a:off x="7025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3"/>
          <p:cNvSpPr/>
          <p:nvPr/>
        </p:nvSpPr>
        <p:spPr>
          <a:xfrm>
            <a:off x="708048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CodePipeline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lass card 39"/>
          <p:cNvSpPr/>
          <p:nvPr/>
        </p:nvSpPr>
        <p:spPr>
          <a:xfrm>
            <a:off x="8564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5"/>
          <p:cNvSpPr/>
          <p:nvPr/>
        </p:nvSpPr>
        <p:spPr>
          <a:xfrm>
            <a:off x="8619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EC2 / Elastic Beanstalk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lass card 40"/>
          <p:cNvSpPr/>
          <p:nvPr/>
        </p:nvSpPr>
        <p:spPr>
          <a:xfrm>
            <a:off x="1010412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7"/>
          <p:cNvSpPr/>
          <p:nvPr/>
        </p:nvSpPr>
        <p:spPr>
          <a:xfrm>
            <a:off x="10158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RDS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lass card 41"/>
          <p:cNvSpPr/>
          <p:nvPr/>
        </p:nvSpPr>
        <p:spPr>
          <a:xfrm>
            <a:off x="8564760" y="512064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9"/>
          <p:cNvSpPr/>
          <p:nvPr/>
        </p:nvSpPr>
        <p:spPr>
          <a:xfrm>
            <a:off x="8619840" y="512064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S3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0"/>
          <p:cNvSpPr/>
          <p:nvPr/>
        </p:nvSpPr>
        <p:spPr>
          <a:xfrm>
            <a:off x="6876000" y="294876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1"/>
          <p:cNvSpPr/>
          <p:nvPr/>
        </p:nvSpPr>
        <p:spPr>
          <a:xfrm>
            <a:off x="8415360" y="294876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42"/>
          <p:cNvSpPr/>
          <p:nvPr/>
        </p:nvSpPr>
        <p:spPr>
          <a:xfrm>
            <a:off x="9954720" y="294876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3"/>
          <p:cNvSpPr/>
          <p:nvPr/>
        </p:nvSpPr>
        <p:spPr>
          <a:xfrm>
            <a:off x="6876000" y="422892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4"/>
          <p:cNvSpPr/>
          <p:nvPr/>
        </p:nvSpPr>
        <p:spPr>
          <a:xfrm>
            <a:off x="8415360" y="422892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5"/>
          <p:cNvSpPr/>
          <p:nvPr/>
        </p:nvSpPr>
        <p:spPr>
          <a:xfrm>
            <a:off x="9954720" y="422892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6"/>
          <p:cNvSpPr/>
          <p:nvPr/>
        </p:nvSpPr>
        <p:spPr>
          <a:xfrm>
            <a:off x="9250560" y="3355560"/>
            <a:ext cx="360" cy="4665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47"/>
          <p:cNvSpPr/>
          <p:nvPr/>
        </p:nvSpPr>
        <p:spPr>
          <a:xfrm>
            <a:off x="9250560" y="4635720"/>
            <a:ext cx="360" cy="4665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8"/>
          <p:cNvSpPr/>
          <p:nvPr/>
        </p:nvSpPr>
        <p:spPr>
          <a:xfrm>
            <a:off x="5486400" y="52120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Top row: request path. Middle row: build and deploy path.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11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5068D7-3E74-4E25-9D56-ECE06E1AA99B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Microsoft Azure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Enterprise-ready cloud with deep Microsoft and hybrid integration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Glass card 42"/>
          <p:cNvSpPr/>
          <p:nvPr/>
        </p:nvSpPr>
        <p:spPr>
          <a:xfrm>
            <a:off x="548640" y="178308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658440" y="189288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0" descr="Server icon"/>
          <p:cNvPicPr/>
          <p:nvPr/>
        </p:nvPicPr>
        <p:blipFill>
          <a:blip r:embed="rId1"/>
          <a:stretch/>
        </p:blipFill>
        <p:spPr>
          <a:xfrm>
            <a:off x="763560" y="199800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4"/>
          <p:cNvSpPr/>
          <p:nvPr/>
        </p:nvSpPr>
        <p:spPr>
          <a:xfrm>
            <a:off x="1234440" y="185616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 Machines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On-demand Windows and Linux servers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Glass card 43"/>
          <p:cNvSpPr/>
          <p:nvPr/>
        </p:nvSpPr>
        <p:spPr>
          <a:xfrm>
            <a:off x="548640" y="25329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658440" y="264276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1" descr="Bolt icon"/>
          <p:cNvPicPr/>
          <p:nvPr/>
        </p:nvPicPr>
        <p:blipFill>
          <a:blip r:embed="rId2"/>
          <a:stretch/>
        </p:blipFill>
        <p:spPr>
          <a:xfrm>
            <a:off x="763560" y="27478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7"/>
          <p:cNvSpPr/>
          <p:nvPr/>
        </p:nvSpPr>
        <p:spPr>
          <a:xfrm>
            <a:off x="1234440" y="260604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Functions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Event-driven serverless code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Glass card 44"/>
          <p:cNvSpPr/>
          <p:nvPr/>
        </p:nvSpPr>
        <p:spPr>
          <a:xfrm>
            <a:off x="548640" y="32828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658440" y="339228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2" descr="LayerGroup icon"/>
          <p:cNvPicPr/>
          <p:nvPr/>
        </p:nvPicPr>
        <p:blipFill>
          <a:blip r:embed="rId3"/>
          <a:stretch/>
        </p:blipFill>
        <p:spPr>
          <a:xfrm>
            <a:off x="763560" y="34977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10"/>
          <p:cNvSpPr/>
          <p:nvPr/>
        </p:nvSpPr>
        <p:spPr>
          <a:xfrm>
            <a:off x="1234440" y="33559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App Service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Managed hosting for web apps and APIs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Glass card 45"/>
          <p:cNvSpPr/>
          <p:nvPr/>
        </p:nvSpPr>
        <p:spPr>
          <a:xfrm>
            <a:off x="548640" y="40323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658440" y="414216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3" descr="Archive icon"/>
          <p:cNvPicPr/>
          <p:nvPr/>
        </p:nvPicPr>
        <p:blipFill>
          <a:blip r:embed="rId4"/>
          <a:stretch/>
        </p:blipFill>
        <p:spPr>
          <a:xfrm>
            <a:off x="763560" y="42472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13"/>
          <p:cNvSpPr/>
          <p:nvPr/>
        </p:nvSpPr>
        <p:spPr>
          <a:xfrm>
            <a:off x="1234440" y="41058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Blob Storage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Massively scalable object storage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Glass card 46"/>
          <p:cNvSpPr/>
          <p:nvPr/>
        </p:nvSpPr>
        <p:spPr>
          <a:xfrm>
            <a:off x="548640" y="47822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658440" y="489204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4" descr="Database icon"/>
          <p:cNvPicPr/>
          <p:nvPr/>
        </p:nvPicPr>
        <p:blipFill>
          <a:blip r:embed="rId5"/>
          <a:stretch/>
        </p:blipFill>
        <p:spPr>
          <a:xfrm>
            <a:off x="763560" y="49971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16"/>
          <p:cNvSpPr/>
          <p:nvPr/>
        </p:nvSpPr>
        <p:spPr>
          <a:xfrm>
            <a:off x="1234440" y="48553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SQL Database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Managed relational database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lass card 47"/>
          <p:cNvSpPr/>
          <p:nvPr/>
        </p:nvSpPr>
        <p:spPr>
          <a:xfrm>
            <a:off x="548640" y="553212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8"/>
          <p:cNvSpPr/>
          <p:nvPr/>
        </p:nvSpPr>
        <p:spPr>
          <a:xfrm>
            <a:off x="658440" y="564192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5" descr="CodeBranch icon"/>
          <p:cNvPicPr/>
          <p:nvPr/>
        </p:nvPicPr>
        <p:blipFill>
          <a:blip r:embed="rId6"/>
          <a:stretch/>
        </p:blipFill>
        <p:spPr>
          <a:xfrm>
            <a:off x="763560" y="574704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19"/>
          <p:cNvSpPr/>
          <p:nvPr/>
        </p:nvSpPr>
        <p:spPr>
          <a:xfrm>
            <a:off x="1234440" y="56052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DevOps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Repos, pipelines and boards in one suite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Glass card 48"/>
          <p:cNvSpPr/>
          <p:nvPr/>
        </p:nvSpPr>
        <p:spPr>
          <a:xfrm>
            <a:off x="5303520" y="1783080"/>
            <a:ext cx="6354720" cy="4434480"/>
          </a:xfrm>
          <a:prstGeom prst="roundRect">
            <a:avLst>
              <a:gd name="adj" fmla="val 45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1"/>
          <p:cNvSpPr/>
          <p:nvPr/>
        </p:nvSpPr>
        <p:spPr>
          <a:xfrm>
            <a:off x="5577840" y="1965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Azure application architecture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Glass card 49"/>
          <p:cNvSpPr/>
          <p:nvPr/>
        </p:nvSpPr>
        <p:spPr>
          <a:xfrm>
            <a:off x="548640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3"/>
          <p:cNvSpPr/>
          <p:nvPr/>
        </p:nvSpPr>
        <p:spPr>
          <a:xfrm>
            <a:off x="554112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lass card 50"/>
          <p:cNvSpPr/>
          <p:nvPr/>
        </p:nvSpPr>
        <p:spPr>
          <a:xfrm>
            <a:off x="7025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5"/>
          <p:cNvSpPr/>
          <p:nvPr/>
        </p:nvSpPr>
        <p:spPr>
          <a:xfrm>
            <a:off x="708048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Front Door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lass card 51"/>
          <p:cNvSpPr/>
          <p:nvPr/>
        </p:nvSpPr>
        <p:spPr>
          <a:xfrm>
            <a:off x="8564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7"/>
          <p:cNvSpPr/>
          <p:nvPr/>
        </p:nvSpPr>
        <p:spPr>
          <a:xfrm>
            <a:off x="8619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 Gateway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Glass card 52"/>
          <p:cNvSpPr/>
          <p:nvPr/>
        </p:nvSpPr>
        <p:spPr>
          <a:xfrm>
            <a:off x="1010412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9"/>
          <p:cNvSpPr/>
          <p:nvPr/>
        </p:nvSpPr>
        <p:spPr>
          <a:xfrm>
            <a:off x="10158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Functions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lass card 53"/>
          <p:cNvSpPr/>
          <p:nvPr/>
        </p:nvSpPr>
        <p:spPr>
          <a:xfrm>
            <a:off x="548640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1"/>
          <p:cNvSpPr/>
          <p:nvPr/>
        </p:nvSpPr>
        <p:spPr>
          <a:xfrm>
            <a:off x="554112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Glass card 54"/>
          <p:cNvSpPr/>
          <p:nvPr/>
        </p:nvSpPr>
        <p:spPr>
          <a:xfrm>
            <a:off x="7025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3"/>
          <p:cNvSpPr/>
          <p:nvPr/>
        </p:nvSpPr>
        <p:spPr>
          <a:xfrm>
            <a:off x="708048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DevOps Pipelines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lass card 55"/>
          <p:cNvSpPr/>
          <p:nvPr/>
        </p:nvSpPr>
        <p:spPr>
          <a:xfrm>
            <a:off x="8564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5"/>
          <p:cNvSpPr/>
          <p:nvPr/>
        </p:nvSpPr>
        <p:spPr>
          <a:xfrm>
            <a:off x="8619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Service / Virtual Machines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Glass card 56"/>
          <p:cNvSpPr/>
          <p:nvPr/>
        </p:nvSpPr>
        <p:spPr>
          <a:xfrm>
            <a:off x="1010412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7"/>
          <p:cNvSpPr/>
          <p:nvPr/>
        </p:nvSpPr>
        <p:spPr>
          <a:xfrm>
            <a:off x="10158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SQL Database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Glass card 57"/>
          <p:cNvSpPr/>
          <p:nvPr/>
        </p:nvSpPr>
        <p:spPr>
          <a:xfrm>
            <a:off x="8564760" y="512064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9"/>
          <p:cNvSpPr/>
          <p:nvPr/>
        </p:nvSpPr>
        <p:spPr>
          <a:xfrm>
            <a:off x="8619840" y="512064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Blob Storage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0"/>
          <p:cNvSpPr/>
          <p:nvPr/>
        </p:nvSpPr>
        <p:spPr>
          <a:xfrm>
            <a:off x="6876000" y="294876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41"/>
          <p:cNvSpPr/>
          <p:nvPr/>
        </p:nvSpPr>
        <p:spPr>
          <a:xfrm>
            <a:off x="8415360" y="294876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2"/>
          <p:cNvSpPr/>
          <p:nvPr/>
        </p:nvSpPr>
        <p:spPr>
          <a:xfrm>
            <a:off x="9954720" y="294876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3"/>
          <p:cNvSpPr/>
          <p:nvPr/>
        </p:nvSpPr>
        <p:spPr>
          <a:xfrm>
            <a:off x="6876000" y="422892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44"/>
          <p:cNvSpPr/>
          <p:nvPr/>
        </p:nvSpPr>
        <p:spPr>
          <a:xfrm>
            <a:off x="8415360" y="422892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5"/>
          <p:cNvSpPr/>
          <p:nvPr/>
        </p:nvSpPr>
        <p:spPr>
          <a:xfrm>
            <a:off x="9954720" y="422892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6"/>
          <p:cNvSpPr/>
          <p:nvPr/>
        </p:nvSpPr>
        <p:spPr>
          <a:xfrm>
            <a:off x="9250560" y="3355560"/>
            <a:ext cx="360" cy="4665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47"/>
          <p:cNvSpPr/>
          <p:nvPr/>
        </p:nvSpPr>
        <p:spPr>
          <a:xfrm>
            <a:off x="9250560" y="4635720"/>
            <a:ext cx="360" cy="4665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8"/>
          <p:cNvSpPr/>
          <p:nvPr/>
        </p:nvSpPr>
        <p:spPr>
          <a:xfrm>
            <a:off x="5486400" y="52120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Top row: request path. Middle row: build and deploy path.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12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1BBD98-CAB0-458A-9F89-E50571043DFE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Strong in data, AI and container-native development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Glass card 58"/>
          <p:cNvSpPr/>
          <p:nvPr/>
        </p:nvSpPr>
        <p:spPr>
          <a:xfrm>
            <a:off x="548640" y="178308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658440" y="189288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0" descr="Server icon"/>
          <p:cNvPicPr/>
          <p:nvPr/>
        </p:nvPicPr>
        <p:blipFill>
          <a:blip r:embed="rId1"/>
          <a:stretch/>
        </p:blipFill>
        <p:spPr>
          <a:xfrm>
            <a:off x="763560" y="199800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4"/>
          <p:cNvSpPr/>
          <p:nvPr/>
        </p:nvSpPr>
        <p:spPr>
          <a:xfrm>
            <a:off x="1234440" y="185616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 Engine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Virtual machines on Google infrastructure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lass card 59"/>
          <p:cNvSpPr/>
          <p:nvPr/>
        </p:nvSpPr>
        <p:spPr>
          <a:xfrm>
            <a:off x="548640" y="25329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658440" y="264276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1" descr="LayerGroup icon"/>
          <p:cNvPicPr/>
          <p:nvPr/>
        </p:nvPicPr>
        <p:blipFill>
          <a:blip r:embed="rId2"/>
          <a:stretch/>
        </p:blipFill>
        <p:spPr>
          <a:xfrm>
            <a:off x="763560" y="27478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7"/>
          <p:cNvSpPr/>
          <p:nvPr/>
        </p:nvSpPr>
        <p:spPr>
          <a:xfrm>
            <a:off x="1234440" y="260604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Engine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Fully managed platform for web apps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lass card 60"/>
          <p:cNvSpPr/>
          <p:nvPr/>
        </p:nvSpPr>
        <p:spPr>
          <a:xfrm>
            <a:off x="548640" y="32828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658440" y="339228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9" name="Image 2" descr="Bolt icon"/>
          <p:cNvPicPr/>
          <p:nvPr/>
        </p:nvPicPr>
        <p:blipFill>
          <a:blip r:embed="rId3"/>
          <a:stretch/>
        </p:blipFill>
        <p:spPr>
          <a:xfrm>
            <a:off x="763560" y="34977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Text 10"/>
          <p:cNvSpPr/>
          <p:nvPr/>
        </p:nvSpPr>
        <p:spPr>
          <a:xfrm>
            <a:off x="1234440" y="33559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Run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Run containers without managing servers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lass card 61"/>
          <p:cNvSpPr/>
          <p:nvPr/>
        </p:nvSpPr>
        <p:spPr>
          <a:xfrm>
            <a:off x="548640" y="40323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658440" y="414216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3" descr="Archive icon"/>
          <p:cNvPicPr/>
          <p:nvPr/>
        </p:nvPicPr>
        <p:blipFill>
          <a:blip r:embed="rId4"/>
          <a:stretch/>
        </p:blipFill>
        <p:spPr>
          <a:xfrm>
            <a:off x="763560" y="42472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13"/>
          <p:cNvSpPr/>
          <p:nvPr/>
        </p:nvSpPr>
        <p:spPr>
          <a:xfrm>
            <a:off x="1234440" y="41058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Storage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Unified object storage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Glass card 62"/>
          <p:cNvSpPr/>
          <p:nvPr/>
        </p:nvSpPr>
        <p:spPr>
          <a:xfrm>
            <a:off x="548640" y="47822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658440" y="489204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4" descr="Database icon"/>
          <p:cNvPicPr/>
          <p:nvPr/>
        </p:nvPicPr>
        <p:blipFill>
          <a:blip r:embed="rId5"/>
          <a:stretch/>
        </p:blipFill>
        <p:spPr>
          <a:xfrm>
            <a:off x="763560" y="49971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16"/>
          <p:cNvSpPr/>
          <p:nvPr/>
        </p:nvSpPr>
        <p:spPr>
          <a:xfrm>
            <a:off x="1234440" y="48553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SQL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Managed MySQL, PostgreSQL, SQL Server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Glass card 63"/>
          <p:cNvSpPr/>
          <p:nvPr/>
        </p:nvSpPr>
        <p:spPr>
          <a:xfrm>
            <a:off x="548640" y="553212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8"/>
          <p:cNvSpPr/>
          <p:nvPr/>
        </p:nvSpPr>
        <p:spPr>
          <a:xfrm>
            <a:off x="658440" y="564192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5" descr="CodeBranch icon"/>
          <p:cNvPicPr/>
          <p:nvPr/>
        </p:nvPicPr>
        <p:blipFill>
          <a:blip r:embed="rId6"/>
          <a:stretch/>
        </p:blipFill>
        <p:spPr>
          <a:xfrm>
            <a:off x="763560" y="574704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19"/>
          <p:cNvSpPr/>
          <p:nvPr/>
        </p:nvSpPr>
        <p:spPr>
          <a:xfrm>
            <a:off x="1234440" y="56052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Build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Serverless CI/CD that builds and tests code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Glass card 64"/>
          <p:cNvSpPr/>
          <p:nvPr/>
        </p:nvSpPr>
        <p:spPr>
          <a:xfrm>
            <a:off x="5303520" y="1783080"/>
            <a:ext cx="6354720" cy="4434480"/>
          </a:xfrm>
          <a:prstGeom prst="roundRect">
            <a:avLst>
              <a:gd name="adj" fmla="val 45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5577840" y="1965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 application architecture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2"/>
          <p:cNvSpPr/>
          <p:nvPr/>
        </p:nvSpPr>
        <p:spPr>
          <a:xfrm>
            <a:off x="10744200" y="2075760"/>
            <a:ext cx="127800" cy="12780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3"/>
          <p:cNvSpPr/>
          <p:nvPr/>
        </p:nvSpPr>
        <p:spPr>
          <a:xfrm>
            <a:off x="10927080" y="2075760"/>
            <a:ext cx="127800" cy="12780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4"/>
          <p:cNvSpPr/>
          <p:nvPr/>
        </p:nvSpPr>
        <p:spPr>
          <a:xfrm>
            <a:off x="11109960" y="2075760"/>
            <a:ext cx="127800" cy="12780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5"/>
          <p:cNvSpPr/>
          <p:nvPr/>
        </p:nvSpPr>
        <p:spPr>
          <a:xfrm>
            <a:off x="11292840" y="2075760"/>
            <a:ext cx="127800" cy="1278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Glass card 65"/>
          <p:cNvSpPr/>
          <p:nvPr/>
        </p:nvSpPr>
        <p:spPr>
          <a:xfrm>
            <a:off x="548640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7"/>
          <p:cNvSpPr/>
          <p:nvPr/>
        </p:nvSpPr>
        <p:spPr>
          <a:xfrm>
            <a:off x="554112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lass card 66"/>
          <p:cNvSpPr/>
          <p:nvPr/>
        </p:nvSpPr>
        <p:spPr>
          <a:xfrm>
            <a:off x="7025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9"/>
          <p:cNvSpPr/>
          <p:nvPr/>
        </p:nvSpPr>
        <p:spPr>
          <a:xfrm>
            <a:off x="708048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DNS + Cloud CDN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Glass card 67"/>
          <p:cNvSpPr/>
          <p:nvPr/>
        </p:nvSpPr>
        <p:spPr>
          <a:xfrm>
            <a:off x="8564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8619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Load Balancing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Glass card 68"/>
          <p:cNvSpPr/>
          <p:nvPr/>
        </p:nvSpPr>
        <p:spPr>
          <a:xfrm>
            <a:off x="1010412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3"/>
          <p:cNvSpPr/>
          <p:nvPr/>
        </p:nvSpPr>
        <p:spPr>
          <a:xfrm>
            <a:off x="10158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Run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Glass card 69"/>
          <p:cNvSpPr/>
          <p:nvPr/>
        </p:nvSpPr>
        <p:spPr>
          <a:xfrm>
            <a:off x="548640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5"/>
          <p:cNvSpPr/>
          <p:nvPr/>
        </p:nvSpPr>
        <p:spPr>
          <a:xfrm>
            <a:off x="554112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lass card 70"/>
          <p:cNvSpPr/>
          <p:nvPr/>
        </p:nvSpPr>
        <p:spPr>
          <a:xfrm>
            <a:off x="7025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7"/>
          <p:cNvSpPr/>
          <p:nvPr/>
        </p:nvSpPr>
        <p:spPr>
          <a:xfrm>
            <a:off x="708048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Build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lass card 71"/>
          <p:cNvSpPr/>
          <p:nvPr/>
        </p:nvSpPr>
        <p:spPr>
          <a:xfrm>
            <a:off x="8564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9"/>
          <p:cNvSpPr/>
          <p:nvPr/>
        </p:nvSpPr>
        <p:spPr>
          <a:xfrm>
            <a:off x="8619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 Engine / App Engine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Glass card 72"/>
          <p:cNvSpPr/>
          <p:nvPr/>
        </p:nvSpPr>
        <p:spPr>
          <a:xfrm>
            <a:off x="1010412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1"/>
          <p:cNvSpPr/>
          <p:nvPr/>
        </p:nvSpPr>
        <p:spPr>
          <a:xfrm>
            <a:off x="10158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SQL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Glass card 73"/>
          <p:cNvSpPr/>
          <p:nvPr/>
        </p:nvSpPr>
        <p:spPr>
          <a:xfrm>
            <a:off x="8564760" y="512064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3"/>
          <p:cNvSpPr/>
          <p:nvPr/>
        </p:nvSpPr>
        <p:spPr>
          <a:xfrm>
            <a:off x="8619840" y="512064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Storage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4"/>
          <p:cNvSpPr/>
          <p:nvPr/>
        </p:nvSpPr>
        <p:spPr>
          <a:xfrm>
            <a:off x="6876000" y="294876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5"/>
          <p:cNvSpPr/>
          <p:nvPr/>
        </p:nvSpPr>
        <p:spPr>
          <a:xfrm>
            <a:off x="8415360" y="294876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46"/>
          <p:cNvSpPr/>
          <p:nvPr/>
        </p:nvSpPr>
        <p:spPr>
          <a:xfrm>
            <a:off x="9954720" y="294876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47"/>
          <p:cNvSpPr/>
          <p:nvPr/>
        </p:nvSpPr>
        <p:spPr>
          <a:xfrm>
            <a:off x="6876000" y="422892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8"/>
          <p:cNvSpPr/>
          <p:nvPr/>
        </p:nvSpPr>
        <p:spPr>
          <a:xfrm>
            <a:off x="8415360" y="422892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9"/>
          <p:cNvSpPr/>
          <p:nvPr/>
        </p:nvSpPr>
        <p:spPr>
          <a:xfrm>
            <a:off x="9954720" y="422892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50"/>
          <p:cNvSpPr/>
          <p:nvPr/>
        </p:nvSpPr>
        <p:spPr>
          <a:xfrm>
            <a:off x="9250560" y="3355560"/>
            <a:ext cx="360" cy="4665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51"/>
          <p:cNvSpPr/>
          <p:nvPr/>
        </p:nvSpPr>
        <p:spPr>
          <a:xfrm>
            <a:off x="9250560" y="4635720"/>
            <a:ext cx="360" cy="4665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2"/>
          <p:cNvSpPr/>
          <p:nvPr/>
        </p:nvSpPr>
        <p:spPr>
          <a:xfrm>
            <a:off x="5486400" y="52120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Top row: request path. Middle row: build and deploy path.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sldNum" idx="13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943A53-8811-46DB-B82C-AAE4CB3B96F3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Application Architecture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A cloud-native app is layered, scalable and observable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Glass card 74"/>
          <p:cNvSpPr/>
          <p:nvPr/>
        </p:nvSpPr>
        <p:spPr>
          <a:xfrm>
            <a:off x="640080" y="1783080"/>
            <a:ext cx="1782720" cy="1919880"/>
          </a:xfrm>
          <a:prstGeom prst="roundRect">
            <a:avLst>
              <a:gd name="adj" fmla="val 9231"/>
            </a:avLst>
          </a:prstGeom>
          <a:solidFill>
            <a:srgbClr val="5AC8FA">
              <a:alpha val="10000"/>
            </a:srgbClr>
          </a:solidFill>
          <a:ln w="9525">
            <a:solidFill>
              <a:srgbClr val="5AC8FA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1280160" y="1920240"/>
            <a:ext cx="502560" cy="5025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0" descr="Desktop icon"/>
          <p:cNvPicPr/>
          <p:nvPr/>
        </p:nvPicPr>
        <p:blipFill>
          <a:blip r:embed="rId1"/>
          <a:stretch/>
        </p:blipFill>
        <p:spPr>
          <a:xfrm>
            <a:off x="1405800" y="20458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4"/>
          <p:cNvSpPr/>
          <p:nvPr/>
        </p:nvSpPr>
        <p:spPr>
          <a:xfrm>
            <a:off x="749880" y="2560320"/>
            <a:ext cx="1563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Browser or mobile app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2441160" y="2743200"/>
            <a:ext cx="51228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lass card 75"/>
          <p:cNvSpPr/>
          <p:nvPr/>
        </p:nvSpPr>
        <p:spPr>
          <a:xfrm>
            <a:off x="2971800" y="1783080"/>
            <a:ext cx="1782720" cy="1919880"/>
          </a:xfrm>
          <a:prstGeom prst="roundRect">
            <a:avLst>
              <a:gd name="adj" fmla="val 9231"/>
            </a:avLst>
          </a:prstGeom>
          <a:solidFill>
            <a:srgbClr val="5AC8FA">
              <a:alpha val="10000"/>
            </a:srgbClr>
          </a:solidFill>
          <a:ln w="9525">
            <a:solidFill>
              <a:srgbClr val="5AC8FA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7"/>
          <p:cNvSpPr/>
          <p:nvPr/>
        </p:nvSpPr>
        <p:spPr>
          <a:xfrm>
            <a:off x="3611880" y="1920240"/>
            <a:ext cx="502560" cy="5025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1" descr="ExchangeAlt icon"/>
          <p:cNvPicPr/>
          <p:nvPr/>
        </p:nvPicPr>
        <p:blipFill>
          <a:blip r:embed="rId2"/>
          <a:stretch/>
        </p:blipFill>
        <p:spPr>
          <a:xfrm>
            <a:off x="3737520" y="20458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8"/>
          <p:cNvSpPr/>
          <p:nvPr/>
        </p:nvSpPr>
        <p:spPr>
          <a:xfrm>
            <a:off x="3081600" y="2560320"/>
            <a:ext cx="1563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Routes and secures requests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9"/>
          <p:cNvSpPr/>
          <p:nvPr/>
        </p:nvSpPr>
        <p:spPr>
          <a:xfrm>
            <a:off x="4772880" y="2743200"/>
            <a:ext cx="51228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Glass card 76"/>
          <p:cNvSpPr/>
          <p:nvPr/>
        </p:nvSpPr>
        <p:spPr>
          <a:xfrm>
            <a:off x="5303520" y="1783080"/>
            <a:ext cx="1782720" cy="1919880"/>
          </a:xfrm>
          <a:prstGeom prst="roundRect">
            <a:avLst>
              <a:gd name="adj" fmla="val 9231"/>
            </a:avLst>
          </a:prstGeom>
          <a:solidFill>
            <a:srgbClr val="5AC8FA">
              <a:alpha val="10000"/>
            </a:srgbClr>
          </a:solidFill>
          <a:ln w="9525">
            <a:solidFill>
              <a:srgbClr val="5AC8FA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5943600" y="1920240"/>
            <a:ext cx="502560" cy="5025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Image 2" descr="BalanceScale icon"/>
          <p:cNvPicPr/>
          <p:nvPr/>
        </p:nvPicPr>
        <p:blipFill>
          <a:blip r:embed="rId3"/>
          <a:stretch/>
        </p:blipFill>
        <p:spPr>
          <a:xfrm>
            <a:off x="6069240" y="20458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 12"/>
          <p:cNvSpPr/>
          <p:nvPr/>
        </p:nvSpPr>
        <p:spPr>
          <a:xfrm>
            <a:off x="5413320" y="2560320"/>
            <a:ext cx="1563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Load balancer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Spreads traffic evenly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3"/>
          <p:cNvSpPr/>
          <p:nvPr/>
        </p:nvSpPr>
        <p:spPr>
          <a:xfrm>
            <a:off x="7104600" y="2743200"/>
            <a:ext cx="51228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Glass card 77"/>
          <p:cNvSpPr/>
          <p:nvPr/>
        </p:nvSpPr>
        <p:spPr>
          <a:xfrm>
            <a:off x="7635240" y="1783080"/>
            <a:ext cx="1782720" cy="1919880"/>
          </a:xfrm>
          <a:prstGeom prst="roundRect">
            <a:avLst>
              <a:gd name="adj" fmla="val 9231"/>
            </a:avLst>
          </a:prstGeom>
          <a:solidFill>
            <a:srgbClr val="5AC8FA">
              <a:alpha val="10000"/>
            </a:srgbClr>
          </a:solidFill>
          <a:ln w="9525">
            <a:solidFill>
              <a:srgbClr val="5AC8FA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5"/>
          <p:cNvSpPr/>
          <p:nvPr/>
        </p:nvSpPr>
        <p:spPr>
          <a:xfrm>
            <a:off x="8275320" y="1920240"/>
            <a:ext cx="502560" cy="5025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3" descr="Server icon"/>
          <p:cNvPicPr/>
          <p:nvPr/>
        </p:nvPicPr>
        <p:blipFill>
          <a:blip r:embed="rId4"/>
          <a:stretch/>
        </p:blipFill>
        <p:spPr>
          <a:xfrm>
            <a:off x="8400960" y="20458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16"/>
          <p:cNvSpPr/>
          <p:nvPr/>
        </p:nvSpPr>
        <p:spPr>
          <a:xfrm>
            <a:off x="7745040" y="2560320"/>
            <a:ext cx="1563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VMs, containers, functions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7"/>
          <p:cNvSpPr/>
          <p:nvPr/>
        </p:nvSpPr>
        <p:spPr>
          <a:xfrm>
            <a:off x="9436320" y="2743200"/>
            <a:ext cx="51228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Glass card 78"/>
          <p:cNvSpPr/>
          <p:nvPr/>
        </p:nvSpPr>
        <p:spPr>
          <a:xfrm>
            <a:off x="9966960" y="1783080"/>
            <a:ext cx="1782720" cy="914040"/>
          </a:xfrm>
          <a:prstGeom prst="roundRect">
            <a:avLst>
              <a:gd name="adj" fmla="val 18000"/>
            </a:avLst>
          </a:prstGeom>
          <a:solidFill>
            <a:srgbClr val="8B80F9">
              <a:alpha val="12000"/>
            </a:srgbClr>
          </a:solidFill>
          <a:ln w="9525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9"/>
          <p:cNvSpPr/>
          <p:nvPr/>
        </p:nvSpPr>
        <p:spPr>
          <a:xfrm>
            <a:off x="10607040" y="1783080"/>
            <a:ext cx="105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Glass card 79"/>
          <p:cNvSpPr/>
          <p:nvPr/>
        </p:nvSpPr>
        <p:spPr>
          <a:xfrm>
            <a:off x="9966960" y="2788920"/>
            <a:ext cx="1782720" cy="914040"/>
          </a:xfrm>
          <a:prstGeom prst="roundRect">
            <a:avLst>
              <a:gd name="adj" fmla="val 18000"/>
            </a:avLst>
          </a:prstGeom>
          <a:solidFill>
            <a:srgbClr val="8B80F9">
              <a:alpha val="12000"/>
            </a:srgbClr>
          </a:solidFill>
          <a:ln w="9525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1"/>
          <p:cNvSpPr/>
          <p:nvPr/>
        </p:nvSpPr>
        <p:spPr>
          <a:xfrm>
            <a:off x="10607040" y="2788920"/>
            <a:ext cx="105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Storage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4" descr="Database icon"/>
          <p:cNvPicPr/>
          <p:nvPr/>
        </p:nvPicPr>
        <p:blipFill>
          <a:blip r:embed="rId5"/>
          <a:stretch/>
        </p:blipFill>
        <p:spPr>
          <a:xfrm>
            <a:off x="10149840" y="2011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Image 5" descr="Archive icon"/>
          <p:cNvPicPr/>
          <p:nvPr/>
        </p:nvPicPr>
        <p:blipFill>
          <a:blip r:embed="rId6"/>
          <a:stretch/>
        </p:blipFill>
        <p:spPr>
          <a:xfrm>
            <a:off x="10149840" y="30175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Glass card 80"/>
          <p:cNvSpPr/>
          <p:nvPr/>
        </p:nvSpPr>
        <p:spPr>
          <a:xfrm>
            <a:off x="640080" y="4069080"/>
            <a:ext cx="10972440" cy="914040"/>
          </a:xfrm>
          <a:prstGeom prst="roundRect">
            <a:avLst>
              <a:gd name="adj" fmla="val 18000"/>
            </a:avLst>
          </a:prstGeom>
          <a:solidFill>
            <a:srgbClr val="FF6B81">
              <a:alpha val="10000"/>
            </a:srgbClr>
          </a:solidFill>
          <a:ln w="9525">
            <a:solidFill>
              <a:srgbClr val="FF6B81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3"/>
          <p:cNvSpPr/>
          <p:nvPr/>
        </p:nvSpPr>
        <p:spPr>
          <a:xfrm>
            <a:off x="868680" y="4251960"/>
            <a:ext cx="548280" cy="548280"/>
          </a:xfrm>
          <a:prstGeom prst="ellipse">
            <a:avLst/>
          </a:prstGeom>
          <a:solidFill>
            <a:srgbClr val="FF6B81">
              <a:alpha val="30000"/>
            </a:srgbClr>
          </a:solidFill>
          <a:ln w="9525">
            <a:solidFill>
              <a:srgbClr val="FF6B81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Image 6" descr="ShieldAlt icon"/>
          <p:cNvPicPr/>
          <p:nvPr/>
        </p:nvPicPr>
        <p:blipFill>
          <a:blip r:embed="rId7"/>
          <a:stretch/>
        </p:blipFill>
        <p:spPr>
          <a:xfrm>
            <a:off x="1005840" y="4389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24"/>
          <p:cNvSpPr/>
          <p:nvPr/>
        </p:nvSpPr>
        <p:spPr>
          <a:xfrm>
            <a:off x="1645920" y="4069080"/>
            <a:ext cx="978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 </a:t>
            </a:r>
            <a:r>
              <a:rPr lang="en-US" sz="1500" b="0" u="none" strike="noStrike">
                <a:solidFill>
                  <a:srgbClr val="E3E8F7"/>
                </a:solidFill>
                <a:effectLst/>
                <a:uFillTx/>
                <a:latin typeface="Calibri"/>
                <a:ea typeface="Calibri"/>
              </a:rPr>
              <a:t>Identity, encryption, firewalls and network isolation protect every layer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Glass card 81"/>
          <p:cNvSpPr/>
          <p:nvPr/>
        </p:nvSpPr>
        <p:spPr>
          <a:xfrm>
            <a:off x="640080" y="5212080"/>
            <a:ext cx="10972440" cy="914040"/>
          </a:xfrm>
          <a:prstGeom prst="roundRect">
            <a:avLst>
              <a:gd name="adj" fmla="val 18000"/>
            </a:avLst>
          </a:prstGeom>
          <a:solidFill>
            <a:srgbClr val="34C77B">
              <a:alpha val="10000"/>
            </a:srgbClr>
          </a:solidFill>
          <a:ln w="9525">
            <a:solidFill>
              <a:srgbClr val="34C77B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6"/>
          <p:cNvSpPr/>
          <p:nvPr/>
        </p:nvSpPr>
        <p:spPr>
          <a:xfrm>
            <a:off x="868680" y="5394960"/>
            <a:ext cx="548280" cy="548280"/>
          </a:xfrm>
          <a:prstGeom prst="ellipse">
            <a:avLst/>
          </a:prstGeom>
          <a:solidFill>
            <a:srgbClr val="34C77B">
              <a:alpha val="30000"/>
            </a:srgbClr>
          </a:solidFill>
          <a:ln w="9525">
            <a:solidFill>
              <a:srgbClr val="34C77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" name="Image 7" descr="ChartLine icon"/>
          <p:cNvPicPr/>
          <p:nvPr/>
        </p:nvPicPr>
        <p:blipFill>
          <a:blip r:embed="rId8"/>
          <a:stretch/>
        </p:blipFill>
        <p:spPr>
          <a:xfrm>
            <a:off x="1005840" y="5532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Text 27"/>
          <p:cNvSpPr/>
          <p:nvPr/>
        </p:nvSpPr>
        <p:spPr>
          <a:xfrm>
            <a:off x="1645920" y="5212080"/>
            <a:ext cx="978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Monitoring  </a:t>
            </a:r>
            <a:r>
              <a:rPr lang="en-US" sz="1500" b="0" u="none" strike="noStrike">
                <a:solidFill>
                  <a:srgbClr val="E3E8F7"/>
                </a:solidFill>
                <a:effectLst/>
                <a:uFillTx/>
                <a:latin typeface="Calibri"/>
                <a:ea typeface="Calibri"/>
              </a:rPr>
              <a:t>Metrics, logs and alerts show health and feed improvements back to the team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sldNum" idx="14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9A8C0D-4BFA-4AC3-8DC0-7DC6EEE53A1E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Development and CI/CD Workflow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Every commit flows through an automated path to production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Glass card 82"/>
          <p:cNvSpPr/>
          <p:nvPr/>
        </p:nvSpPr>
        <p:spPr>
          <a:xfrm>
            <a:off x="47556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97848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0" descr="Code icon"/>
          <p:cNvPicPr/>
          <p:nvPr/>
        </p:nvPicPr>
        <p:blipFill>
          <a:blip r:embed="rId1"/>
          <a:stretch/>
        </p:blipFill>
        <p:spPr>
          <a:xfrm>
            <a:off x="111564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Text 4"/>
          <p:cNvSpPr/>
          <p:nvPr/>
        </p:nvSpPr>
        <p:spPr>
          <a:xfrm>
            <a:off x="56700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Write features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2057400" y="2697480"/>
            <a:ext cx="32904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Glass card 83"/>
          <p:cNvSpPr/>
          <p:nvPr/>
        </p:nvSpPr>
        <p:spPr>
          <a:xfrm>
            <a:off x="241416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7"/>
          <p:cNvSpPr/>
          <p:nvPr/>
        </p:nvSpPr>
        <p:spPr>
          <a:xfrm>
            <a:off x="291708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1" descr="GitAlt icon"/>
          <p:cNvPicPr/>
          <p:nvPr/>
        </p:nvPicPr>
        <p:blipFill>
          <a:blip r:embed="rId2"/>
          <a:stretch/>
        </p:blipFill>
        <p:spPr>
          <a:xfrm>
            <a:off x="305424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 8"/>
          <p:cNvSpPr/>
          <p:nvPr/>
        </p:nvSpPr>
        <p:spPr>
          <a:xfrm>
            <a:off x="250560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Version and review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3995640" y="2697480"/>
            <a:ext cx="329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Glass card 84"/>
          <p:cNvSpPr/>
          <p:nvPr/>
        </p:nvSpPr>
        <p:spPr>
          <a:xfrm>
            <a:off x="435240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48553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2" descr="Hammer icon"/>
          <p:cNvPicPr/>
          <p:nvPr/>
        </p:nvPicPr>
        <p:blipFill>
          <a:blip r:embed="rId3"/>
          <a:stretch/>
        </p:blipFill>
        <p:spPr>
          <a:xfrm>
            <a:off x="49924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12"/>
          <p:cNvSpPr/>
          <p:nvPr/>
        </p:nvSpPr>
        <p:spPr>
          <a:xfrm>
            <a:off x="444384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Compile and package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3"/>
          <p:cNvSpPr/>
          <p:nvPr/>
        </p:nvSpPr>
        <p:spPr>
          <a:xfrm>
            <a:off x="5934240" y="2697480"/>
            <a:ext cx="329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Glass card 85"/>
          <p:cNvSpPr/>
          <p:nvPr/>
        </p:nvSpPr>
        <p:spPr>
          <a:xfrm>
            <a:off x="629100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67939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Image 3" descr="Vial icon"/>
          <p:cNvPicPr/>
          <p:nvPr/>
        </p:nvPicPr>
        <p:blipFill>
          <a:blip r:embed="rId4"/>
          <a:stretch/>
        </p:blipFill>
        <p:spPr>
          <a:xfrm>
            <a:off x="69310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 16"/>
          <p:cNvSpPr/>
          <p:nvPr/>
        </p:nvSpPr>
        <p:spPr>
          <a:xfrm>
            <a:off x="638244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Run automated checks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7"/>
          <p:cNvSpPr/>
          <p:nvPr/>
        </p:nvSpPr>
        <p:spPr>
          <a:xfrm>
            <a:off x="7872840" y="2697480"/>
            <a:ext cx="32904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Glass card 86"/>
          <p:cNvSpPr/>
          <p:nvPr/>
        </p:nvSpPr>
        <p:spPr>
          <a:xfrm>
            <a:off x="822960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9"/>
          <p:cNvSpPr/>
          <p:nvPr/>
        </p:nvSpPr>
        <p:spPr>
          <a:xfrm>
            <a:off x="87325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Image 4" descr="Rocket icon"/>
          <p:cNvPicPr/>
          <p:nvPr/>
        </p:nvPicPr>
        <p:blipFill>
          <a:blip r:embed="rId5"/>
          <a:stretch/>
        </p:blipFill>
        <p:spPr>
          <a:xfrm>
            <a:off x="88696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 20"/>
          <p:cNvSpPr/>
          <p:nvPr/>
        </p:nvSpPr>
        <p:spPr>
          <a:xfrm>
            <a:off x="832104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Release safely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1"/>
          <p:cNvSpPr/>
          <p:nvPr/>
        </p:nvSpPr>
        <p:spPr>
          <a:xfrm>
            <a:off x="9811440" y="2697480"/>
            <a:ext cx="32904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Glass card 87"/>
          <p:cNvSpPr/>
          <p:nvPr/>
        </p:nvSpPr>
        <p:spPr>
          <a:xfrm>
            <a:off x="1016820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3"/>
          <p:cNvSpPr/>
          <p:nvPr/>
        </p:nvSpPr>
        <p:spPr>
          <a:xfrm>
            <a:off x="106711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5" descr="ChartLine icon"/>
          <p:cNvPicPr/>
          <p:nvPr/>
        </p:nvPicPr>
        <p:blipFill>
          <a:blip r:embed="rId6"/>
          <a:stretch/>
        </p:blipFill>
        <p:spPr>
          <a:xfrm>
            <a:off x="108082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 24"/>
          <p:cNvSpPr/>
          <p:nvPr/>
        </p:nvSpPr>
        <p:spPr>
          <a:xfrm>
            <a:off x="1025964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Monitor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Watch health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25"/>
          <p:cNvSpPr/>
          <p:nvPr/>
        </p:nvSpPr>
        <p:spPr>
          <a:xfrm>
            <a:off x="10945080" y="3629880"/>
            <a:ext cx="360" cy="393480"/>
          </a:xfrm>
          <a:prstGeom prst="line">
            <a:avLst/>
          </a:prstGeom>
          <a:ln w="22225">
            <a:solidFill>
              <a:srgbClr val="8B80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6"/>
          <p:cNvSpPr/>
          <p:nvPr/>
        </p:nvSpPr>
        <p:spPr>
          <a:xfrm flipH="1">
            <a:off x="1252440" y="4023360"/>
            <a:ext cx="9692640" cy="360"/>
          </a:xfrm>
          <a:prstGeom prst="line">
            <a:avLst/>
          </a:prstGeom>
          <a:ln w="22225">
            <a:solidFill>
              <a:srgbClr val="8B80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7"/>
          <p:cNvSpPr/>
          <p:nvPr/>
        </p:nvSpPr>
        <p:spPr>
          <a:xfrm flipV="1">
            <a:off x="1252440" y="3648240"/>
            <a:ext cx="360" cy="375120"/>
          </a:xfrm>
          <a:prstGeom prst="line">
            <a:avLst/>
          </a:prstGeom>
          <a:ln w="22225">
            <a:solidFill>
              <a:srgbClr val="8B80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8"/>
          <p:cNvSpPr/>
          <p:nvPr/>
        </p:nvSpPr>
        <p:spPr>
          <a:xfrm>
            <a:off x="4754880" y="40874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Feedback loop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Glass card 88"/>
          <p:cNvSpPr/>
          <p:nvPr/>
        </p:nvSpPr>
        <p:spPr>
          <a:xfrm>
            <a:off x="475560" y="4617720"/>
            <a:ext cx="3565800" cy="1416960"/>
          </a:xfrm>
          <a:prstGeom prst="roundRect">
            <a:avLst>
              <a:gd name="adj" fmla="val 11613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0"/>
          <p:cNvSpPr/>
          <p:nvPr/>
        </p:nvSpPr>
        <p:spPr>
          <a:xfrm>
            <a:off x="749880" y="4617720"/>
            <a:ext cx="3108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CodePipeline · CodeBuild · CodeDeploy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Glass card 89"/>
          <p:cNvSpPr/>
          <p:nvPr/>
        </p:nvSpPr>
        <p:spPr>
          <a:xfrm>
            <a:off x="4316040" y="4617720"/>
            <a:ext cx="3565800" cy="1416960"/>
          </a:xfrm>
          <a:prstGeom prst="roundRect">
            <a:avLst>
              <a:gd name="adj" fmla="val 11613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2"/>
          <p:cNvSpPr/>
          <p:nvPr/>
        </p:nvSpPr>
        <p:spPr>
          <a:xfrm>
            <a:off x="4590360" y="4617720"/>
            <a:ext cx="3108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Azure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Repos · Azure Pipelines · Azure Monitor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Glass card 90"/>
          <p:cNvSpPr/>
          <p:nvPr/>
        </p:nvSpPr>
        <p:spPr>
          <a:xfrm>
            <a:off x="8156520" y="4617720"/>
            <a:ext cx="3565800" cy="1416960"/>
          </a:xfrm>
          <a:prstGeom prst="roundRect">
            <a:avLst>
              <a:gd name="adj" fmla="val 11613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4"/>
          <p:cNvSpPr/>
          <p:nvPr/>
        </p:nvSpPr>
        <p:spPr>
          <a:xfrm>
            <a:off x="8430840" y="4617720"/>
            <a:ext cx="3108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Build · Artifact Registry · Cloud Deploy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sldNum" idx="15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94F028-66CF-46AB-8659-66124174A615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D2433"/>
                </a:solidFill>
                <a:effectLst/>
                <a:uFillTx/>
                <a:latin typeface="Calibri"/>
                <a:ea typeface="Calibri"/>
              </a:rPr>
              <a:t>Compute and Hosting Comparison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Equivalent services across the three platforms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Glass card 91"/>
          <p:cNvSpPr/>
          <p:nvPr/>
        </p:nvSpPr>
        <p:spPr>
          <a:xfrm>
            <a:off x="502920" y="1691640"/>
            <a:ext cx="11201040" cy="4388760"/>
          </a:xfrm>
          <a:prstGeom prst="roundRect">
            <a:avLst>
              <a:gd name="adj" fmla="val 416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5CEE8"/>
            </a:solidFill>
            <a:round/>
          </a:ln>
          <a:effectLst>
            <a:outerShdw algn="bl" blurRad="177840" dir="5400000" dist="38160" kx="0" ky="0" rotWithShape="0" sx="100000" sy="100000">
              <a:srgbClr val="6B7AA8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9" name="Comparison table"/>
          <p:cNvGraphicFramePr/>
          <p:nvPr/>
        </p:nvGraphicFramePr>
        <p:xfrm>
          <a:off x="640080" y="1828800"/>
          <a:ext cx="10926720" cy="4114440"/>
        </p:xfrm>
        <a:graphic>
          <a:graphicData uri="http://schemas.openxmlformats.org/drawingml/2006/table">
            <a:tbl>
              <a:tblPr/>
              <a:tblGrid>
                <a:gridCol w="2331720"/>
                <a:gridCol w="2834640"/>
                <a:gridCol w="2926080"/>
                <a:gridCol w="283464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Category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17192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Microsoft Azure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Cloud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Virtual machines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EC2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Virtual Machines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Compute Engine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Managed app hosting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Elastic Beanstalk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 Service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 Engine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Serverless functions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 Lambda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Functions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Run functions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Serverless containers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 Fargate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Container Apps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Run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Managed Kubernetes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EKS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Kubernetes Service (AKS)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Kubernetes Engine (GKE)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0" name="PlaceHolder 2"/>
          <p:cNvSpPr>
            <a:spLocks noGrp="1"/>
          </p:cNvSpPr>
          <p:nvPr>
            <p:ph type="sldNum" idx="16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537F8C-4686-4A90-9447-24ABB78FAB9C}" type="slidenum">
              <a: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D2433"/>
                </a:solidFill>
                <a:effectLst/>
                <a:uFillTx/>
                <a:latin typeface="Calibri"/>
                <a:ea typeface="Calibri"/>
              </a:rPr>
              <a:t>Storage, Databases and Networking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Representative services for the data and network layers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lass card 92"/>
          <p:cNvSpPr/>
          <p:nvPr/>
        </p:nvSpPr>
        <p:spPr>
          <a:xfrm>
            <a:off x="502920" y="1691640"/>
            <a:ext cx="11201040" cy="4553280"/>
          </a:xfrm>
          <a:prstGeom prst="roundRect">
            <a:avLst>
              <a:gd name="adj" fmla="val 4016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5CEE8"/>
            </a:solidFill>
            <a:round/>
          </a:ln>
          <a:effectLst>
            <a:outerShdw algn="bl" blurRad="177840" dir="5400000" dist="38160" kx="0" ky="0" rotWithShape="0" sx="100000" sy="100000">
              <a:srgbClr val="6B7AA8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4" name="Comparison table"/>
          <p:cNvGraphicFramePr/>
          <p:nvPr/>
        </p:nvGraphicFramePr>
        <p:xfrm>
          <a:off x="640080" y="1828800"/>
          <a:ext cx="10926720" cy="4278960"/>
        </p:xfrm>
        <a:graphic>
          <a:graphicData uri="http://schemas.openxmlformats.org/drawingml/2006/table">
            <a:tbl>
              <a:tblPr/>
              <a:tblGrid>
                <a:gridCol w="2331720"/>
                <a:gridCol w="2834640"/>
                <a:gridCol w="2926080"/>
                <a:gridCol w="283464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Category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17192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Microsoft Azure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Cloud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Object storage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S3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Blob Storage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Storage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Relational database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RDS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SQL Database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SQL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NoSQL database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DynamoDB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Cosmos DB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Firestore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Virtual network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VPC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Virtual Network (VNet)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VPC network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 balancing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Elastic Load Balancing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 Balancer / Application Gateway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Load Balancing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DNS and CDN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Route 53 + CloudFront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DNS + Front Door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DNS + Cloud CDN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5" name="PlaceHolder 2"/>
          <p:cNvSpPr>
            <a:spLocks noGrp="1"/>
          </p:cNvSpPr>
          <p:nvPr>
            <p:ph type="sldNum" idx="17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EDB4C-A6B6-4FB7-AE8C-8F7160EBCBCD}" type="slidenum">
              <a: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Security, Monitoring and DevOps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Five layers protect and operate a cloud application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3474720" y="16002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6217920" y="16002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Microsoft Azure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4"/>
          <p:cNvSpPr/>
          <p:nvPr/>
        </p:nvSpPr>
        <p:spPr>
          <a:xfrm>
            <a:off x="8961120" y="16002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Glass card 93"/>
          <p:cNvSpPr/>
          <p:nvPr/>
        </p:nvSpPr>
        <p:spPr>
          <a:xfrm>
            <a:off x="548640" y="201168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2" name="Image 0" descr="Key icon"/>
          <p:cNvPicPr/>
          <p:nvPr/>
        </p:nvPicPr>
        <p:blipFill>
          <a:blip r:embed="rId1"/>
          <a:stretch/>
        </p:blipFill>
        <p:spPr>
          <a:xfrm>
            <a:off x="731520" y="22219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Text 6"/>
          <p:cNvSpPr/>
          <p:nvPr/>
        </p:nvSpPr>
        <p:spPr>
          <a:xfrm>
            <a:off x="1188720" y="201168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Identity and access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Glass card 94"/>
          <p:cNvSpPr/>
          <p:nvPr/>
        </p:nvSpPr>
        <p:spPr>
          <a:xfrm>
            <a:off x="3474720" y="201168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8"/>
          <p:cNvSpPr/>
          <p:nvPr/>
        </p:nvSpPr>
        <p:spPr>
          <a:xfrm>
            <a:off x="3566160" y="20116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IAM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Glass card 95"/>
          <p:cNvSpPr/>
          <p:nvPr/>
        </p:nvSpPr>
        <p:spPr>
          <a:xfrm>
            <a:off x="6217920" y="201168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0"/>
          <p:cNvSpPr/>
          <p:nvPr/>
        </p:nvSpPr>
        <p:spPr>
          <a:xfrm>
            <a:off x="6309360" y="20116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Microsoft Entra ID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Glass card 96"/>
          <p:cNvSpPr/>
          <p:nvPr/>
        </p:nvSpPr>
        <p:spPr>
          <a:xfrm>
            <a:off x="8961120" y="201168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2"/>
          <p:cNvSpPr/>
          <p:nvPr/>
        </p:nvSpPr>
        <p:spPr>
          <a:xfrm>
            <a:off x="9052560" y="20116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IAM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Glass card 97"/>
          <p:cNvSpPr/>
          <p:nvPr/>
        </p:nvSpPr>
        <p:spPr>
          <a:xfrm>
            <a:off x="548640" y="283464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1" descr="NetworkWired icon"/>
          <p:cNvPicPr/>
          <p:nvPr/>
        </p:nvPicPr>
        <p:blipFill>
          <a:blip r:embed="rId2"/>
          <a:stretch/>
        </p:blipFill>
        <p:spPr>
          <a:xfrm>
            <a:off x="731520" y="30448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14"/>
          <p:cNvSpPr/>
          <p:nvPr/>
        </p:nvSpPr>
        <p:spPr>
          <a:xfrm>
            <a:off x="1188720" y="283464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 security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Glass card 98"/>
          <p:cNvSpPr/>
          <p:nvPr/>
        </p:nvSpPr>
        <p:spPr>
          <a:xfrm>
            <a:off x="3474720" y="283464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6"/>
          <p:cNvSpPr/>
          <p:nvPr/>
        </p:nvSpPr>
        <p:spPr>
          <a:xfrm>
            <a:off x="3566160" y="283464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VPC · Security Groups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Glass card 99"/>
          <p:cNvSpPr/>
          <p:nvPr/>
        </p:nvSpPr>
        <p:spPr>
          <a:xfrm>
            <a:off x="6217920" y="283464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8"/>
          <p:cNvSpPr/>
          <p:nvPr/>
        </p:nvSpPr>
        <p:spPr>
          <a:xfrm>
            <a:off x="6309360" y="283464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VNet · Network Security Groups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Glass card 100"/>
          <p:cNvSpPr/>
          <p:nvPr/>
        </p:nvSpPr>
        <p:spPr>
          <a:xfrm>
            <a:off x="8961120" y="283464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0"/>
          <p:cNvSpPr/>
          <p:nvPr/>
        </p:nvSpPr>
        <p:spPr>
          <a:xfrm>
            <a:off x="9052560" y="283464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VPC · Firewall rules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Glass card 101"/>
          <p:cNvSpPr/>
          <p:nvPr/>
        </p:nvSpPr>
        <p:spPr>
          <a:xfrm>
            <a:off x="548640" y="365760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0" name="Image 2" descr="Lock icon"/>
          <p:cNvPicPr/>
          <p:nvPr/>
        </p:nvPicPr>
        <p:blipFill>
          <a:blip r:embed="rId3"/>
          <a:stretch/>
        </p:blipFill>
        <p:spPr>
          <a:xfrm>
            <a:off x="731520" y="3867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 22"/>
          <p:cNvSpPr/>
          <p:nvPr/>
        </p:nvSpPr>
        <p:spPr>
          <a:xfrm>
            <a:off x="1188720" y="365760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encryption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Glass card 102"/>
          <p:cNvSpPr/>
          <p:nvPr/>
        </p:nvSpPr>
        <p:spPr>
          <a:xfrm>
            <a:off x="3474720" y="365760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4"/>
          <p:cNvSpPr/>
          <p:nvPr/>
        </p:nvSpPr>
        <p:spPr>
          <a:xfrm>
            <a:off x="3566160" y="365760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KMS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Glass card 103"/>
          <p:cNvSpPr/>
          <p:nvPr/>
        </p:nvSpPr>
        <p:spPr>
          <a:xfrm>
            <a:off x="6217920" y="365760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6"/>
          <p:cNvSpPr/>
          <p:nvPr/>
        </p:nvSpPr>
        <p:spPr>
          <a:xfrm>
            <a:off x="6309360" y="365760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Key Vault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Glass card 104"/>
          <p:cNvSpPr/>
          <p:nvPr/>
        </p:nvSpPr>
        <p:spPr>
          <a:xfrm>
            <a:off x="8961120" y="365760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8"/>
          <p:cNvSpPr/>
          <p:nvPr/>
        </p:nvSpPr>
        <p:spPr>
          <a:xfrm>
            <a:off x="9052560" y="365760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KMS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Glass card 105"/>
          <p:cNvSpPr/>
          <p:nvPr/>
        </p:nvSpPr>
        <p:spPr>
          <a:xfrm>
            <a:off x="548640" y="448056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9" name="Image 3" descr="Eye icon"/>
          <p:cNvPicPr/>
          <p:nvPr/>
        </p:nvPicPr>
        <p:blipFill>
          <a:blip r:embed="rId4"/>
          <a:stretch/>
        </p:blipFill>
        <p:spPr>
          <a:xfrm>
            <a:off x="731520" y="46908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 30"/>
          <p:cNvSpPr/>
          <p:nvPr/>
        </p:nvSpPr>
        <p:spPr>
          <a:xfrm>
            <a:off x="1188720" y="448056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Logging and monitoring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Glass card 106"/>
          <p:cNvSpPr/>
          <p:nvPr/>
        </p:nvSpPr>
        <p:spPr>
          <a:xfrm>
            <a:off x="3474720" y="448056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2"/>
          <p:cNvSpPr/>
          <p:nvPr/>
        </p:nvSpPr>
        <p:spPr>
          <a:xfrm>
            <a:off x="3566160" y="448056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CloudWatch · CloudTrail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Glass card 107"/>
          <p:cNvSpPr/>
          <p:nvPr/>
        </p:nvSpPr>
        <p:spPr>
          <a:xfrm>
            <a:off x="6217920" y="448056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4"/>
          <p:cNvSpPr/>
          <p:nvPr/>
        </p:nvSpPr>
        <p:spPr>
          <a:xfrm>
            <a:off x="6309360" y="448056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Monitor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Glass card 108"/>
          <p:cNvSpPr/>
          <p:nvPr/>
        </p:nvSpPr>
        <p:spPr>
          <a:xfrm>
            <a:off x="8961120" y="448056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6"/>
          <p:cNvSpPr/>
          <p:nvPr/>
        </p:nvSpPr>
        <p:spPr>
          <a:xfrm>
            <a:off x="9052560" y="448056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Logging · Monitoring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Glass card 109"/>
          <p:cNvSpPr/>
          <p:nvPr/>
        </p:nvSpPr>
        <p:spPr>
          <a:xfrm>
            <a:off x="548640" y="530352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4" descr="Cogs icon"/>
          <p:cNvPicPr/>
          <p:nvPr/>
        </p:nvPicPr>
        <p:blipFill>
          <a:blip r:embed="rId5"/>
          <a:stretch/>
        </p:blipFill>
        <p:spPr>
          <a:xfrm>
            <a:off x="731520" y="55137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38"/>
          <p:cNvSpPr/>
          <p:nvPr/>
        </p:nvSpPr>
        <p:spPr>
          <a:xfrm>
            <a:off x="1188720" y="530352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Deployment automation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Glass card 110"/>
          <p:cNvSpPr/>
          <p:nvPr/>
        </p:nvSpPr>
        <p:spPr>
          <a:xfrm>
            <a:off x="3474720" y="530352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0"/>
          <p:cNvSpPr/>
          <p:nvPr/>
        </p:nvSpPr>
        <p:spPr>
          <a:xfrm>
            <a:off x="3566160" y="530352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CodePipeline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Glass card 111"/>
          <p:cNvSpPr/>
          <p:nvPr/>
        </p:nvSpPr>
        <p:spPr>
          <a:xfrm>
            <a:off x="6217920" y="530352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42"/>
          <p:cNvSpPr/>
          <p:nvPr/>
        </p:nvSpPr>
        <p:spPr>
          <a:xfrm>
            <a:off x="6309360" y="530352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Pipelines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Glass card 112"/>
          <p:cNvSpPr/>
          <p:nvPr/>
        </p:nvSpPr>
        <p:spPr>
          <a:xfrm>
            <a:off x="8961120" y="530352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44"/>
          <p:cNvSpPr/>
          <p:nvPr/>
        </p:nvSpPr>
        <p:spPr>
          <a:xfrm>
            <a:off x="9052560" y="530352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Build · Cloud Deploy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sldNum" idx="18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D75173-1706-4486-8D85-CA38D6946B8B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Advantages, Limitations and Use Cases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A balanced view: the best choice depends on the workload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Glass card 113"/>
          <p:cNvSpPr/>
          <p:nvPr/>
        </p:nvSpPr>
        <p:spPr>
          <a:xfrm>
            <a:off x="502920" y="1691640"/>
            <a:ext cx="3611520" cy="4434480"/>
          </a:xfrm>
          <a:prstGeom prst="roundRect">
            <a:avLst>
              <a:gd name="adj" fmla="val 4557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"/>
          <p:cNvSpPr/>
          <p:nvPr/>
        </p:nvSpPr>
        <p:spPr>
          <a:xfrm>
            <a:off x="777240" y="1828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"/>
          <p:cNvSpPr/>
          <p:nvPr/>
        </p:nvSpPr>
        <p:spPr>
          <a:xfrm>
            <a:off x="777240" y="2423160"/>
            <a:ext cx="31086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7CF0A8"/>
                </a:solidFill>
                <a:effectLst/>
                <a:uFillTx/>
                <a:latin typeface="Calibri"/>
                <a:ea typeface="Calibri"/>
              </a:rPr>
              <a:t>ADVANTAGES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Widest range of services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Mature, large partner ecosystem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B86B"/>
                </a:solidFill>
                <a:effectLst/>
                <a:uFillTx/>
                <a:latin typeface="Calibri"/>
                <a:ea typeface="Calibri"/>
              </a:rPr>
              <a:t>LIMITATIONS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Many options can feel complex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Costs need careful tracking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BEST FOR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Varied, high-scale workloads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lass card 114"/>
          <p:cNvSpPr/>
          <p:nvPr/>
        </p:nvSpPr>
        <p:spPr>
          <a:xfrm>
            <a:off x="4297680" y="1691640"/>
            <a:ext cx="3611520" cy="4434480"/>
          </a:xfrm>
          <a:prstGeom prst="roundRect">
            <a:avLst>
              <a:gd name="adj" fmla="val 4557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6"/>
          <p:cNvSpPr/>
          <p:nvPr/>
        </p:nvSpPr>
        <p:spPr>
          <a:xfrm>
            <a:off x="4572000" y="1828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Microsoft Azure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7"/>
          <p:cNvSpPr/>
          <p:nvPr/>
        </p:nvSpPr>
        <p:spPr>
          <a:xfrm>
            <a:off x="4572000" y="2423160"/>
            <a:ext cx="31086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7CF0A8"/>
                </a:solidFill>
                <a:effectLst/>
                <a:uFillTx/>
                <a:latin typeface="Calibri"/>
                <a:ea typeface="Calibri"/>
              </a:rPr>
              <a:t>ADVANTAGES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Works well with Microsoft tools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Strong hybrid cloud support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B86B"/>
                </a:solidFill>
                <a:effectLst/>
                <a:uFillTx/>
                <a:latin typeface="Calibri"/>
                <a:ea typeface="Calibri"/>
              </a:rPr>
              <a:t>LIMITATIONS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Portal and naming can confuse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Some services overlap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BEST FOR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Enterprises on .NET and Microsoft 365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Glass card 115"/>
          <p:cNvSpPr/>
          <p:nvPr/>
        </p:nvSpPr>
        <p:spPr>
          <a:xfrm>
            <a:off x="8092440" y="1691640"/>
            <a:ext cx="3611520" cy="4434480"/>
          </a:xfrm>
          <a:prstGeom prst="roundRect">
            <a:avLst>
              <a:gd name="adj" fmla="val 4557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9"/>
          <p:cNvSpPr/>
          <p:nvPr/>
        </p:nvSpPr>
        <p:spPr>
          <a:xfrm>
            <a:off x="8366760" y="1828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0"/>
          <p:cNvSpPr/>
          <p:nvPr/>
        </p:nvSpPr>
        <p:spPr>
          <a:xfrm>
            <a:off x="8366760" y="2423160"/>
            <a:ext cx="31086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7CF0A8"/>
                </a:solidFill>
                <a:effectLst/>
                <a:uFillTx/>
                <a:latin typeface="Calibri"/>
                <a:ea typeface="Calibri"/>
              </a:rPr>
              <a:t>ADVANTAGES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Strong data, analytics and AI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Strong Kubernetes and containers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B86B"/>
                </a:solidFill>
                <a:effectLst/>
                <a:uFillTx/>
                <a:latin typeface="Calibri"/>
                <a:ea typeface="Calibri"/>
              </a:rPr>
              <a:t>LIMITATIONS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Smaller market share than rivals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Smaller partner ecosystem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BEST FOR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Data, AI and container-native apps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sldNum" idx="19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F01B8A-2BF3-4497-B2FA-2B9C75200D46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Practical Example: Student Portal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The same web app, developed, deployed, secured and monitored on each platform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"/>
          <p:cNvSpPr/>
          <p:nvPr/>
        </p:nvSpPr>
        <p:spPr>
          <a:xfrm>
            <a:off x="2331720" y="1627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Develop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"/>
          <p:cNvSpPr/>
          <p:nvPr/>
        </p:nvSpPr>
        <p:spPr>
          <a:xfrm>
            <a:off x="4709160" y="1627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Deploy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"/>
          <p:cNvSpPr/>
          <p:nvPr/>
        </p:nvSpPr>
        <p:spPr>
          <a:xfrm>
            <a:off x="7086600" y="1627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Secure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"/>
          <p:cNvSpPr/>
          <p:nvPr/>
        </p:nvSpPr>
        <p:spPr>
          <a:xfrm>
            <a:off x="9464040" y="1627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Monitor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Glass card 116"/>
          <p:cNvSpPr/>
          <p:nvPr/>
        </p:nvSpPr>
        <p:spPr>
          <a:xfrm>
            <a:off x="548640" y="2057400"/>
            <a:ext cx="1599840" cy="1142640"/>
          </a:xfrm>
          <a:prstGeom prst="roundRect">
            <a:avLst>
              <a:gd name="adj" fmla="val 14400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640080" y="2057400"/>
            <a:ext cx="1416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Glass card 117"/>
          <p:cNvSpPr/>
          <p:nvPr/>
        </p:nvSpPr>
        <p:spPr>
          <a:xfrm>
            <a:off x="2331720" y="20574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9"/>
          <p:cNvSpPr/>
          <p:nvPr/>
        </p:nvSpPr>
        <p:spPr>
          <a:xfrm>
            <a:off x="2423160" y="20574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+ CodePipeline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CodeBuild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0"/>
          <p:cNvSpPr/>
          <p:nvPr/>
        </p:nvSpPr>
        <p:spPr>
          <a:xfrm>
            <a:off x="4452840" y="2628720"/>
            <a:ext cx="23796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Glass card 118"/>
          <p:cNvSpPr/>
          <p:nvPr/>
        </p:nvSpPr>
        <p:spPr>
          <a:xfrm>
            <a:off x="4709160" y="20574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2"/>
          <p:cNvSpPr/>
          <p:nvPr/>
        </p:nvSpPr>
        <p:spPr>
          <a:xfrm>
            <a:off x="4800600" y="20574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Elastic Beanstalk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RDS + S3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3"/>
          <p:cNvSpPr/>
          <p:nvPr/>
        </p:nvSpPr>
        <p:spPr>
          <a:xfrm>
            <a:off x="6830280" y="2628720"/>
            <a:ext cx="23796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Glass card 119"/>
          <p:cNvSpPr/>
          <p:nvPr/>
        </p:nvSpPr>
        <p:spPr>
          <a:xfrm>
            <a:off x="7086600" y="20574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5"/>
          <p:cNvSpPr/>
          <p:nvPr/>
        </p:nvSpPr>
        <p:spPr>
          <a:xfrm>
            <a:off x="7178040" y="20574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IAM roles · KMS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Groups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6"/>
          <p:cNvSpPr/>
          <p:nvPr/>
        </p:nvSpPr>
        <p:spPr>
          <a:xfrm>
            <a:off x="9207720" y="2628720"/>
            <a:ext cx="23796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Glass card 120"/>
          <p:cNvSpPr/>
          <p:nvPr/>
        </p:nvSpPr>
        <p:spPr>
          <a:xfrm>
            <a:off x="9464040" y="20574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8"/>
          <p:cNvSpPr/>
          <p:nvPr/>
        </p:nvSpPr>
        <p:spPr>
          <a:xfrm>
            <a:off x="9555480" y="20574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CloudWatch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dashboards and alarms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Glass card 121"/>
          <p:cNvSpPr/>
          <p:nvPr/>
        </p:nvSpPr>
        <p:spPr>
          <a:xfrm>
            <a:off x="548640" y="3429000"/>
            <a:ext cx="1599840" cy="1142640"/>
          </a:xfrm>
          <a:prstGeom prst="roundRect">
            <a:avLst>
              <a:gd name="adj" fmla="val 14400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0"/>
          <p:cNvSpPr/>
          <p:nvPr/>
        </p:nvSpPr>
        <p:spPr>
          <a:xfrm>
            <a:off x="640080" y="3429000"/>
            <a:ext cx="1416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Azure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Glass card 122"/>
          <p:cNvSpPr/>
          <p:nvPr/>
        </p:nvSpPr>
        <p:spPr>
          <a:xfrm>
            <a:off x="2331720" y="34290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2"/>
          <p:cNvSpPr/>
          <p:nvPr/>
        </p:nvSpPr>
        <p:spPr>
          <a:xfrm>
            <a:off x="2423160" y="34290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Repos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Pipelines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3"/>
          <p:cNvSpPr/>
          <p:nvPr/>
        </p:nvSpPr>
        <p:spPr>
          <a:xfrm>
            <a:off x="4452840" y="4000320"/>
            <a:ext cx="23796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Glass card 123"/>
          <p:cNvSpPr/>
          <p:nvPr/>
        </p:nvSpPr>
        <p:spPr>
          <a:xfrm>
            <a:off x="4709160" y="34290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5"/>
          <p:cNvSpPr/>
          <p:nvPr/>
        </p:nvSpPr>
        <p:spPr>
          <a:xfrm>
            <a:off x="4800600" y="34290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Service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SQL + Blob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6"/>
          <p:cNvSpPr/>
          <p:nvPr/>
        </p:nvSpPr>
        <p:spPr>
          <a:xfrm>
            <a:off x="6830280" y="4000320"/>
            <a:ext cx="23796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Glass card 124"/>
          <p:cNvSpPr/>
          <p:nvPr/>
        </p:nvSpPr>
        <p:spPr>
          <a:xfrm>
            <a:off x="7086600" y="34290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8"/>
          <p:cNvSpPr/>
          <p:nvPr/>
        </p:nvSpPr>
        <p:spPr>
          <a:xfrm>
            <a:off x="7178040" y="34290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Microsoft Entra ID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Vault · NSG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9"/>
          <p:cNvSpPr/>
          <p:nvPr/>
        </p:nvSpPr>
        <p:spPr>
          <a:xfrm>
            <a:off x="9207720" y="4000320"/>
            <a:ext cx="23796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Glass card 125"/>
          <p:cNvSpPr/>
          <p:nvPr/>
        </p:nvSpPr>
        <p:spPr>
          <a:xfrm>
            <a:off x="9464040" y="34290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1"/>
          <p:cNvSpPr/>
          <p:nvPr/>
        </p:nvSpPr>
        <p:spPr>
          <a:xfrm>
            <a:off x="9555480" y="34290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Monitor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 Insights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Glass card 126"/>
          <p:cNvSpPr/>
          <p:nvPr/>
        </p:nvSpPr>
        <p:spPr>
          <a:xfrm>
            <a:off x="548640" y="4800600"/>
            <a:ext cx="1599840" cy="1142640"/>
          </a:xfrm>
          <a:prstGeom prst="roundRect">
            <a:avLst>
              <a:gd name="adj" fmla="val 14400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33"/>
          <p:cNvSpPr/>
          <p:nvPr/>
        </p:nvSpPr>
        <p:spPr>
          <a:xfrm>
            <a:off x="640080" y="4800600"/>
            <a:ext cx="1416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Glass card 127"/>
          <p:cNvSpPr/>
          <p:nvPr/>
        </p:nvSpPr>
        <p:spPr>
          <a:xfrm>
            <a:off x="2331720" y="48006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35"/>
          <p:cNvSpPr/>
          <p:nvPr/>
        </p:nvSpPr>
        <p:spPr>
          <a:xfrm>
            <a:off x="2423160" y="48006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+ Cloud Build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Artifact Registry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36"/>
          <p:cNvSpPr/>
          <p:nvPr/>
        </p:nvSpPr>
        <p:spPr>
          <a:xfrm>
            <a:off x="4452840" y="5371920"/>
            <a:ext cx="23796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Glass card 128"/>
          <p:cNvSpPr/>
          <p:nvPr/>
        </p:nvSpPr>
        <p:spPr>
          <a:xfrm>
            <a:off x="4709160" y="48006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38"/>
          <p:cNvSpPr/>
          <p:nvPr/>
        </p:nvSpPr>
        <p:spPr>
          <a:xfrm>
            <a:off x="4800600" y="48006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Run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SQL + Storage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39"/>
          <p:cNvSpPr/>
          <p:nvPr/>
        </p:nvSpPr>
        <p:spPr>
          <a:xfrm>
            <a:off x="6830280" y="5371920"/>
            <a:ext cx="23796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Glass card 129"/>
          <p:cNvSpPr/>
          <p:nvPr/>
        </p:nvSpPr>
        <p:spPr>
          <a:xfrm>
            <a:off x="7086600" y="48006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41"/>
          <p:cNvSpPr/>
          <p:nvPr/>
        </p:nvSpPr>
        <p:spPr>
          <a:xfrm>
            <a:off x="7178040" y="48006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IAM · KMS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VPC firewall rules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42"/>
          <p:cNvSpPr/>
          <p:nvPr/>
        </p:nvSpPr>
        <p:spPr>
          <a:xfrm>
            <a:off x="9207720" y="5371920"/>
            <a:ext cx="23796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Glass card 130"/>
          <p:cNvSpPr/>
          <p:nvPr/>
        </p:nvSpPr>
        <p:spPr>
          <a:xfrm>
            <a:off x="9464040" y="48006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44"/>
          <p:cNvSpPr/>
          <p:nvPr/>
        </p:nvSpPr>
        <p:spPr>
          <a:xfrm>
            <a:off x="9555480" y="48006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Logging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Monitoring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sldNum" idx="20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B3ABC8-B118-456D-BF44-AC80F4F1CDC8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Conclusion, References and Thank You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6" name="Glass card 131"/>
          <p:cNvSpPr/>
          <p:nvPr/>
        </p:nvSpPr>
        <p:spPr>
          <a:xfrm>
            <a:off x="548640" y="1280160"/>
            <a:ext cx="11151360" cy="2679840"/>
          </a:xfrm>
          <a:prstGeom prst="roundRect">
            <a:avLst>
              <a:gd name="adj" fmla="val 439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"/>
          <p:cNvSpPr/>
          <p:nvPr/>
        </p:nvSpPr>
        <p:spPr>
          <a:xfrm>
            <a:off x="822960" y="141732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Key takeaways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3"/>
          <p:cNvSpPr/>
          <p:nvPr/>
        </p:nvSpPr>
        <p:spPr>
          <a:xfrm rot="9000">
            <a:off x="820080" y="1978920"/>
            <a:ext cx="10157040" cy="19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environments speed up building, testing and deploying apps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AWS, Azure and Google Cloud offer equivalent core services with different strengths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CI/CD, security and monitoring are built into every platform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Choose by workload, team skills and cost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Glass card 133"/>
          <p:cNvSpPr/>
          <p:nvPr/>
        </p:nvSpPr>
        <p:spPr>
          <a:xfrm>
            <a:off x="540000" y="4305960"/>
            <a:ext cx="11109600" cy="1814040"/>
          </a:xfrm>
          <a:prstGeom prst="roundRect">
            <a:avLst>
              <a:gd name="adj" fmla="val 30000"/>
            </a:avLst>
          </a:prstGeom>
          <a:solidFill>
            <a:srgbClr val="5AC8FA">
              <a:alpha val="12000"/>
            </a:srgbClr>
          </a:solidFill>
          <a:ln w="12700">
            <a:solidFill>
              <a:srgbClr val="5AC8FA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8"/>
          <p:cNvSpPr/>
          <p:nvPr/>
        </p:nvSpPr>
        <p:spPr>
          <a:xfrm>
            <a:off x="540000" y="4680000"/>
            <a:ext cx="11109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Namini Itankar  ·  Cloud Computing  ·  JD College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sldNum" idx="21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10187-05A7-4B03-AE84-E6A4A69D3F2A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Glass Keynote">
  <a:themeElements>
    <a:clrScheme name="Glass Keynote">
      <a:dk1>
        <a:srgbClr val="0B1020"/>
      </a:dk1>
      <a:lt1>
        <a:srgbClr val="FFFFFF"/>
      </a:lt1>
      <a:dk2>
        <a:srgbClr val="171923"/>
      </a:dk2>
      <a:lt2>
        <a:srgbClr val="F2F4FA"/>
      </a:lt2>
      <a:accent1>
        <a:srgbClr val="5AC8FA"/>
      </a:accent1>
      <a:accent2>
        <a:srgbClr val="8B80F9"/>
      </a:accent2>
      <a:accent3>
        <a:srgbClr val="FF9900"/>
      </a:accent3>
      <a:accent4>
        <a:srgbClr val="0078D4"/>
      </a:accent4>
      <a:accent5>
        <a:srgbClr val="4285F4"/>
      </a:accent5>
      <a:accent6>
        <a:srgbClr val="34A853"/>
      </a:accent6>
      <a:hlink>
        <a:srgbClr val="5AC8FA"/>
      </a:hlink>
      <a:folHlink>
        <a:srgbClr val="8B80F9"/>
      </a:folHlink>
    </a:clrScheme>
    <a:fontScheme name="Glass Keynot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2026-10-26T19:17:54Z</dcterms:created>
  <dc:creator>Namini Itankar</dc:creator>
  <dc:description/>
  <dc:language>en-IN</dc:language>
  <cp:lastModifiedBy/>
  <cp:lastPrinted>2026-10-27T01:02:32Z</cp:lastPrinted>
  <dcterms:modified xsi:type="dcterms:W3CDTF">2026-10-27T01:06:06Z</dcterms:modified>
  <cp:revision>2</cp:revision>
  <dc:subject>PptxGenJS Presentation</dc:subject>
  <dc:title>Cloud Application Development Environments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