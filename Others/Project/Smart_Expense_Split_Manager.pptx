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bbf8e4f-d24e-e1ff-c4ed-e21186864980}">
          <p14:sldIdLst>
            <p14:sldId id="256"/>
          </p14:sldIdLst>
        </p14:section>
        <p14:section name="Introduction" id="{b91a4ed5-573f-23a1-ced1-de5a9ffbebd6}">
          <p14:sldIdLst>
            <p14:sldId id="257"/>
            <p14:sldId id="258"/>
            <p14:sldId id="259"/>
          </p14:sldIdLst>
        </p14:section>
        <p14:section name="Solution" id="{e90e43f8-f810-2cd0-3020-202842fe850c}">
          <p14:sldIdLst>
            <p14:sldId id="260"/>
            <p14:sldId id="261"/>
            <p14:sldId id="262"/>
            <p14:sldId id="263"/>
          </p14:sldIdLst>
        </p14:section>
        <p14:section name="How It Works" id="{aa279740-0323-3ace-4ae4-28ee78efd759}">
          <p14:sldIdLst>
            <p14:sldId id="264"/>
            <p14:sldId id="265"/>
            <p14:sldId id="266"/>
            <p14:sldId id="267"/>
          </p14:sldIdLst>
        </p14:section>
        <p14:section name="Wrap-up" id="{1fd2fee1-5904-e1fc-20e5-da63e919873e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0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02F"/>
                </a:solidFill>
                <a:latin typeface="+mn-lt"/>
              </a:rPr>
              <a:t>Expenses by category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38A64"/>
              </a:solidFill>
              <a:effectLst/>
            </c:spPr>
          </c:dPt>
          <c:dPt>
            <c:idx val="1"/>
            <c:bubble3D val="0"/>
            <c:spPr>
              <a:solidFill>
                <a:srgbClr val="0B4F4A"/>
              </a:solidFill>
              <a:effectLst/>
            </c:spPr>
          </c:dPt>
          <c:dPt>
            <c:idx val="2"/>
            <c:bubble3D val="0"/>
            <c:spPr>
              <a:solidFill>
                <a:srgbClr val="C2410C"/>
              </a:solidFill>
              <a:effectLst/>
            </c:spPr>
          </c:dPt>
          <c:dPt>
            <c:idx val="3"/>
            <c:bubble3D val="0"/>
            <c:spPr>
              <a:solidFill>
                <a:srgbClr val="1F7A9C"/>
              </a:solidFill>
              <a:effectLst/>
            </c:spPr>
          </c:dPt>
          <c:dPt>
            <c:idx val="4"/>
            <c:bubble3D val="0"/>
            <c:spPr>
              <a:solidFill>
                <a:srgbClr val="8A6D1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Food</c:v>
                </c:pt>
                <c:pt idx="1">
                  <c:v>Rent</c:v>
                </c:pt>
                <c:pt idx="2">
                  <c:v>Travel</c:v>
                </c:pt>
                <c:pt idx="3">
                  <c:v>Shopping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230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2302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2302F"/>
                </a:solidFill>
                <a:latin typeface="+mn-lt"/>
              </a:rPr>
              <a:t>Monthly spending (₹)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Spending (₹)</c:v>
                </c:pt>
              </c:strCache>
            </c:strRef>
          </c:tx>
          <c:spPr>
            <a:solidFill>
              <a:srgbClr val="138A6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30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Aug</c:v>
                  </c:pt>
                  <c:pt idx="4">
                    <c:v>Sep</c:v>
                  </c:pt>
                  <c:pt idx="5">
                    <c:v>Oct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8200</c:v>
                </c:pt>
                <c:pt idx="1">
                  <c:v>7400</c:v>
                </c:pt>
                <c:pt idx="2">
                  <c:v>9100</c:v>
                </c:pt>
                <c:pt idx="3">
                  <c:v>6800</c:v>
                </c:pt>
                <c:pt idx="4">
                  <c:v>8700</c:v>
                </c:pt>
                <c:pt idx="5">
                  <c:v>7900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230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F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5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F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Splitwise-style group expense app combined with a personal expense manager, built with Django.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 in one app: shared expense splitting and personal expense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everyday pains of shared money that the app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goals that guided the design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users can do with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group features like Splitwise. Right: personal expense manager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 web stack: Bootstrap front end, Django back end, SQLite or MySQL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modules make up the application, all built inside Django.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steps from login to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through: login, dashboard, then choose group or personal expenses. Both paths end in reports.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example of automatic balance calculation. Names and amounts are only for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gives category-wise and monthly views. Numbers shown are sample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benefits for everyday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Planned improvements after the first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five takeaways.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Smart Expense Split &amp; Expense Manager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Smart Expense Split &amp; Expense Manager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D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4F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5212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52120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Smart Expense Split &amp; Expense Manager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Web Application · A Splitwise Clone built with Django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Major Project Presentation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Developed by Adesh Lokhande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914400"/>
            <a:ext cx="2560320" cy="2560320"/>
          </a:xfrm>
          <a:prstGeom prst="ellipse">
            <a:avLst/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7" name="circle-FaWallet"/>
          <p:cNvSpPr/>
          <p:nvPr/>
        </p:nvSpPr>
        <p:spPr>
          <a:xfrm>
            <a:off x="6537960" y="14173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Walle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0" y="1805940"/>
            <a:ext cx="777240" cy="777240"/>
          </a:xfrm>
          <a:prstGeom prst="rect">
            <a:avLst/>
          </a:prstGeom>
        </p:spPr>
      </p:pic>
      <p:sp>
        <p:nvSpPr>
          <p:cNvPr id="9" name="circle-FaCoins"/>
          <p:cNvSpPr/>
          <p:nvPr/>
        </p:nvSpPr>
        <p:spPr>
          <a:xfrm>
            <a:off x="5852160" y="31546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Coi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470" y="3348990"/>
            <a:ext cx="388620" cy="388620"/>
          </a:xfrm>
          <a:prstGeom prst="rect">
            <a:avLst/>
          </a:prstGeom>
        </p:spPr>
      </p:pic>
      <p:sp>
        <p:nvSpPr>
          <p:cNvPr id="11" name="circle-FaUsers"/>
          <p:cNvSpPr/>
          <p:nvPr/>
        </p:nvSpPr>
        <p:spPr>
          <a:xfrm>
            <a:off x="7863840" y="32004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2" descr="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290" y="3371850"/>
            <a:ext cx="342900" cy="342900"/>
          </a:xfrm>
          <a:prstGeom prst="rect">
            <a:avLst/>
          </a:prstGeom>
        </p:spPr>
      </p:pic>
      <p:sp>
        <p:nvSpPr>
          <p:cNvPr id="13" name="circle-FaReceipt"/>
          <p:cNvSpPr/>
          <p:nvPr/>
        </p:nvSpPr>
        <p:spPr>
          <a:xfrm>
            <a:off x="7955280" y="7315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4" name="Image 3" descr="Receip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3870" y="880110"/>
            <a:ext cx="297180" cy="2971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80160"/>
            <a:ext cx="42062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Managing shared expenses by hand is confusing and slow.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Friends, roommates, families and teams struggle with calculations and records.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This project combines group splitting with personal expense tracking.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app automates expense tracking and balance calculation.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937760" y="1371600"/>
            <a:ext cx="2286000" cy="2286000"/>
          </a:xfrm>
          <a:prstGeom prst="ellipse">
            <a:avLst/>
          </a:prstGeom>
          <a:solidFill>
            <a:schemeClr val="accent4">
              <a:alpha val="65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6355080" y="1371600"/>
            <a:ext cx="2286000" cy="2286000"/>
          </a:xfrm>
          <a:prstGeom prst="ellipse">
            <a:avLst/>
          </a:prstGeom>
          <a:solidFill>
            <a:schemeClr val="accent2">
              <a:alpha val="65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Splitwise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Features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269480" y="21488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Expense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Manager</a:t>
            </a:r>
            <a:endParaRPr lang="en-US" sz="1500" dirty="0"/>
          </a:p>
        </p:txBody>
      </p:sp>
      <p:sp>
        <p:nvSpPr>
          <p:cNvPr id="8" name="circle-FaCheck"/>
          <p:cNvSpPr/>
          <p:nvPr/>
        </p:nvSpPr>
        <p:spPr>
          <a:xfrm>
            <a:off x="6565392" y="2286000"/>
            <a:ext cx="457200" cy="4572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Image 0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9692" y="2400300"/>
            <a:ext cx="228600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37760" y="3931920"/>
            <a:ext cx="370332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37760" y="393192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One smart platform for all your expenses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36192" cy="26060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ircle-FaClock"/>
          <p:cNvSpPr/>
          <p:nvPr/>
        </p:nvSpPr>
        <p:spPr>
          <a:xfrm>
            <a:off x="859536" y="14630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Image 0" descr="C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6459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42316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Manual splitting wastes time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130552" y="1234440"/>
            <a:ext cx="1536192" cy="26060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circle-FaHistory"/>
          <p:cNvSpPr/>
          <p:nvPr/>
        </p:nvSpPr>
        <p:spPr>
          <a:xfrm>
            <a:off x="2532888" y="14630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Image 1" descr="Histor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645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67712" y="242316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Users forget payment records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3803904" y="1234440"/>
            <a:ext cx="1536192" cy="26060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circle-FaBalanceScale"/>
          <p:cNvSpPr/>
          <p:nvPr/>
        </p:nvSpPr>
        <p:spPr>
          <a:xfrm>
            <a:off x="4206240" y="14630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Image 2" descr="BalanceSca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941064" y="242316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Hard to track who paid and who owes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77256" y="1234440"/>
            <a:ext cx="1536192" cy="26060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circle-FaEye"/>
          <p:cNvSpPr/>
          <p:nvPr/>
        </p:nvSpPr>
        <p:spPr>
          <a:xfrm>
            <a:off x="5879592" y="14630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3" descr="Ey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472" y="164592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14416" y="242316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Group expenses lack transparency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7150608" y="1234440"/>
            <a:ext cx="1536192" cy="260604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ircle-FaExclamationTriangle"/>
          <p:cNvSpPr/>
          <p:nvPr/>
        </p:nvSpPr>
        <p:spPr>
          <a:xfrm>
            <a:off x="7552944" y="14630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Image 4" descr="ExclamationTriangl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164592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87768" y="2423160"/>
            <a:ext cx="12618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Existing apps feel too complex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Result: confusion, delays and arguments over money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80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Build a smart expense management platform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9385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938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Simplify group expense splitting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968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968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Calculate balances automatically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25526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5526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Track personal and shared expenses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913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Keep a clear payment history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0" y="1554480"/>
            <a:ext cx="2560320" cy="256032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1965960"/>
            <a:ext cx="1737360" cy="1737360"/>
          </a:xfrm>
          <a:prstGeom prst="ellipse">
            <a:avLst/>
          </a:prstGeom>
          <a:solidFill>
            <a:schemeClr val="accent4">
              <a:alpha val="45000"/>
            </a:schemeClr>
          </a:solidFill>
          <a:ln/>
        </p:spPr>
      </p:sp>
      <p:sp>
        <p:nvSpPr>
          <p:cNvPr id="20" name="circle-FaBullseye"/>
          <p:cNvSpPr/>
          <p:nvPr/>
        </p:nvSpPr>
        <p:spPr>
          <a:xfrm>
            <a:off x="6903720" y="233172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0" descr="Bullsey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5180" y="2583180"/>
            <a:ext cx="502920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Proposed System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ircle-FaUsers"/>
          <p:cNvSpPr/>
          <p:nvPr/>
        </p:nvSpPr>
        <p:spPr>
          <a:xfrm>
            <a:off x="685800" y="138988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User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49908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Create groups and add members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6898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circle-FaReceipt"/>
          <p:cNvSpPr/>
          <p:nvPr/>
        </p:nvSpPr>
        <p:spPr>
          <a:xfrm>
            <a:off x="3497580" y="138988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Receip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549908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49758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Add shared expenses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080760" y="118872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circle-FaCalculator"/>
          <p:cNvSpPr/>
          <p:nvPr/>
        </p:nvSpPr>
        <p:spPr>
          <a:xfrm>
            <a:off x="6309360" y="138988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Calculato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80" y="1549908"/>
            <a:ext cx="320040" cy="3200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0936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Split equally or manually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circle-FaHandshake"/>
          <p:cNvSpPr/>
          <p:nvPr/>
        </p:nvSpPr>
        <p:spPr>
          <a:xfrm>
            <a:off x="685800" y="31272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Handshak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287268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85800" y="38587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Track settlements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326898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ircle-FaWallet"/>
          <p:cNvSpPr/>
          <p:nvPr/>
        </p:nvSpPr>
        <p:spPr>
          <a:xfrm>
            <a:off x="3497580" y="31272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Walle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287268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497580" y="38587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Manage personal daily expenses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6080760" y="2926080"/>
            <a:ext cx="26060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circle-FaChartPie"/>
          <p:cNvSpPr/>
          <p:nvPr/>
        </p:nvSpPr>
        <p:spPr>
          <a:xfrm>
            <a:off x="6309360" y="31272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5" descr="ChartPi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80" y="3287268"/>
            <a:ext cx="320040" cy="3200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309360" y="38587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View reports and summaries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Main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3657600" cy="594360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Splitwise Features</a:t>
            </a:r>
            <a:endParaRPr lang="en-US" sz="1800" dirty="0"/>
          </a:p>
        </p:txBody>
      </p:sp>
      <p:sp>
        <p:nvSpPr>
          <p:cNvPr id="6" name="circle-FaCheck"/>
          <p:cNvSpPr/>
          <p:nvPr/>
        </p:nvSpPr>
        <p:spPr>
          <a:xfrm>
            <a:off x="777240" y="224028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327148"/>
            <a:ext cx="173736" cy="1737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2240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Group creation</a:t>
            </a:r>
            <a:endParaRPr lang="en-US" sz="1600" dirty="0"/>
          </a:p>
        </p:txBody>
      </p:sp>
      <p:sp>
        <p:nvSpPr>
          <p:cNvPr id="9" name="circle-FaCheck"/>
          <p:cNvSpPr/>
          <p:nvPr/>
        </p:nvSpPr>
        <p:spPr>
          <a:xfrm>
            <a:off x="777240" y="278892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0" name="Image 1" descr="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108" y="2875788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788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Expense splitting</a:t>
            </a:r>
            <a:endParaRPr lang="en-US" sz="1600" dirty="0"/>
          </a:p>
        </p:txBody>
      </p:sp>
      <p:sp>
        <p:nvSpPr>
          <p:cNvPr id="12" name="circle-FaCheck"/>
          <p:cNvSpPr/>
          <p:nvPr/>
        </p:nvSpPr>
        <p:spPr>
          <a:xfrm>
            <a:off x="777240" y="333756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mage 2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" y="3424428"/>
            <a:ext cx="173736" cy="1737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337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Auto balance calculation</a:t>
            </a:r>
            <a:endParaRPr lang="en-US" sz="1600" dirty="0"/>
          </a:p>
        </p:txBody>
      </p:sp>
      <p:sp>
        <p:nvSpPr>
          <p:cNvPr id="15" name="circle-FaCheck"/>
          <p:cNvSpPr/>
          <p:nvPr/>
        </p:nvSpPr>
        <p:spPr>
          <a:xfrm>
            <a:off x="777240" y="388620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6" name="Image 3" descr="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" y="3973068"/>
            <a:ext cx="173736" cy="17373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886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Settlement tracking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4663440" y="1188720"/>
            <a:ext cx="4023360" cy="3337560"/>
          </a:xfrm>
          <a:prstGeom prst="roundRect">
            <a:avLst>
              <a:gd name="adj" fmla="val 328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846320" y="1371600"/>
            <a:ext cx="3657600" cy="594360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4846320" y="1371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Expense Manager Features</a:t>
            </a:r>
            <a:endParaRPr lang="en-US" sz="1800" dirty="0"/>
          </a:p>
        </p:txBody>
      </p:sp>
      <p:sp>
        <p:nvSpPr>
          <p:cNvPr id="21" name="circle-FaCheck"/>
          <p:cNvSpPr/>
          <p:nvPr/>
        </p:nvSpPr>
        <p:spPr>
          <a:xfrm>
            <a:off x="4983480" y="224028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4" descr="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348" y="2327148"/>
            <a:ext cx="173736" cy="17373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486400" y="22402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Daily expense tracking</a:t>
            </a:r>
            <a:endParaRPr lang="en-US" sz="1600" dirty="0"/>
          </a:p>
        </p:txBody>
      </p:sp>
      <p:sp>
        <p:nvSpPr>
          <p:cNvPr id="24" name="circle-FaCheck"/>
          <p:cNvSpPr/>
          <p:nvPr/>
        </p:nvSpPr>
        <p:spPr>
          <a:xfrm>
            <a:off x="4983480" y="278892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5" name="Image 5" descr="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0348" y="2875788"/>
            <a:ext cx="173736" cy="173736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86400" y="27889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Category-wise expenses</a:t>
            </a:r>
            <a:endParaRPr lang="en-US" sz="1600" dirty="0"/>
          </a:p>
        </p:txBody>
      </p:sp>
      <p:sp>
        <p:nvSpPr>
          <p:cNvPr id="27" name="circle-FaCheck"/>
          <p:cNvSpPr/>
          <p:nvPr/>
        </p:nvSpPr>
        <p:spPr>
          <a:xfrm>
            <a:off x="4983480" y="333756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8" name="Image 6" descr="Check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0348" y="3424428"/>
            <a:ext cx="173736" cy="173736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86400" y="333756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Monthly summaries</a:t>
            </a:r>
            <a:endParaRPr lang="en-US" sz="1600" dirty="0"/>
          </a:p>
        </p:txBody>
      </p:sp>
      <p:sp>
        <p:nvSpPr>
          <p:cNvPr id="30" name="circle-FaCheck"/>
          <p:cNvSpPr/>
          <p:nvPr/>
        </p:nvSpPr>
        <p:spPr>
          <a:xfrm>
            <a:off x="4983480" y="3886200"/>
            <a:ext cx="347472" cy="34747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1" name="Image 7" descr="Che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0348" y="3973068"/>
            <a:ext cx="173736" cy="173736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486400" y="3886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Budget monitoring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194560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</p:sp>
      <p:sp>
        <p:nvSpPr>
          <p:cNvPr id="5" name="circle-FaDesktop"/>
          <p:cNvSpPr/>
          <p:nvPr/>
        </p:nvSpPr>
        <p:spPr>
          <a:xfrm>
            <a:off x="640080" y="1325880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6" name="Image 0" descr="Desk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428750"/>
            <a:ext cx="205740" cy="2057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18872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Frontend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926080" y="1325880"/>
            <a:ext cx="128016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80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HTML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43400" y="1325880"/>
            <a:ext cx="128016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43400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CSS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760720" y="1325880"/>
            <a:ext cx="128016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60720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JavaScript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178040" y="1325880"/>
            <a:ext cx="128016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78040" y="1325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Bootstrap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201168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" y="2011680"/>
            <a:ext cx="2194560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8" name="circle-FaServer"/>
          <p:cNvSpPr/>
          <p:nvPr/>
        </p:nvSpPr>
        <p:spPr>
          <a:xfrm>
            <a:off x="640080" y="2148840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9" name="Image 1" descr="Serv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251710"/>
            <a:ext cx="205740" cy="20574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188720" y="20116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Backend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2926080" y="214884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92608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Django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4937760" y="214884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937760" y="2148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Python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57200" y="283464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26" name="Shape 22"/>
          <p:cNvSpPr/>
          <p:nvPr/>
        </p:nvSpPr>
        <p:spPr>
          <a:xfrm>
            <a:off x="457200" y="2834640"/>
            <a:ext cx="2194560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</p:sp>
      <p:sp>
        <p:nvSpPr>
          <p:cNvPr id="27" name="circle-FaDatabase"/>
          <p:cNvSpPr/>
          <p:nvPr/>
        </p:nvSpPr>
        <p:spPr>
          <a:xfrm>
            <a:off x="640080" y="2971800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8" name="Image 2" descr="Databas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074670"/>
            <a:ext cx="205740" cy="205740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18872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Database</a:t>
            </a: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2926080" y="297180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292608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SQLite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4937760" y="297180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4937760" y="29718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MySQL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457200" y="3657600"/>
            <a:ext cx="82296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</p:sp>
      <p:sp>
        <p:nvSpPr>
          <p:cNvPr id="35" name="Shape 30"/>
          <p:cNvSpPr/>
          <p:nvPr/>
        </p:nvSpPr>
        <p:spPr>
          <a:xfrm>
            <a:off x="457200" y="3657600"/>
            <a:ext cx="2194560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</p:sp>
      <p:sp>
        <p:nvSpPr>
          <p:cNvPr id="36" name="circle-FaTools"/>
          <p:cNvSpPr/>
          <p:nvPr/>
        </p:nvSpPr>
        <p:spPr>
          <a:xfrm>
            <a:off x="640080" y="3794760"/>
            <a:ext cx="411480" cy="4114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7" name="Image 3" descr="Tool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897630"/>
            <a:ext cx="205740" cy="205740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188720" y="3657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Other Tools</a:t>
            </a:r>
            <a:endParaRPr lang="en-US" sz="1600" dirty="0"/>
          </a:p>
        </p:txBody>
      </p:sp>
      <p:sp>
        <p:nvSpPr>
          <p:cNvPr id="39" name="Shape 33"/>
          <p:cNvSpPr/>
          <p:nvPr/>
        </p:nvSpPr>
        <p:spPr>
          <a:xfrm>
            <a:off x="2926080" y="379476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292608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Django ORM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4937760" y="379476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4937760" y="3794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Authentication System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74520"/>
            <a:ext cx="1920240" cy="1920240"/>
          </a:xfrm>
          <a:prstGeom prst="ellipse">
            <a:avLst/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874520"/>
            <a:ext cx="1920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Django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Application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377440" y="2834640"/>
            <a:ext cx="73152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0" y="1417320"/>
            <a:ext cx="0" cy="283464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417320"/>
            <a:ext cx="6400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49040" y="1188720"/>
            <a:ext cx="493776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3840480" y="126187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188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User Authentication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08960" y="1984248"/>
            <a:ext cx="6400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1755648"/>
            <a:ext cx="493776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3840480" y="18288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4048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7556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Group Management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108960" y="2551176"/>
            <a:ext cx="6400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49040" y="2322576"/>
            <a:ext cx="493776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3840480" y="2395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840480" y="2395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2322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Expense Tracking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108960" y="3118104"/>
            <a:ext cx="6400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49040" y="2889504"/>
            <a:ext cx="493776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3840480" y="296265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840480" y="2962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343400" y="2889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Balance Calculation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108960" y="3685032"/>
            <a:ext cx="6400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749040" y="3456432"/>
            <a:ext cx="493776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3840480" y="352958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84048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343400" y="345643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Settlement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108960" y="4251960"/>
            <a:ext cx="6400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3749040" y="4023360"/>
            <a:ext cx="493776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/>
        </p:spPr>
      </p:sp>
      <p:sp>
        <p:nvSpPr>
          <p:cNvPr id="34" name="Shape 32"/>
          <p:cNvSpPr/>
          <p:nvPr/>
        </p:nvSpPr>
        <p:spPr>
          <a:xfrm>
            <a:off x="3840480" y="409651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840480" y="4096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343400" y="40233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Reports &amp; Dashboard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Working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783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ircle-FaSignInAlt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ignIn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Register / Login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40280" y="1901952"/>
            <a:ext cx="36576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2606040" y="1188720"/>
            <a:ext cx="1783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circle-FaUsers"/>
          <p:cNvSpPr/>
          <p:nvPr/>
        </p:nvSpPr>
        <p:spPr>
          <a:xfrm>
            <a:off x="278892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Us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2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Create a group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89120" y="1901952"/>
            <a:ext cx="36576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754880" y="1188720"/>
            <a:ext cx="1783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circle-FaUserPlus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UserPlu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150876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62356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3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4937760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members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537960" y="1901952"/>
            <a:ext cx="36576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903720" y="1188720"/>
            <a:ext cx="1783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circle-FaReceipt"/>
          <p:cNvSpPr/>
          <p:nvPr/>
        </p:nvSpPr>
        <p:spPr>
          <a:xfrm>
            <a:off x="70866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Receip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50876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772400" y="14630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4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7086600" y="2029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Record expenses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457200" y="3108960"/>
            <a:ext cx="1783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circle-FaCalculator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mage 4" descr="Calculator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42900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25880" y="3383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5</a:t>
            </a:r>
            <a:endParaRPr lang="en-US" sz="1100" dirty="0"/>
          </a:p>
        </p:txBody>
      </p:sp>
      <p:sp>
        <p:nvSpPr>
          <p:cNvPr id="30" name="Text 23"/>
          <p:cNvSpPr txBox="1"/>
          <p:nvPr/>
        </p:nvSpPr>
        <p:spPr>
          <a:xfrm>
            <a:off x="640080" y="3950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Auto-calculate balances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2240280" y="3822192"/>
            <a:ext cx="36576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32" name="Shape 25"/>
          <p:cNvSpPr/>
          <p:nvPr/>
        </p:nvSpPr>
        <p:spPr>
          <a:xfrm>
            <a:off x="2606040" y="3108960"/>
            <a:ext cx="1783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circle-FaHandshake"/>
          <p:cNvSpPr/>
          <p:nvPr/>
        </p:nvSpPr>
        <p:spPr>
          <a:xfrm>
            <a:off x="2788920" y="3291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Image 5" descr="Handshak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80" y="342900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3474720" y="3383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6</a:t>
            </a:r>
            <a:endParaRPr lang="en-US" sz="1100" dirty="0"/>
          </a:p>
        </p:txBody>
      </p:sp>
      <p:sp>
        <p:nvSpPr>
          <p:cNvPr id="36" name="Text 28"/>
          <p:cNvSpPr txBox="1"/>
          <p:nvPr/>
        </p:nvSpPr>
        <p:spPr>
          <a:xfrm>
            <a:off x="2788920" y="3950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Settle payments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4389120" y="3822192"/>
            <a:ext cx="36576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38" name="Shape 30"/>
          <p:cNvSpPr/>
          <p:nvPr/>
        </p:nvSpPr>
        <p:spPr>
          <a:xfrm>
            <a:off x="4754880" y="3108960"/>
            <a:ext cx="17830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circle-FaChartPie"/>
          <p:cNvSpPr/>
          <p:nvPr/>
        </p:nvSpPr>
        <p:spPr>
          <a:xfrm>
            <a:off x="4937760" y="32918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6" descr="ChartPi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3429000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623560" y="3383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STEP 7</a:t>
            </a:r>
            <a:endParaRPr lang="en-US" sz="1100" dirty="0"/>
          </a:p>
        </p:txBody>
      </p:sp>
      <p:sp>
        <p:nvSpPr>
          <p:cNvPr id="42" name="Text 33"/>
          <p:cNvSpPr txBox="1"/>
          <p:nvPr/>
        </p:nvSpPr>
        <p:spPr>
          <a:xfrm>
            <a:off x="4937760" y="3950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Generate reports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7795260" y="2606040"/>
            <a:ext cx="0" cy="246888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 flipH="1">
            <a:off x="1348740" y="2852928"/>
            <a:ext cx="644652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348740" y="2852928"/>
            <a:ext cx="0" cy="256032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46" name="Shape 37"/>
          <p:cNvSpPr/>
          <p:nvPr/>
        </p:nvSpPr>
        <p:spPr>
          <a:xfrm>
            <a:off x="6583680" y="3108960"/>
            <a:ext cx="1783080" cy="1417320"/>
          </a:xfrm>
          <a:prstGeom prst="roundRect">
            <a:avLst>
              <a:gd name="adj" fmla="val 7742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circle-FaSmile"/>
          <p:cNvSpPr/>
          <p:nvPr/>
        </p:nvSpPr>
        <p:spPr>
          <a:xfrm>
            <a:off x="6766560" y="329184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8" name="Image 7" descr="Smile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3429000"/>
            <a:ext cx="274320" cy="274320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6766560" y="3950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Fair, clear &amp; automatic</a:t>
            </a:r>
            <a:endParaRPr lang="en-US" sz="1400" dirty="0"/>
          </a:p>
        </p:txBody>
      </p:sp>
      <p:sp>
        <p:nvSpPr>
          <p:cNvPr id="50" name="Shape 40"/>
          <p:cNvSpPr/>
          <p:nvPr/>
        </p:nvSpPr>
        <p:spPr>
          <a:xfrm>
            <a:off x="5623560" y="3822192"/>
            <a:ext cx="96012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Application Flowchart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1234440"/>
            <a:ext cx="77724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Start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143000" y="1463040"/>
            <a:ext cx="22860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5" name="Text 3"/>
          <p:cNvSpPr txBox="1"/>
          <p:nvPr/>
        </p:nvSpPr>
        <p:spPr>
          <a:xfrm>
            <a:off x="1371600" y="1188720"/>
            <a:ext cx="118872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Register / Login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60320" y="1463040"/>
            <a:ext cx="22860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788920" y="1051560"/>
            <a:ext cx="1188720" cy="822960"/>
          </a:xfrm>
          <a:prstGeom prst="diamond">
            <a:avLst/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Valid user?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77640" y="1463040"/>
            <a:ext cx="32004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4005072" y="12435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Yes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188720"/>
            <a:ext cx="109728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874520"/>
            <a:ext cx="0" cy="22860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>
            <a:off x="1965960" y="2103120"/>
            <a:ext cx="141732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965960" y="1737360"/>
            <a:ext cx="0" cy="36576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3456432" y="190195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1737360"/>
            <a:ext cx="0" cy="73152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1005840" y="2468880"/>
            <a:ext cx="38404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840" y="2468880"/>
            <a:ext cx="0" cy="36576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365760" y="2834640"/>
            <a:ext cx="1280160" cy="822960"/>
          </a:xfrm>
          <a:prstGeom prst="diamond">
            <a:avLst/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Expense type?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645920" y="3246120"/>
            <a:ext cx="59436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1664208" y="29992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Group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240280" y="288036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Create group &amp; add members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288036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Add expense (equal / manual split)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288036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Balances auto-calculated &amp; settled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52360" y="2880360"/>
            <a:ext cx="132588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5875">
            <a:solidFill>
              <a:schemeClr val="accent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Reports &amp; summaries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246120"/>
            <a:ext cx="4114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3246120"/>
            <a:ext cx="4114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40880" y="3246120"/>
            <a:ext cx="4114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7658100" y="1234440"/>
            <a:ext cx="914400" cy="457200"/>
          </a:xfrm>
          <a:prstGeom prst="ellipse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End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V="1">
            <a:off x="8115300" y="1691640"/>
            <a:ext cx="0" cy="118872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" y="3657600"/>
            <a:ext cx="0" cy="59436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4251960"/>
            <a:ext cx="123444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1097280" y="400507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Personal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40280" y="388620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4DC"/>
          </a:solidFill>
          <a:ln w="15875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Add daily expense + category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977640" y="3886200"/>
            <a:ext cx="1325880" cy="731520"/>
          </a:xfrm>
          <a:prstGeom prst="roundRect">
            <a:avLst>
              <a:gd name="adj" fmla="val 10000"/>
            </a:avLst>
          </a:prstGeom>
          <a:solidFill>
            <a:srgbClr val="FFF4DC"/>
          </a:solidFill>
          <a:ln w="15875">
            <a:solidFill>
              <a:schemeClr val="accent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Check budget &amp; monthly summary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566160" y="4251960"/>
            <a:ext cx="4114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303520" y="4251960"/>
            <a:ext cx="28117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8115300" y="3611880"/>
            <a:ext cx="0" cy="64008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Example: How Splitting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017520" cy="333756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EXAMPLE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Dinner bill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₹4,000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260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paid by Adesh, split equally among 4 friends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657600"/>
            <a:ext cx="2468880" cy="54864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3657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Each share = ₹1,000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49240" y="123444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349240" y="12344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Adesh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paid ₹4,000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 flipV="1">
            <a:off x="4572000" y="2606040"/>
            <a:ext cx="0" cy="41148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955280" y="2606040"/>
            <a:ext cx="0" cy="41148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606040"/>
            <a:ext cx="338328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6263640" y="2606040"/>
            <a:ext cx="0" cy="41148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263640" y="2103120"/>
            <a:ext cx="0" cy="50292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40480" y="30175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DE8DC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0" y="3017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Riya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owes ₹1,000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32120" y="30175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DE8DC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32120" y="3017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Kunal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owes ₹1,000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223760" y="3017520"/>
            <a:ext cx="1463040" cy="777240"/>
          </a:xfrm>
          <a:prstGeom prst="roundRect">
            <a:avLst>
              <a:gd name="adj" fmla="val 14118"/>
            </a:avLst>
          </a:prstGeom>
          <a:solidFill>
            <a:srgbClr val="FDE8DC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23760" y="3017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Sneha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owes ₹1,000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840480" y="3977640"/>
            <a:ext cx="484632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3977640" y="39776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Net result: Adesh gets ₹3,000 back, calculated automatically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Reports &amp;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63440" y="1188720"/>
            <a:ext cx="402336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548640" y="128016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280160"/>
          <a:ext cx="38404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57200" y="4389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Sample data for illustration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ircle-FaSmile"/>
          <p:cNvSpPr/>
          <p:nvPr/>
        </p:nvSpPr>
        <p:spPr>
          <a:xfrm>
            <a:off x="68580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Smi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520190"/>
            <a:ext cx="297180" cy="2971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1887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Easy-to-use interface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circle-FaClock"/>
          <p:cNvSpPr/>
          <p:nvPr/>
        </p:nvSpPr>
        <p:spPr>
          <a:xfrm>
            <a:off x="4892040" y="1371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Image 1" descr="C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630" y="152019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669280" y="11887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Saves time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57200" y="2331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circle-FaCheck"/>
          <p:cNvSpPr/>
          <p:nvPr/>
        </p:nvSpPr>
        <p:spPr>
          <a:xfrm>
            <a:off x="685800" y="2514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2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90" y="2663190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63040" y="23317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Fewer calculation errors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4663440" y="2331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circle-FaEye"/>
          <p:cNvSpPr/>
          <p:nvPr/>
        </p:nvSpPr>
        <p:spPr>
          <a:xfrm>
            <a:off x="4892040" y="2514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3" descr="Ey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630" y="2663190"/>
            <a:ext cx="297180" cy="2971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669280" y="23317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Better financial transparency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457200" y="3474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circle-FaShieldAlt"/>
          <p:cNvSpPr/>
          <p:nvPr/>
        </p:nvSpPr>
        <p:spPr>
          <a:xfrm>
            <a:off x="685800" y="3657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ShieldAl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" y="380619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463040" y="34747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Secure data management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4663440" y="3474720"/>
            <a:ext cx="402336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circle-FaUsers"/>
          <p:cNvSpPr/>
          <p:nvPr/>
        </p:nvSpPr>
        <p:spPr>
          <a:xfrm>
            <a:off x="4892040" y="36576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5" descr="User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0630" y="3806190"/>
            <a:ext cx="297180" cy="29718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669280" y="347472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Great for students, roommates, families and teams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Future Enhancements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834640"/>
            <a:ext cx="8046720" cy="0"/>
          </a:xfrm>
          <a:prstGeom prst="line">
            <a:avLst/>
          </a:prstGeom>
          <a:noFill/>
          <a:ln w="22225">
            <a:solidFill>
              <a:srgbClr val="5B7C7A"/>
            </a:solidFill>
            <a:prstDash val="solid"/>
          </a:ln>
        </p:spPr>
      </p:sp>
      <p:sp>
        <p:nvSpPr>
          <p:cNvPr id="4" name="circle-FaCreditCard"/>
          <p:cNvSpPr/>
          <p:nvPr/>
        </p:nvSpPr>
        <p:spPr>
          <a:xfrm>
            <a:off x="731520" y="2468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reditCar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651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UPI / payment gateway</a:t>
            </a:r>
            <a:endParaRPr lang="en-US" sz="1500" dirty="0"/>
          </a:p>
        </p:txBody>
      </p:sp>
      <p:sp>
        <p:nvSpPr>
          <p:cNvPr id="7" name="circle-FaMobileAlt"/>
          <p:cNvSpPr/>
          <p:nvPr/>
        </p:nvSpPr>
        <p:spPr>
          <a:xfrm>
            <a:off x="2121408" y="2468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8" name="Image 1" descr="MobileAl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88" y="2651760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89888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Mobile app</a:t>
            </a:r>
            <a:endParaRPr lang="en-US" sz="1500" dirty="0"/>
          </a:p>
        </p:txBody>
      </p:sp>
      <p:sp>
        <p:nvSpPr>
          <p:cNvPr id="10" name="circle-FaRobot"/>
          <p:cNvSpPr/>
          <p:nvPr/>
        </p:nvSpPr>
        <p:spPr>
          <a:xfrm>
            <a:off x="3511296" y="2468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2" descr="Robo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2651760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779776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AI expense analysis</a:t>
            </a:r>
            <a:endParaRPr lang="en-US" sz="1500" dirty="0"/>
          </a:p>
        </p:txBody>
      </p:sp>
      <p:sp>
        <p:nvSpPr>
          <p:cNvPr id="13" name="circle-FaBell"/>
          <p:cNvSpPr/>
          <p:nvPr/>
        </p:nvSpPr>
        <p:spPr>
          <a:xfrm>
            <a:off x="4901184" y="2468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Image 3" descr="Bel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2651760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169664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Reminders &amp; notifications</a:t>
            </a:r>
            <a:endParaRPr lang="en-US" sz="1500" dirty="0"/>
          </a:p>
        </p:txBody>
      </p:sp>
      <p:sp>
        <p:nvSpPr>
          <p:cNvPr id="16" name="circle-FaFileExport"/>
          <p:cNvSpPr/>
          <p:nvPr/>
        </p:nvSpPr>
        <p:spPr>
          <a:xfrm>
            <a:off x="6291072" y="24688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4" descr="FileExpor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265176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559552" y="14173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PDF / Excel export</a:t>
            </a:r>
            <a:endParaRPr lang="en-US" sz="1500" dirty="0"/>
          </a:p>
        </p:txBody>
      </p:sp>
      <p:sp>
        <p:nvSpPr>
          <p:cNvPr id="19" name="circle-FaGlobe"/>
          <p:cNvSpPr/>
          <p:nvPr/>
        </p:nvSpPr>
        <p:spPr>
          <a:xfrm>
            <a:off x="7680960" y="24688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mage 5" descr="Globe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2651760"/>
            <a:ext cx="365760" cy="36576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94944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Multi-currency support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F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3" name="circle-FaCheck"/>
          <p:cNvSpPr/>
          <p:nvPr/>
        </p:nvSpPr>
        <p:spPr>
          <a:xfrm>
            <a:off x="457200" y="124358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Image 0" descr="Che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" y="1339596"/>
            <a:ext cx="192024" cy="1920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1887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 complete smart expense management solution</a:t>
            </a:r>
            <a:endParaRPr lang="en-US" sz="1600" dirty="0"/>
          </a:p>
        </p:txBody>
      </p:sp>
      <p:sp>
        <p:nvSpPr>
          <p:cNvPr id="6" name="circle-FaCheck"/>
          <p:cNvSpPr/>
          <p:nvPr/>
        </p:nvSpPr>
        <p:spPr>
          <a:xfrm>
            <a:off x="457200" y="192938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1" descr="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" y="2025396"/>
            <a:ext cx="192024" cy="1920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8745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Combines Splitwise features with personal expense tracking</a:t>
            </a:r>
            <a:endParaRPr lang="en-US" sz="1600" dirty="0"/>
          </a:p>
        </p:txBody>
      </p:sp>
      <p:sp>
        <p:nvSpPr>
          <p:cNvPr id="9" name="circle-FaCheck"/>
          <p:cNvSpPr/>
          <p:nvPr/>
        </p:nvSpPr>
        <p:spPr>
          <a:xfrm>
            <a:off x="457200" y="261518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2" descr="Che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" y="2711196"/>
            <a:ext cx="192024" cy="19202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5603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Helps users manage money efficiently</a:t>
            </a:r>
            <a:endParaRPr lang="en-US" sz="1600" dirty="0"/>
          </a:p>
        </p:txBody>
      </p:sp>
      <p:sp>
        <p:nvSpPr>
          <p:cNvPr id="12" name="circle-FaCheck"/>
          <p:cNvSpPr/>
          <p:nvPr/>
        </p:nvSpPr>
        <p:spPr>
          <a:xfrm>
            <a:off x="457200" y="330098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3" descr="Che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" y="3396996"/>
            <a:ext cx="192024" cy="19202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3246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Shows real-world Django web development concepts</a:t>
            </a:r>
            <a:endParaRPr lang="en-US" sz="1600" dirty="0"/>
          </a:p>
        </p:txBody>
      </p:sp>
      <p:sp>
        <p:nvSpPr>
          <p:cNvPr id="15" name="circle-FaCheck"/>
          <p:cNvSpPr/>
          <p:nvPr/>
        </p:nvSpPr>
        <p:spPr>
          <a:xfrm>
            <a:off x="457200" y="3986784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4" descr="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" y="4082796"/>
            <a:ext cx="192024" cy="19202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9319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Improves transparency and reduces conflicts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6309360" y="1554480"/>
            <a:ext cx="2377440" cy="2377440"/>
          </a:xfrm>
          <a:prstGeom prst="ellipse">
            <a:avLst/>
          </a:prstGeom>
          <a:solidFill>
            <a:schemeClr val="accent4">
              <a:alpha val="18000"/>
            </a:schemeClr>
          </a:solidFill>
          <a:ln/>
        </p:spPr>
      </p:sp>
      <p:sp>
        <p:nvSpPr>
          <p:cNvPr id="19" name="circle-FaThumbsUp"/>
          <p:cNvSpPr/>
          <p:nvPr/>
        </p:nvSpPr>
        <p:spPr>
          <a:xfrm>
            <a:off x="6766560" y="2011680"/>
            <a:ext cx="1463040" cy="14630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5" descr="ThumbsUp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377440"/>
            <a:ext cx="731520" cy="7315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D8C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Thank You!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8892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Questions are welcome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Adesh Lokhande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35040" y="914400"/>
            <a:ext cx="2560320" cy="2560320"/>
          </a:xfrm>
          <a:prstGeom prst="ellipse">
            <a:avLst/>
          </a:prstGeom>
          <a:solidFill>
            <a:schemeClr val="accent4">
              <a:alpha val="22000"/>
            </a:schemeClr>
          </a:solidFill>
          <a:ln/>
        </p:spPr>
      </p:sp>
      <p:sp>
        <p:nvSpPr>
          <p:cNvPr id="6" name="circle-FaSmile"/>
          <p:cNvSpPr/>
          <p:nvPr/>
        </p:nvSpPr>
        <p:spPr>
          <a:xfrm>
            <a:off x="6537960" y="141732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mage 0" descr="Smi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26580" y="1805940"/>
            <a:ext cx="777240" cy="777240"/>
          </a:xfrm>
          <a:prstGeom prst="rect">
            <a:avLst/>
          </a:prstGeom>
        </p:spPr>
      </p:pic>
      <p:sp>
        <p:nvSpPr>
          <p:cNvPr id="8" name="circle-FaCoins"/>
          <p:cNvSpPr/>
          <p:nvPr/>
        </p:nvSpPr>
        <p:spPr>
          <a:xfrm>
            <a:off x="5852160" y="3154680"/>
            <a:ext cx="777240" cy="7772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Coi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6470" y="3348990"/>
            <a:ext cx="388620" cy="388620"/>
          </a:xfrm>
          <a:prstGeom prst="rect">
            <a:avLst/>
          </a:prstGeom>
        </p:spPr>
      </p:pic>
      <p:sp>
        <p:nvSpPr>
          <p:cNvPr id="10" name="circle-FaUsers"/>
          <p:cNvSpPr/>
          <p:nvPr/>
        </p:nvSpPr>
        <p:spPr>
          <a:xfrm>
            <a:off x="7863840" y="32004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Image 2" descr="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290" y="3371850"/>
            <a:ext cx="342900" cy="342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xpense Split">
  <a:themeElements>
    <a:clrScheme name="Expense Split">
      <a:dk1>
        <a:srgbClr val="12302F"/>
      </a:dk1>
      <a:lt1>
        <a:srgbClr val="FFFFFF"/>
      </a:lt1>
      <a:dk2>
        <a:srgbClr val="0B4F4A"/>
      </a:dk2>
      <a:lt2>
        <a:srgbClr val="EAF6F1"/>
      </a:lt2>
      <a:accent1>
        <a:srgbClr val="138A64"/>
      </a:accent1>
      <a:accent2>
        <a:srgbClr val="F5A524"/>
      </a:accent2>
      <a:accent3>
        <a:srgbClr val="C2410C"/>
      </a:accent3>
      <a:accent4>
        <a:srgbClr val="5CC8A5"/>
      </a:accent4>
      <a:accent5>
        <a:srgbClr val="1F7A9C"/>
      </a:accent5>
      <a:accent6>
        <a:srgbClr val="6B7F7D"/>
      </a:accent6>
      <a:hlink>
        <a:srgbClr val="138A64"/>
      </a:hlink>
      <a:folHlink>
        <a:srgbClr val="6B7F7D"/>
      </a:folHlink>
    </a:clrScheme>
    <a:fontScheme name="Expense Spl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Expense Split &amp; Expense Manager</dc:title>
  <dc:subject>PptxGenJS Presentation</dc:subject>
  <dc:creator>Adesh Lokhande</dc:creator>
  <cp:lastModifiedBy>Adesh Lokhande</cp:lastModifiedBy>
  <cp:revision>1</cp:revision>
  <dcterms:created xsi:type="dcterms:W3CDTF">2026-10-21T13:52:17Z</dcterms:created>
  <dcterms:modified xsi:type="dcterms:W3CDTF">2026-10-21T13:52:17Z</dcterms:modified>
</cp:coreProperties>
</file>