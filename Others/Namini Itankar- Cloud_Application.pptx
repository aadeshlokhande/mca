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923EA93-BE3A-4953-9372-7E8FD2481E17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44DABD-5152-4175-845B-3B24601164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BB7F2A-878D-426A-BA45-16259D38DF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60C23F-2E21-4528-A451-4282E32423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D177D8-AC3C-480D-8945-7645E9D7E3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79FE0D-46F3-4E0D-BEB1-7BFB76C8EA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845664-81E6-41A3-B337-3CBB0ECA00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84AB89-D8A6-4D7F-BF1A-D1460AC389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709ABE-ED16-4802-A1EF-3B369495E9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988DD7-0F9D-4A0B-B982-C6CDDFDE93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EED8FE-31FE-493D-B45F-6BD1F7246F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AE099E-A147-40E2-8453-10EB34D88F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A35D08-0835-4782-B838-7E70F8D6E5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0314DB-06FA-484B-8D71-99B84E6A20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E05EA2-28B7-45EF-91C5-36F566D9E8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70C6A4-D5D9-4DC9-B8AE-A612FC5E45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1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Cloud Application Development Environments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IN" sz="3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1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275C2B-4575-41A4-B504-2821ECD4D560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ARK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548640" y="64191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Cloud Application Development Environments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IN" sz="3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2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99E24B-7B22-41FA-9A70-7CB74E8265B7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IGH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48640" y="64191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482"/>
                </a:solidFill>
                <a:effectLst/>
                <a:uFillTx/>
                <a:latin typeface="Calibri"/>
                <a:ea typeface="Calibri"/>
              </a:rPr>
              <a:t>Cloud Application Development Environments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IN" sz="3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ldNum" idx="3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A64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5FEAD1-969A-40F1-9E57-F451C86C4E16}" type="slidenum">
              <a:rPr lang="en-US" sz="1000" b="0" u="none" strike="noStrike">
                <a:solidFill>
                  <a:srgbClr val="5A64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image" Target="../media/image5.png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6.pn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9.png"/><Relationship Id="rId6" Type="http://schemas.openxmlformats.org/officeDocument/2006/relationships/image" Target="../media/image24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640080" y="1188720"/>
            <a:ext cx="64004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</a:t>
            </a: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Applicati</a:t>
            </a: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on </a:t>
            </a: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Develop</a:t>
            </a: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ment </a:t>
            </a: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Environ</a:t>
            </a: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ments</a:t>
            </a:r>
            <a:endParaRPr lang="en-IN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640080" y="365760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AWS</a:t>
            </a:r>
            <a:r>
              <a:rPr lang="en-US" sz="2200" b="1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lang="en-US" sz="2200" b="1" u="none" strike="noStrike">
                <a:solidFill>
                  <a:srgbClr val="5CB6FF"/>
                </a:solidFill>
                <a:effectLst/>
                <a:uFillTx/>
                <a:latin typeface="Calibri"/>
                <a:ea typeface="Calibri"/>
              </a:rPr>
              <a:t>Azure</a:t>
            </a:r>
            <a:r>
              <a:rPr lang="en-US" sz="2200" b="1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  ·  </a:t>
            </a:r>
            <a:r>
              <a:rPr lang="en-US" sz="2200" b="1" u="none" strike="noStrike">
                <a:solidFill>
                  <a:srgbClr val="8AB4F8"/>
                </a:solidFill>
                <a:effectLst/>
                <a:uFillTx/>
                <a:latin typeface="Calibri"/>
                <a:ea typeface="Calibri"/>
              </a:rPr>
              <a:t>Google Cloud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Glass card 1"/>
          <p:cNvSpPr/>
          <p:nvPr/>
        </p:nvSpPr>
        <p:spPr>
          <a:xfrm>
            <a:off x="640080" y="4709160"/>
            <a:ext cx="4845960" cy="1188360"/>
          </a:xfrm>
          <a:prstGeom prst="roundRect">
            <a:avLst>
              <a:gd name="adj" fmla="val 1384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914400" y="4846320"/>
            <a:ext cx="438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Namini Itankar</a:t>
            </a:r>
            <a:endParaRPr lang="en-IN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Cloud Computing  |  JD </a:t>
            </a: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College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Glass card 2"/>
          <p:cNvSpPr/>
          <p:nvPr/>
        </p:nvSpPr>
        <p:spPr>
          <a:xfrm>
            <a:off x="8503920" y="3429000"/>
            <a:ext cx="1737000" cy="502560"/>
          </a:xfrm>
          <a:prstGeom prst="roundRect">
            <a:avLst>
              <a:gd name="adj" fmla="val 18182"/>
            </a:avLst>
          </a:prstGeom>
          <a:solidFill>
            <a:srgbClr val="5AC8FA">
              <a:alpha val="18000"/>
            </a:srgbClr>
          </a:solidFill>
          <a:ln w="12700">
            <a:solidFill>
              <a:srgbClr val="5AC8FA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8686800" y="3620880"/>
            <a:ext cx="109440" cy="109440"/>
          </a:xfrm>
          <a:prstGeom prst="ellipse">
            <a:avLst/>
          </a:prstGeom>
          <a:solidFill>
            <a:srgbClr val="7CF0A8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8869680" y="3620880"/>
            <a:ext cx="109440" cy="109440"/>
          </a:xfrm>
          <a:prstGeom prst="ellipse">
            <a:avLst/>
          </a:prstGeom>
          <a:solidFill>
            <a:srgbClr val="5AC8F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9052560" y="3620880"/>
            <a:ext cx="109440" cy="109440"/>
          </a:xfrm>
          <a:prstGeom prst="ellipse">
            <a:avLst/>
          </a:prstGeom>
          <a:solidFill>
            <a:srgbClr val="5AC8F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9326880" y="3630240"/>
            <a:ext cx="731160" cy="9108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Glass card 3"/>
          <p:cNvSpPr/>
          <p:nvPr/>
        </p:nvSpPr>
        <p:spPr>
          <a:xfrm>
            <a:off x="8503920" y="4050720"/>
            <a:ext cx="1737000" cy="502560"/>
          </a:xfrm>
          <a:prstGeom prst="roundRect">
            <a:avLst>
              <a:gd name="adj" fmla="val 18182"/>
            </a:avLst>
          </a:prstGeom>
          <a:solidFill>
            <a:srgbClr val="5AC8FA">
              <a:alpha val="18000"/>
            </a:srgbClr>
          </a:solidFill>
          <a:ln w="12700">
            <a:solidFill>
              <a:srgbClr val="5AC8FA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0"/>
          <p:cNvSpPr/>
          <p:nvPr/>
        </p:nvSpPr>
        <p:spPr>
          <a:xfrm>
            <a:off x="8686800" y="4242960"/>
            <a:ext cx="109440" cy="109440"/>
          </a:xfrm>
          <a:prstGeom prst="ellipse">
            <a:avLst/>
          </a:prstGeom>
          <a:solidFill>
            <a:srgbClr val="7CF0A8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1"/>
          <p:cNvSpPr/>
          <p:nvPr/>
        </p:nvSpPr>
        <p:spPr>
          <a:xfrm>
            <a:off x="8869680" y="4242960"/>
            <a:ext cx="109440" cy="109440"/>
          </a:xfrm>
          <a:prstGeom prst="ellipse">
            <a:avLst/>
          </a:prstGeom>
          <a:solidFill>
            <a:srgbClr val="5AC8F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2"/>
          <p:cNvSpPr/>
          <p:nvPr/>
        </p:nvSpPr>
        <p:spPr>
          <a:xfrm>
            <a:off x="9052560" y="4242960"/>
            <a:ext cx="109440" cy="109440"/>
          </a:xfrm>
          <a:prstGeom prst="ellipse">
            <a:avLst/>
          </a:prstGeom>
          <a:solidFill>
            <a:srgbClr val="5AC8F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3"/>
          <p:cNvSpPr/>
          <p:nvPr/>
        </p:nvSpPr>
        <p:spPr>
          <a:xfrm>
            <a:off x="9326880" y="4251960"/>
            <a:ext cx="731160" cy="9108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Glass card 4"/>
          <p:cNvSpPr/>
          <p:nvPr/>
        </p:nvSpPr>
        <p:spPr>
          <a:xfrm>
            <a:off x="8503920" y="4672440"/>
            <a:ext cx="1737000" cy="502560"/>
          </a:xfrm>
          <a:prstGeom prst="roundRect">
            <a:avLst>
              <a:gd name="adj" fmla="val 18182"/>
            </a:avLst>
          </a:prstGeom>
          <a:solidFill>
            <a:srgbClr val="5AC8FA">
              <a:alpha val="18000"/>
            </a:srgbClr>
          </a:solidFill>
          <a:ln w="12700">
            <a:solidFill>
              <a:srgbClr val="5AC8FA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5"/>
          <p:cNvSpPr/>
          <p:nvPr/>
        </p:nvSpPr>
        <p:spPr>
          <a:xfrm>
            <a:off x="8686800" y="4864680"/>
            <a:ext cx="109440" cy="109440"/>
          </a:xfrm>
          <a:prstGeom prst="ellipse">
            <a:avLst/>
          </a:prstGeom>
          <a:solidFill>
            <a:srgbClr val="7CF0A8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6"/>
          <p:cNvSpPr/>
          <p:nvPr/>
        </p:nvSpPr>
        <p:spPr>
          <a:xfrm>
            <a:off x="8869680" y="4864680"/>
            <a:ext cx="109440" cy="109440"/>
          </a:xfrm>
          <a:prstGeom prst="ellipse">
            <a:avLst/>
          </a:prstGeom>
          <a:solidFill>
            <a:srgbClr val="5AC8F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7"/>
          <p:cNvSpPr/>
          <p:nvPr/>
        </p:nvSpPr>
        <p:spPr>
          <a:xfrm>
            <a:off x="9052560" y="4864680"/>
            <a:ext cx="109440" cy="109440"/>
          </a:xfrm>
          <a:prstGeom prst="ellipse">
            <a:avLst/>
          </a:prstGeom>
          <a:solidFill>
            <a:srgbClr val="5AC8F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8"/>
          <p:cNvSpPr/>
          <p:nvPr/>
        </p:nvSpPr>
        <p:spPr>
          <a:xfrm>
            <a:off x="9326880" y="4873680"/>
            <a:ext cx="731160" cy="9108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sldNum" idx="7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AB23EE-5E87-4B89-BDD7-38A7CA52D7F5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Introduction to Cloud Computing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On-demand IT resources delivered over the internet, paid for as you use them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548640" y="16459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5AC8FA"/>
                </a:solidFill>
                <a:effectLst/>
                <a:uFillTx/>
                <a:latin typeface="Calibri"/>
                <a:ea typeface="Calibri"/>
              </a:rPr>
              <a:t>Service models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Glass card 5"/>
          <p:cNvSpPr/>
          <p:nvPr/>
        </p:nvSpPr>
        <p:spPr>
          <a:xfrm>
            <a:off x="548640" y="2103120"/>
            <a:ext cx="5486040" cy="959760"/>
          </a:xfrm>
          <a:prstGeom prst="roundRect">
            <a:avLst>
              <a:gd name="adj" fmla="val 17143"/>
            </a:avLst>
          </a:prstGeom>
          <a:solidFill>
            <a:srgbClr val="8B80F9">
              <a:alpha val="15000"/>
            </a:srgbClr>
          </a:solidFill>
          <a:ln w="12700">
            <a:solidFill>
              <a:srgbClr val="8B80F9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777240" y="2103120"/>
            <a:ext cx="1279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SaaS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2103120" y="2103120"/>
            <a:ext cx="3748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Ready-to-use software over the web, such as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webmail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Glass card 6"/>
          <p:cNvSpPr/>
          <p:nvPr/>
        </p:nvSpPr>
        <p:spPr>
          <a:xfrm>
            <a:off x="548640" y="3200400"/>
            <a:ext cx="5486040" cy="959760"/>
          </a:xfrm>
          <a:prstGeom prst="roundRect">
            <a:avLst>
              <a:gd name="adj" fmla="val 17143"/>
            </a:avLst>
          </a:prstGeom>
          <a:solidFill>
            <a:srgbClr val="5AC8FA">
              <a:alpha val="15000"/>
            </a:srgbClr>
          </a:solidFill>
          <a:ln w="12700">
            <a:solidFill>
              <a:srgbClr val="5AC8FA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7"/>
          <p:cNvSpPr/>
          <p:nvPr/>
        </p:nvSpPr>
        <p:spPr>
          <a:xfrm>
            <a:off x="777240" y="3200400"/>
            <a:ext cx="1279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8"/>
          <p:cNvSpPr/>
          <p:nvPr/>
        </p:nvSpPr>
        <p:spPr>
          <a:xfrm>
            <a:off x="2103120" y="3200400"/>
            <a:ext cx="3748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 platform to build and deploy apps, such as Elastic Beanstalk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Glass card 7"/>
          <p:cNvSpPr/>
          <p:nvPr/>
        </p:nvSpPr>
        <p:spPr>
          <a:xfrm>
            <a:off x="548640" y="4297680"/>
            <a:ext cx="5486040" cy="959760"/>
          </a:xfrm>
          <a:prstGeom prst="roundRect">
            <a:avLst>
              <a:gd name="adj" fmla="val 17143"/>
            </a:avLst>
          </a:prstGeom>
          <a:solidFill>
            <a:srgbClr val="4285F4">
              <a:alpha val="15000"/>
            </a:srgbClr>
          </a:solidFill>
          <a:ln w="12700">
            <a:solidFill>
              <a:srgbClr val="4285F4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0"/>
          <p:cNvSpPr/>
          <p:nvPr/>
        </p:nvSpPr>
        <p:spPr>
          <a:xfrm>
            <a:off x="777240" y="4297680"/>
            <a:ext cx="1279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IaaS</a:t>
            </a: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2103120" y="4297680"/>
            <a:ext cx="3748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Virtual machines, storage and networks, such as EC2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Glass card 8"/>
          <p:cNvSpPr/>
          <p:nvPr/>
        </p:nvSpPr>
        <p:spPr>
          <a:xfrm>
            <a:off x="548640" y="5440680"/>
            <a:ext cx="5486040" cy="6397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548640" y="5440680"/>
            <a:ext cx="5486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Deployment models:  Public · Private · Hybrid · Community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Glass card 9"/>
          <p:cNvSpPr/>
          <p:nvPr/>
        </p:nvSpPr>
        <p:spPr>
          <a:xfrm>
            <a:off x="6400800" y="1691640"/>
            <a:ext cx="5257440" cy="4388760"/>
          </a:xfrm>
          <a:prstGeom prst="roundRect">
            <a:avLst>
              <a:gd name="adj" fmla="val 458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5"/>
          <p:cNvSpPr/>
          <p:nvPr/>
        </p:nvSpPr>
        <p:spPr>
          <a:xfrm>
            <a:off x="6675120" y="1920240"/>
            <a:ext cx="548280" cy="54828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0" descr="Cloud icon"/>
          <p:cNvPicPr/>
          <p:nvPr/>
        </p:nvPicPr>
        <p:blipFill>
          <a:blip r:embed="rId1"/>
          <a:stretch/>
        </p:blipFill>
        <p:spPr>
          <a:xfrm>
            <a:off x="6812280" y="20574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16"/>
          <p:cNvSpPr/>
          <p:nvPr/>
        </p:nvSpPr>
        <p:spPr>
          <a:xfrm>
            <a:off x="7360920" y="1874520"/>
            <a:ext cx="4114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Five essential characteristics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As defined by NIST SP 800-145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Glass card 10"/>
          <p:cNvSpPr/>
          <p:nvPr/>
        </p:nvSpPr>
        <p:spPr>
          <a:xfrm>
            <a:off x="6675120" y="2743200"/>
            <a:ext cx="4708800" cy="5299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1" descr="CheckCircle icon"/>
          <p:cNvPicPr/>
          <p:nvPr/>
        </p:nvPicPr>
        <p:blipFill>
          <a:blip r:embed="rId2"/>
          <a:stretch/>
        </p:blipFill>
        <p:spPr>
          <a:xfrm>
            <a:off x="6858000" y="28713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18"/>
          <p:cNvSpPr/>
          <p:nvPr/>
        </p:nvSpPr>
        <p:spPr>
          <a:xfrm>
            <a:off x="7360920" y="2743200"/>
            <a:ext cx="3840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On-demand self-service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Glass card 11"/>
          <p:cNvSpPr/>
          <p:nvPr/>
        </p:nvSpPr>
        <p:spPr>
          <a:xfrm>
            <a:off x="6675120" y="3383280"/>
            <a:ext cx="4708800" cy="5299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2" descr="CheckCircle icon"/>
          <p:cNvPicPr/>
          <p:nvPr/>
        </p:nvPicPr>
        <p:blipFill>
          <a:blip r:embed="rId3"/>
          <a:stretch/>
        </p:blipFill>
        <p:spPr>
          <a:xfrm>
            <a:off x="6858000" y="35114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20"/>
          <p:cNvSpPr/>
          <p:nvPr/>
        </p:nvSpPr>
        <p:spPr>
          <a:xfrm>
            <a:off x="7360920" y="3383280"/>
            <a:ext cx="3840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Broad network access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Glass card 12"/>
          <p:cNvSpPr/>
          <p:nvPr/>
        </p:nvSpPr>
        <p:spPr>
          <a:xfrm>
            <a:off x="6675120" y="4023360"/>
            <a:ext cx="4708800" cy="5299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Image 3" descr="CheckCircle icon"/>
          <p:cNvPicPr/>
          <p:nvPr/>
        </p:nvPicPr>
        <p:blipFill>
          <a:blip r:embed="rId4"/>
          <a:stretch/>
        </p:blipFill>
        <p:spPr>
          <a:xfrm>
            <a:off x="6858000" y="41515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 22"/>
          <p:cNvSpPr/>
          <p:nvPr/>
        </p:nvSpPr>
        <p:spPr>
          <a:xfrm>
            <a:off x="7360920" y="4023360"/>
            <a:ext cx="3840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Resource pooling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Glass card 13"/>
          <p:cNvSpPr/>
          <p:nvPr/>
        </p:nvSpPr>
        <p:spPr>
          <a:xfrm>
            <a:off x="6675120" y="4663440"/>
            <a:ext cx="4708800" cy="5299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4" descr="CheckCircle icon"/>
          <p:cNvPicPr/>
          <p:nvPr/>
        </p:nvPicPr>
        <p:blipFill>
          <a:blip r:embed="rId5"/>
          <a:stretch/>
        </p:blipFill>
        <p:spPr>
          <a:xfrm>
            <a:off x="6858000" y="47916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24"/>
          <p:cNvSpPr/>
          <p:nvPr/>
        </p:nvSpPr>
        <p:spPr>
          <a:xfrm>
            <a:off x="7360920" y="4663440"/>
            <a:ext cx="3840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Rapid elasticity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Glass card 14"/>
          <p:cNvSpPr/>
          <p:nvPr/>
        </p:nvSpPr>
        <p:spPr>
          <a:xfrm>
            <a:off x="6675120" y="5303520"/>
            <a:ext cx="4708800" cy="5299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5" descr="CheckCircle icon"/>
          <p:cNvPicPr/>
          <p:nvPr/>
        </p:nvPicPr>
        <p:blipFill>
          <a:blip r:embed="rId6"/>
          <a:stretch/>
        </p:blipFill>
        <p:spPr>
          <a:xfrm>
            <a:off x="6858000" y="54316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26"/>
          <p:cNvSpPr/>
          <p:nvPr/>
        </p:nvSpPr>
        <p:spPr>
          <a:xfrm>
            <a:off x="7360920" y="5303520"/>
            <a:ext cx="3840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Measured service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8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24F4F1-6BEC-40CD-A0E1-99B3E5B47E37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Development Environments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From a developer's keyboard to a running, scalable application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Glass card 15"/>
          <p:cNvSpPr/>
          <p:nvPr/>
        </p:nvSpPr>
        <p:spPr>
          <a:xfrm>
            <a:off x="567000" y="1783080"/>
            <a:ext cx="2422800" cy="3200040"/>
          </a:xfrm>
          <a:prstGeom prst="roundRect">
            <a:avLst>
              <a:gd name="adj" fmla="val 679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3"/>
          <p:cNvSpPr/>
          <p:nvPr/>
        </p:nvSpPr>
        <p:spPr>
          <a:xfrm>
            <a:off x="841320" y="2057400"/>
            <a:ext cx="731160" cy="73116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Image 0" descr="Users icon"/>
          <p:cNvPicPr/>
          <p:nvPr/>
        </p:nvPicPr>
        <p:blipFill>
          <a:blip r:embed="rId1"/>
          <a:stretch/>
        </p:blipFill>
        <p:spPr>
          <a:xfrm>
            <a:off x="1024200" y="22402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 4"/>
          <p:cNvSpPr/>
          <p:nvPr/>
        </p:nvSpPr>
        <p:spPr>
          <a:xfrm>
            <a:off x="841320" y="2971800"/>
            <a:ext cx="1965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Developers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841320" y="3474720"/>
            <a:ext cx="1965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Write and review code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Collaborate in teams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Work from anywhere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6"/>
          <p:cNvSpPr/>
          <p:nvPr/>
        </p:nvSpPr>
        <p:spPr>
          <a:xfrm>
            <a:off x="3044880" y="3383280"/>
            <a:ext cx="34740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lass card 16"/>
          <p:cNvSpPr/>
          <p:nvPr/>
        </p:nvSpPr>
        <p:spPr>
          <a:xfrm>
            <a:off x="3447360" y="1783080"/>
            <a:ext cx="2422800" cy="3200040"/>
          </a:xfrm>
          <a:prstGeom prst="roundRect">
            <a:avLst>
              <a:gd name="adj" fmla="val 679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8"/>
          <p:cNvSpPr/>
          <p:nvPr/>
        </p:nvSpPr>
        <p:spPr>
          <a:xfrm>
            <a:off x="3721680" y="2057400"/>
            <a:ext cx="731160" cy="731160"/>
          </a:xfrm>
          <a:prstGeom prst="ellipse">
            <a:avLst/>
          </a:prstGeom>
          <a:solidFill>
            <a:srgbClr val="8B80F9">
              <a:alpha val="30000"/>
            </a:srgbClr>
          </a:solidFill>
          <a:ln w="9525">
            <a:solidFill>
              <a:srgbClr val="8B80F9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" name="Image 1" descr="Tools icon"/>
          <p:cNvPicPr/>
          <p:nvPr/>
        </p:nvPicPr>
        <p:blipFill>
          <a:blip r:embed="rId2"/>
          <a:stretch/>
        </p:blipFill>
        <p:spPr>
          <a:xfrm>
            <a:off x="3904560" y="22402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 9"/>
          <p:cNvSpPr/>
          <p:nvPr/>
        </p:nvSpPr>
        <p:spPr>
          <a:xfrm>
            <a:off x="3721680" y="2971800"/>
            <a:ext cx="1965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Tools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0"/>
          <p:cNvSpPr/>
          <p:nvPr/>
        </p:nvSpPr>
        <p:spPr>
          <a:xfrm>
            <a:off x="3721680" y="3474720"/>
            <a:ext cx="1965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IDEs and cloud shells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Git repositories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SDKs and CLIs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1"/>
          <p:cNvSpPr/>
          <p:nvPr/>
        </p:nvSpPr>
        <p:spPr>
          <a:xfrm>
            <a:off x="5925240" y="3383280"/>
            <a:ext cx="34740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Glass card 17"/>
          <p:cNvSpPr/>
          <p:nvPr/>
        </p:nvSpPr>
        <p:spPr>
          <a:xfrm>
            <a:off x="6327720" y="1783080"/>
            <a:ext cx="2422800" cy="3200040"/>
          </a:xfrm>
          <a:prstGeom prst="roundRect">
            <a:avLst>
              <a:gd name="adj" fmla="val 679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3"/>
          <p:cNvSpPr/>
          <p:nvPr/>
        </p:nvSpPr>
        <p:spPr>
          <a:xfrm>
            <a:off x="6602040" y="2057400"/>
            <a:ext cx="731160" cy="731160"/>
          </a:xfrm>
          <a:prstGeom prst="ellipse">
            <a:avLst/>
          </a:prstGeom>
          <a:solidFill>
            <a:srgbClr val="4285F4">
              <a:alpha val="30000"/>
            </a:srgbClr>
          </a:solidFill>
          <a:ln w="9525">
            <a:solidFill>
              <a:srgbClr val="4285F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" name="Image 2" descr="Server icon"/>
          <p:cNvPicPr/>
          <p:nvPr/>
        </p:nvPicPr>
        <p:blipFill>
          <a:blip r:embed="rId3"/>
          <a:stretch/>
        </p:blipFill>
        <p:spPr>
          <a:xfrm>
            <a:off x="6784920" y="22402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 14"/>
          <p:cNvSpPr/>
          <p:nvPr/>
        </p:nvSpPr>
        <p:spPr>
          <a:xfrm>
            <a:off x="6602040" y="2971800"/>
            <a:ext cx="1965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Infrastructure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5"/>
          <p:cNvSpPr/>
          <p:nvPr/>
        </p:nvSpPr>
        <p:spPr>
          <a:xfrm>
            <a:off x="6602040" y="3474720"/>
            <a:ext cx="1965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Compute and containers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Storage and databases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Networking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6"/>
          <p:cNvSpPr/>
          <p:nvPr/>
        </p:nvSpPr>
        <p:spPr>
          <a:xfrm>
            <a:off x="8805600" y="3383280"/>
            <a:ext cx="34740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Glass card 18"/>
          <p:cNvSpPr/>
          <p:nvPr/>
        </p:nvSpPr>
        <p:spPr>
          <a:xfrm>
            <a:off x="9208080" y="1783080"/>
            <a:ext cx="2422800" cy="3200040"/>
          </a:xfrm>
          <a:prstGeom prst="roundRect">
            <a:avLst>
              <a:gd name="adj" fmla="val 679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8"/>
          <p:cNvSpPr/>
          <p:nvPr/>
        </p:nvSpPr>
        <p:spPr>
          <a:xfrm>
            <a:off x="9482400" y="2057400"/>
            <a:ext cx="731160" cy="731160"/>
          </a:xfrm>
          <a:prstGeom prst="ellipse">
            <a:avLst/>
          </a:prstGeom>
          <a:solidFill>
            <a:srgbClr val="34C77B">
              <a:alpha val="30000"/>
            </a:srgbClr>
          </a:solidFill>
          <a:ln w="9525">
            <a:solidFill>
              <a:srgbClr val="34C77B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 3" descr="Rocket icon"/>
          <p:cNvPicPr/>
          <p:nvPr/>
        </p:nvPicPr>
        <p:blipFill>
          <a:blip r:embed="rId4"/>
          <a:stretch/>
        </p:blipFill>
        <p:spPr>
          <a:xfrm>
            <a:off x="9665280" y="22402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 19"/>
          <p:cNvSpPr/>
          <p:nvPr/>
        </p:nvSpPr>
        <p:spPr>
          <a:xfrm>
            <a:off x="9482400" y="2971800"/>
            <a:ext cx="1965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Deployment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0"/>
          <p:cNvSpPr/>
          <p:nvPr/>
        </p:nvSpPr>
        <p:spPr>
          <a:xfrm>
            <a:off x="9482400" y="3474720"/>
            <a:ext cx="1965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CI/CD pipelines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Scalable hosting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Monitoring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Glass card 19"/>
          <p:cNvSpPr/>
          <p:nvPr/>
        </p:nvSpPr>
        <p:spPr>
          <a:xfrm>
            <a:off x="567000" y="5349240"/>
            <a:ext cx="11063880" cy="685440"/>
          </a:xfrm>
          <a:prstGeom prst="roundRect">
            <a:avLst>
              <a:gd name="adj" fmla="val 4933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2"/>
          <p:cNvSpPr/>
          <p:nvPr/>
        </p:nvSpPr>
        <p:spPr>
          <a:xfrm>
            <a:off x="567000" y="53492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Result: faster releases, consistent environments and easy collaboration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 idx="9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E4F740-BE06-45BB-AB89-721B5F2B7C0E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Benefits of Cloud Development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Six reasons teams build on the cloud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Glass card 20"/>
          <p:cNvSpPr/>
          <p:nvPr/>
        </p:nvSpPr>
        <p:spPr>
          <a:xfrm>
            <a:off x="475560" y="1783080"/>
            <a:ext cx="3565800" cy="2011320"/>
          </a:xfrm>
          <a:prstGeom prst="roundRect">
            <a:avLst>
              <a:gd name="adj" fmla="val 81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"/>
          <p:cNvSpPr/>
          <p:nvPr/>
        </p:nvSpPr>
        <p:spPr>
          <a:xfrm>
            <a:off x="749880" y="2057400"/>
            <a:ext cx="639720" cy="63972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age 0" descr="ExpandArrowsAlt icon"/>
          <p:cNvPicPr/>
          <p:nvPr/>
        </p:nvPicPr>
        <p:blipFill>
          <a:blip r:embed="rId1"/>
          <a:stretch/>
        </p:blipFill>
        <p:spPr>
          <a:xfrm>
            <a:off x="909720" y="2217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4"/>
          <p:cNvSpPr/>
          <p:nvPr/>
        </p:nvSpPr>
        <p:spPr>
          <a:xfrm>
            <a:off x="1572840" y="2057400"/>
            <a:ext cx="2285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Scalability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749880" y="288036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5DCF2"/>
                </a:solidFill>
                <a:effectLst/>
                <a:uFillTx/>
                <a:latin typeface="Calibri"/>
                <a:ea typeface="Calibri"/>
              </a:rPr>
              <a:t>Resources grow or shrink with demand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Glass card 21"/>
          <p:cNvSpPr/>
          <p:nvPr/>
        </p:nvSpPr>
        <p:spPr>
          <a:xfrm>
            <a:off x="4316040" y="1783080"/>
            <a:ext cx="3565800" cy="2011320"/>
          </a:xfrm>
          <a:prstGeom prst="roundRect">
            <a:avLst>
              <a:gd name="adj" fmla="val 81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7"/>
          <p:cNvSpPr/>
          <p:nvPr/>
        </p:nvSpPr>
        <p:spPr>
          <a:xfrm>
            <a:off x="4590360" y="2057400"/>
            <a:ext cx="639720" cy="639720"/>
          </a:xfrm>
          <a:prstGeom prst="ellipse">
            <a:avLst/>
          </a:prstGeom>
          <a:solidFill>
            <a:srgbClr val="8B80F9">
              <a:alpha val="30000"/>
            </a:srgbClr>
          </a:solidFill>
          <a:ln w="9525">
            <a:solidFill>
              <a:srgbClr val="8B80F9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1" descr="SlidersH icon"/>
          <p:cNvPicPr/>
          <p:nvPr/>
        </p:nvPicPr>
        <p:blipFill>
          <a:blip r:embed="rId2"/>
          <a:stretch/>
        </p:blipFill>
        <p:spPr>
          <a:xfrm>
            <a:off x="4750200" y="2217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8"/>
          <p:cNvSpPr/>
          <p:nvPr/>
        </p:nvSpPr>
        <p:spPr>
          <a:xfrm>
            <a:off x="5413320" y="2057400"/>
            <a:ext cx="2285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Flexibility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4590360" y="288036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5DCF2"/>
                </a:solidFill>
                <a:effectLst/>
                <a:uFillTx/>
                <a:latin typeface="Calibri"/>
                <a:ea typeface="Calibri"/>
              </a:rPr>
              <a:t>Pick the languages, frameworks and services you need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Glass card 22"/>
          <p:cNvSpPr/>
          <p:nvPr/>
        </p:nvSpPr>
        <p:spPr>
          <a:xfrm>
            <a:off x="8156520" y="1783080"/>
            <a:ext cx="3565800" cy="2011320"/>
          </a:xfrm>
          <a:prstGeom prst="roundRect">
            <a:avLst>
              <a:gd name="adj" fmla="val 81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1"/>
          <p:cNvSpPr/>
          <p:nvPr/>
        </p:nvSpPr>
        <p:spPr>
          <a:xfrm>
            <a:off x="8430840" y="2057400"/>
            <a:ext cx="639720" cy="639720"/>
          </a:xfrm>
          <a:prstGeom prst="ellipse">
            <a:avLst/>
          </a:prstGeom>
          <a:solidFill>
            <a:srgbClr val="4285F4">
              <a:alpha val="30000"/>
            </a:srgbClr>
          </a:solidFill>
          <a:ln w="9525">
            <a:solidFill>
              <a:srgbClr val="4285F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2" descr="Users icon"/>
          <p:cNvPicPr/>
          <p:nvPr/>
        </p:nvPicPr>
        <p:blipFill>
          <a:blip r:embed="rId3"/>
          <a:stretch/>
        </p:blipFill>
        <p:spPr>
          <a:xfrm>
            <a:off x="8590680" y="2217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12"/>
          <p:cNvSpPr/>
          <p:nvPr/>
        </p:nvSpPr>
        <p:spPr>
          <a:xfrm>
            <a:off x="9253800" y="2057400"/>
            <a:ext cx="2285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Collaboration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3"/>
          <p:cNvSpPr/>
          <p:nvPr/>
        </p:nvSpPr>
        <p:spPr>
          <a:xfrm>
            <a:off x="8430840" y="288036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5DCF2"/>
                </a:solidFill>
                <a:effectLst/>
                <a:uFillTx/>
                <a:latin typeface="Calibri"/>
                <a:ea typeface="Calibri"/>
              </a:rPr>
              <a:t>Teams share code, environments and pipelines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Glass card 23"/>
          <p:cNvSpPr/>
          <p:nvPr/>
        </p:nvSpPr>
        <p:spPr>
          <a:xfrm>
            <a:off x="475560" y="4023360"/>
            <a:ext cx="3565800" cy="2011320"/>
          </a:xfrm>
          <a:prstGeom prst="roundRect">
            <a:avLst>
              <a:gd name="adj" fmla="val 81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5"/>
          <p:cNvSpPr/>
          <p:nvPr/>
        </p:nvSpPr>
        <p:spPr>
          <a:xfrm>
            <a:off x="749880" y="4297680"/>
            <a:ext cx="639720" cy="639720"/>
          </a:xfrm>
          <a:prstGeom prst="ellipse">
            <a:avLst/>
          </a:prstGeom>
          <a:solidFill>
            <a:srgbClr val="8B80F9">
              <a:alpha val="30000"/>
            </a:srgbClr>
          </a:solidFill>
          <a:ln w="9525">
            <a:solidFill>
              <a:srgbClr val="8B80F9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1" name="Image 3" descr="Cogs icon"/>
          <p:cNvPicPr/>
          <p:nvPr/>
        </p:nvPicPr>
        <p:blipFill>
          <a:blip r:embed="rId4"/>
          <a:stretch/>
        </p:blipFill>
        <p:spPr>
          <a:xfrm>
            <a:off x="909720" y="44578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 16"/>
          <p:cNvSpPr/>
          <p:nvPr/>
        </p:nvSpPr>
        <p:spPr>
          <a:xfrm>
            <a:off x="1572840" y="4297680"/>
            <a:ext cx="2285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Automation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7"/>
          <p:cNvSpPr/>
          <p:nvPr/>
        </p:nvSpPr>
        <p:spPr>
          <a:xfrm>
            <a:off x="749880" y="512064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5DCF2"/>
                </a:solidFill>
                <a:effectLst/>
                <a:uFillTx/>
                <a:latin typeface="Calibri"/>
                <a:ea typeface="Calibri"/>
              </a:rPr>
              <a:t>Infrastructure and releases run as code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Glass card 24"/>
          <p:cNvSpPr/>
          <p:nvPr/>
        </p:nvSpPr>
        <p:spPr>
          <a:xfrm>
            <a:off x="4316040" y="4023360"/>
            <a:ext cx="3565800" cy="2011320"/>
          </a:xfrm>
          <a:prstGeom prst="roundRect">
            <a:avLst>
              <a:gd name="adj" fmla="val 81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9"/>
          <p:cNvSpPr/>
          <p:nvPr/>
        </p:nvSpPr>
        <p:spPr>
          <a:xfrm>
            <a:off x="4590360" y="4297680"/>
            <a:ext cx="639720" cy="63972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age 4" descr="Globe icon"/>
          <p:cNvPicPr/>
          <p:nvPr/>
        </p:nvPicPr>
        <p:blipFill>
          <a:blip r:embed="rId5"/>
          <a:stretch/>
        </p:blipFill>
        <p:spPr>
          <a:xfrm>
            <a:off x="4750200" y="44578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20"/>
          <p:cNvSpPr/>
          <p:nvPr/>
        </p:nvSpPr>
        <p:spPr>
          <a:xfrm>
            <a:off x="5413320" y="4297680"/>
            <a:ext cx="2285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Availability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1"/>
          <p:cNvSpPr/>
          <p:nvPr/>
        </p:nvSpPr>
        <p:spPr>
          <a:xfrm>
            <a:off x="4590360" y="512064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5DCF2"/>
                </a:solidFill>
                <a:effectLst/>
                <a:uFillTx/>
                <a:latin typeface="Calibri"/>
                <a:ea typeface="Calibri"/>
              </a:rPr>
              <a:t>Multiple regions and zones keep apps online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Glass card 25"/>
          <p:cNvSpPr/>
          <p:nvPr/>
        </p:nvSpPr>
        <p:spPr>
          <a:xfrm>
            <a:off x="8156520" y="4023360"/>
            <a:ext cx="3565800" cy="2011320"/>
          </a:xfrm>
          <a:prstGeom prst="roundRect">
            <a:avLst>
              <a:gd name="adj" fmla="val 81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3"/>
          <p:cNvSpPr/>
          <p:nvPr/>
        </p:nvSpPr>
        <p:spPr>
          <a:xfrm>
            <a:off x="8430840" y="4297680"/>
            <a:ext cx="639720" cy="639720"/>
          </a:xfrm>
          <a:prstGeom prst="ellipse">
            <a:avLst/>
          </a:prstGeom>
          <a:solidFill>
            <a:srgbClr val="34C77B">
              <a:alpha val="30000"/>
            </a:srgbClr>
          </a:solidFill>
          <a:ln w="9525">
            <a:solidFill>
              <a:srgbClr val="34C77B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Image 5" descr="PiggyBank icon"/>
          <p:cNvPicPr/>
          <p:nvPr/>
        </p:nvPicPr>
        <p:blipFill>
          <a:blip r:embed="rId6"/>
          <a:stretch/>
        </p:blipFill>
        <p:spPr>
          <a:xfrm>
            <a:off x="8590680" y="44578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 24"/>
          <p:cNvSpPr/>
          <p:nvPr/>
        </p:nvSpPr>
        <p:spPr>
          <a:xfrm>
            <a:off x="9253800" y="4297680"/>
            <a:ext cx="2285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Cost efficiency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5"/>
          <p:cNvSpPr/>
          <p:nvPr/>
        </p:nvSpPr>
        <p:spPr>
          <a:xfrm>
            <a:off x="8430840" y="512064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5DCF2"/>
                </a:solidFill>
                <a:effectLst/>
                <a:uFillTx/>
                <a:latin typeface="Calibri"/>
                <a:ea typeface="Calibri"/>
              </a:rPr>
              <a:t>Pay only for what you use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ldNum" idx="10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8381CA-386D-40CB-8875-0D091F6C7B8C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Amazon Web Services (AWS)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The broadest portfolio of cloud services, from servers to CI/CD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Glass card 26"/>
          <p:cNvSpPr/>
          <p:nvPr/>
        </p:nvSpPr>
        <p:spPr>
          <a:xfrm>
            <a:off x="548640" y="178308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3"/>
          <p:cNvSpPr/>
          <p:nvPr/>
        </p:nvSpPr>
        <p:spPr>
          <a:xfrm>
            <a:off x="658440" y="1892880"/>
            <a:ext cx="420120" cy="420120"/>
          </a:xfrm>
          <a:prstGeom prst="ellipse">
            <a:avLst/>
          </a:prstGeom>
          <a:solidFill>
            <a:srgbClr val="FF9900">
              <a:alpha val="30000"/>
            </a:srgbClr>
          </a:solidFill>
          <a:ln w="9525">
            <a:solidFill>
              <a:srgbClr val="FF9900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" name="Image 0" descr="Server icon"/>
          <p:cNvPicPr/>
          <p:nvPr/>
        </p:nvPicPr>
        <p:blipFill>
          <a:blip r:embed="rId1"/>
          <a:stretch/>
        </p:blipFill>
        <p:spPr>
          <a:xfrm>
            <a:off x="763560" y="199800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 4"/>
          <p:cNvSpPr/>
          <p:nvPr/>
        </p:nvSpPr>
        <p:spPr>
          <a:xfrm>
            <a:off x="1234440" y="185616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Amazon EC2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Resizable virtual servers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Glass card 27"/>
          <p:cNvSpPr/>
          <p:nvPr/>
        </p:nvSpPr>
        <p:spPr>
          <a:xfrm>
            <a:off x="548640" y="253296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6"/>
          <p:cNvSpPr/>
          <p:nvPr/>
        </p:nvSpPr>
        <p:spPr>
          <a:xfrm>
            <a:off x="658440" y="2642760"/>
            <a:ext cx="420120" cy="420120"/>
          </a:xfrm>
          <a:prstGeom prst="ellipse">
            <a:avLst/>
          </a:prstGeom>
          <a:solidFill>
            <a:srgbClr val="FF9900">
              <a:alpha val="30000"/>
            </a:srgbClr>
          </a:solidFill>
          <a:ln w="9525">
            <a:solidFill>
              <a:srgbClr val="FF9900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 1" descr="Bolt icon"/>
          <p:cNvPicPr/>
          <p:nvPr/>
        </p:nvPicPr>
        <p:blipFill>
          <a:blip r:embed="rId2"/>
          <a:stretch/>
        </p:blipFill>
        <p:spPr>
          <a:xfrm>
            <a:off x="763560" y="274788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 7"/>
          <p:cNvSpPr/>
          <p:nvPr/>
        </p:nvSpPr>
        <p:spPr>
          <a:xfrm>
            <a:off x="1234440" y="260604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AWS Lambda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Run code without managing servers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Glass card 28"/>
          <p:cNvSpPr/>
          <p:nvPr/>
        </p:nvSpPr>
        <p:spPr>
          <a:xfrm>
            <a:off x="548640" y="328284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9"/>
          <p:cNvSpPr/>
          <p:nvPr/>
        </p:nvSpPr>
        <p:spPr>
          <a:xfrm>
            <a:off x="658440" y="3392280"/>
            <a:ext cx="420120" cy="420120"/>
          </a:xfrm>
          <a:prstGeom prst="ellipse">
            <a:avLst/>
          </a:prstGeom>
          <a:solidFill>
            <a:srgbClr val="FF9900">
              <a:alpha val="30000"/>
            </a:srgbClr>
          </a:solidFill>
          <a:ln w="9525">
            <a:solidFill>
              <a:srgbClr val="FF9900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Image 2" descr="LayerGroup icon"/>
          <p:cNvPicPr/>
          <p:nvPr/>
        </p:nvPicPr>
        <p:blipFill>
          <a:blip r:embed="rId3"/>
          <a:stretch/>
        </p:blipFill>
        <p:spPr>
          <a:xfrm>
            <a:off x="763560" y="349776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 10"/>
          <p:cNvSpPr/>
          <p:nvPr/>
        </p:nvSpPr>
        <p:spPr>
          <a:xfrm>
            <a:off x="1234440" y="335592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AWS Elastic Beanstalk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Deploy web apps; AWS handles the setup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Glass card 29"/>
          <p:cNvSpPr/>
          <p:nvPr/>
        </p:nvSpPr>
        <p:spPr>
          <a:xfrm>
            <a:off x="548640" y="403236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2"/>
          <p:cNvSpPr/>
          <p:nvPr/>
        </p:nvSpPr>
        <p:spPr>
          <a:xfrm>
            <a:off x="658440" y="4142160"/>
            <a:ext cx="420120" cy="420120"/>
          </a:xfrm>
          <a:prstGeom prst="ellipse">
            <a:avLst/>
          </a:prstGeom>
          <a:solidFill>
            <a:srgbClr val="FF9900">
              <a:alpha val="30000"/>
            </a:srgbClr>
          </a:solidFill>
          <a:ln w="9525">
            <a:solidFill>
              <a:srgbClr val="FF9900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Image 3" descr="Archive icon"/>
          <p:cNvPicPr/>
          <p:nvPr/>
        </p:nvPicPr>
        <p:blipFill>
          <a:blip r:embed="rId4"/>
          <a:stretch/>
        </p:blipFill>
        <p:spPr>
          <a:xfrm>
            <a:off x="763560" y="424728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ext 13"/>
          <p:cNvSpPr/>
          <p:nvPr/>
        </p:nvSpPr>
        <p:spPr>
          <a:xfrm>
            <a:off x="1234440" y="410580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Amazon S3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Scalable object storage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Glass card 30"/>
          <p:cNvSpPr/>
          <p:nvPr/>
        </p:nvSpPr>
        <p:spPr>
          <a:xfrm>
            <a:off x="548640" y="478224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5"/>
          <p:cNvSpPr/>
          <p:nvPr/>
        </p:nvSpPr>
        <p:spPr>
          <a:xfrm>
            <a:off x="658440" y="4892040"/>
            <a:ext cx="420120" cy="420120"/>
          </a:xfrm>
          <a:prstGeom prst="ellipse">
            <a:avLst/>
          </a:prstGeom>
          <a:solidFill>
            <a:srgbClr val="FF9900">
              <a:alpha val="30000"/>
            </a:srgbClr>
          </a:solidFill>
          <a:ln w="9525">
            <a:solidFill>
              <a:srgbClr val="FF9900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Image 4" descr="Database icon"/>
          <p:cNvPicPr/>
          <p:nvPr/>
        </p:nvPicPr>
        <p:blipFill>
          <a:blip r:embed="rId5"/>
          <a:stretch/>
        </p:blipFill>
        <p:spPr>
          <a:xfrm>
            <a:off x="763560" y="499716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Text 16"/>
          <p:cNvSpPr/>
          <p:nvPr/>
        </p:nvSpPr>
        <p:spPr>
          <a:xfrm>
            <a:off x="1234440" y="485532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Amazon RDS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Managed relational databases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Glass card 31"/>
          <p:cNvSpPr/>
          <p:nvPr/>
        </p:nvSpPr>
        <p:spPr>
          <a:xfrm>
            <a:off x="548640" y="553212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8"/>
          <p:cNvSpPr/>
          <p:nvPr/>
        </p:nvSpPr>
        <p:spPr>
          <a:xfrm>
            <a:off x="658440" y="5641920"/>
            <a:ext cx="420120" cy="420120"/>
          </a:xfrm>
          <a:prstGeom prst="ellipse">
            <a:avLst/>
          </a:prstGeom>
          <a:solidFill>
            <a:srgbClr val="FF9900">
              <a:alpha val="30000"/>
            </a:srgbClr>
          </a:solidFill>
          <a:ln w="9525">
            <a:solidFill>
              <a:srgbClr val="FF9900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Image 5" descr="CodeBranch icon"/>
          <p:cNvPicPr/>
          <p:nvPr/>
        </p:nvPicPr>
        <p:blipFill>
          <a:blip r:embed="rId6"/>
          <a:stretch/>
        </p:blipFill>
        <p:spPr>
          <a:xfrm>
            <a:off x="763560" y="574704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 19"/>
          <p:cNvSpPr/>
          <p:nvPr/>
        </p:nvSpPr>
        <p:spPr>
          <a:xfrm>
            <a:off x="1234440" y="560520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AWS CodePipeline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Automated CI/CD release pipelines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Glass card 32"/>
          <p:cNvSpPr/>
          <p:nvPr/>
        </p:nvSpPr>
        <p:spPr>
          <a:xfrm>
            <a:off x="5303520" y="1783080"/>
            <a:ext cx="6354720" cy="4434480"/>
          </a:xfrm>
          <a:prstGeom prst="roundRect">
            <a:avLst>
              <a:gd name="adj" fmla="val 453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1"/>
          <p:cNvSpPr/>
          <p:nvPr/>
        </p:nvSpPr>
        <p:spPr>
          <a:xfrm>
            <a:off x="5577840" y="19659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AWS application architecture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Glass card 33"/>
          <p:cNvSpPr/>
          <p:nvPr/>
        </p:nvSpPr>
        <p:spPr>
          <a:xfrm>
            <a:off x="548640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3"/>
          <p:cNvSpPr/>
          <p:nvPr/>
        </p:nvSpPr>
        <p:spPr>
          <a:xfrm>
            <a:off x="554112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Glass card 34"/>
          <p:cNvSpPr/>
          <p:nvPr/>
        </p:nvSpPr>
        <p:spPr>
          <a:xfrm>
            <a:off x="702576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5"/>
          <p:cNvSpPr/>
          <p:nvPr/>
        </p:nvSpPr>
        <p:spPr>
          <a:xfrm>
            <a:off x="708048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Route 53 + CloudFront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Glass card 35"/>
          <p:cNvSpPr/>
          <p:nvPr/>
        </p:nvSpPr>
        <p:spPr>
          <a:xfrm>
            <a:off x="856476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7"/>
          <p:cNvSpPr/>
          <p:nvPr/>
        </p:nvSpPr>
        <p:spPr>
          <a:xfrm>
            <a:off x="861984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Elastic Load Balancing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Glass card 36"/>
          <p:cNvSpPr/>
          <p:nvPr/>
        </p:nvSpPr>
        <p:spPr>
          <a:xfrm>
            <a:off x="1010412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9"/>
          <p:cNvSpPr/>
          <p:nvPr/>
        </p:nvSpPr>
        <p:spPr>
          <a:xfrm>
            <a:off x="1015884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AWS Lambda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Glass card 37"/>
          <p:cNvSpPr/>
          <p:nvPr/>
        </p:nvSpPr>
        <p:spPr>
          <a:xfrm>
            <a:off x="548640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1"/>
          <p:cNvSpPr/>
          <p:nvPr/>
        </p:nvSpPr>
        <p:spPr>
          <a:xfrm>
            <a:off x="554112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Developers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Glass card 38"/>
          <p:cNvSpPr/>
          <p:nvPr/>
        </p:nvSpPr>
        <p:spPr>
          <a:xfrm>
            <a:off x="702576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3"/>
          <p:cNvSpPr/>
          <p:nvPr/>
        </p:nvSpPr>
        <p:spPr>
          <a:xfrm>
            <a:off x="708048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AWS CodePipeline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Glass card 39"/>
          <p:cNvSpPr/>
          <p:nvPr/>
        </p:nvSpPr>
        <p:spPr>
          <a:xfrm>
            <a:off x="856476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5"/>
          <p:cNvSpPr/>
          <p:nvPr/>
        </p:nvSpPr>
        <p:spPr>
          <a:xfrm>
            <a:off x="861984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EC2 / Elastic Beanstalk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Glass card 40"/>
          <p:cNvSpPr/>
          <p:nvPr/>
        </p:nvSpPr>
        <p:spPr>
          <a:xfrm>
            <a:off x="1010412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7"/>
          <p:cNvSpPr/>
          <p:nvPr/>
        </p:nvSpPr>
        <p:spPr>
          <a:xfrm>
            <a:off x="1015884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Amazon RDS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Glass card 41"/>
          <p:cNvSpPr/>
          <p:nvPr/>
        </p:nvSpPr>
        <p:spPr>
          <a:xfrm>
            <a:off x="8564760" y="512064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9"/>
          <p:cNvSpPr/>
          <p:nvPr/>
        </p:nvSpPr>
        <p:spPr>
          <a:xfrm>
            <a:off x="8619840" y="512064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Amazon S3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40"/>
          <p:cNvSpPr/>
          <p:nvPr/>
        </p:nvSpPr>
        <p:spPr>
          <a:xfrm>
            <a:off x="6876000" y="2948760"/>
            <a:ext cx="131040" cy="360"/>
          </a:xfrm>
          <a:prstGeom prst="line">
            <a:avLst/>
          </a:prstGeom>
          <a:ln w="22225">
            <a:solidFill>
              <a:srgbClr val="FF99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41"/>
          <p:cNvSpPr/>
          <p:nvPr/>
        </p:nvSpPr>
        <p:spPr>
          <a:xfrm>
            <a:off x="8415360" y="2948760"/>
            <a:ext cx="131040" cy="360"/>
          </a:xfrm>
          <a:prstGeom prst="line">
            <a:avLst/>
          </a:prstGeom>
          <a:ln w="22225">
            <a:solidFill>
              <a:srgbClr val="FF99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42"/>
          <p:cNvSpPr/>
          <p:nvPr/>
        </p:nvSpPr>
        <p:spPr>
          <a:xfrm>
            <a:off x="9954720" y="2948760"/>
            <a:ext cx="131040" cy="360"/>
          </a:xfrm>
          <a:prstGeom prst="line">
            <a:avLst/>
          </a:prstGeom>
          <a:ln w="22225">
            <a:solidFill>
              <a:srgbClr val="FF99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43"/>
          <p:cNvSpPr/>
          <p:nvPr/>
        </p:nvSpPr>
        <p:spPr>
          <a:xfrm>
            <a:off x="6876000" y="4228920"/>
            <a:ext cx="131040" cy="360"/>
          </a:xfrm>
          <a:prstGeom prst="line">
            <a:avLst/>
          </a:prstGeom>
          <a:ln w="22225">
            <a:solidFill>
              <a:srgbClr val="FF99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44"/>
          <p:cNvSpPr/>
          <p:nvPr/>
        </p:nvSpPr>
        <p:spPr>
          <a:xfrm>
            <a:off x="8415360" y="4228920"/>
            <a:ext cx="131040" cy="360"/>
          </a:xfrm>
          <a:prstGeom prst="line">
            <a:avLst/>
          </a:prstGeom>
          <a:ln w="22225">
            <a:solidFill>
              <a:srgbClr val="FF99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45"/>
          <p:cNvSpPr/>
          <p:nvPr/>
        </p:nvSpPr>
        <p:spPr>
          <a:xfrm>
            <a:off x="9954720" y="4228920"/>
            <a:ext cx="131040" cy="360"/>
          </a:xfrm>
          <a:prstGeom prst="line">
            <a:avLst/>
          </a:prstGeom>
          <a:ln w="22225">
            <a:solidFill>
              <a:srgbClr val="FF99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46"/>
          <p:cNvSpPr/>
          <p:nvPr/>
        </p:nvSpPr>
        <p:spPr>
          <a:xfrm>
            <a:off x="9250560" y="3355560"/>
            <a:ext cx="360" cy="466560"/>
          </a:xfrm>
          <a:prstGeom prst="line">
            <a:avLst/>
          </a:prstGeom>
          <a:ln w="22225">
            <a:solidFill>
              <a:srgbClr val="FF99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47"/>
          <p:cNvSpPr/>
          <p:nvPr/>
        </p:nvSpPr>
        <p:spPr>
          <a:xfrm>
            <a:off x="9250560" y="4635720"/>
            <a:ext cx="360" cy="466560"/>
          </a:xfrm>
          <a:prstGeom prst="line">
            <a:avLst/>
          </a:prstGeom>
          <a:ln w="22225">
            <a:solidFill>
              <a:srgbClr val="FF99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48"/>
          <p:cNvSpPr/>
          <p:nvPr/>
        </p:nvSpPr>
        <p:spPr>
          <a:xfrm>
            <a:off x="5486400" y="521208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Top row: request path. Middle row: build and deploy path.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sldNum" idx="11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96ACDD-D056-42D8-A2A7-4218C543D410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Microsoft Azure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Enterprise-ready cloud with deep Microsoft and hybrid integration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Glass card 42"/>
          <p:cNvSpPr/>
          <p:nvPr/>
        </p:nvSpPr>
        <p:spPr>
          <a:xfrm>
            <a:off x="548640" y="178308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3"/>
          <p:cNvSpPr/>
          <p:nvPr/>
        </p:nvSpPr>
        <p:spPr>
          <a:xfrm>
            <a:off x="658440" y="1892880"/>
            <a:ext cx="420120" cy="420120"/>
          </a:xfrm>
          <a:prstGeom prst="ellipse">
            <a:avLst/>
          </a:prstGeom>
          <a:solidFill>
            <a:srgbClr val="0078D4">
              <a:alpha val="30000"/>
            </a:srgbClr>
          </a:solidFill>
          <a:ln w="9525">
            <a:solidFill>
              <a:srgbClr val="0078D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5" name="Image 0" descr="Server icon"/>
          <p:cNvPicPr/>
          <p:nvPr/>
        </p:nvPicPr>
        <p:blipFill>
          <a:blip r:embed="rId1"/>
          <a:stretch/>
        </p:blipFill>
        <p:spPr>
          <a:xfrm>
            <a:off x="763560" y="199800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 4"/>
          <p:cNvSpPr/>
          <p:nvPr/>
        </p:nvSpPr>
        <p:spPr>
          <a:xfrm>
            <a:off x="1234440" y="185616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Virtual Machines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On-demand Windows and Linux servers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Glass card 43"/>
          <p:cNvSpPr/>
          <p:nvPr/>
        </p:nvSpPr>
        <p:spPr>
          <a:xfrm>
            <a:off x="548640" y="253296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6"/>
          <p:cNvSpPr/>
          <p:nvPr/>
        </p:nvSpPr>
        <p:spPr>
          <a:xfrm>
            <a:off x="658440" y="2642760"/>
            <a:ext cx="420120" cy="420120"/>
          </a:xfrm>
          <a:prstGeom prst="ellipse">
            <a:avLst/>
          </a:prstGeom>
          <a:solidFill>
            <a:srgbClr val="0078D4">
              <a:alpha val="30000"/>
            </a:srgbClr>
          </a:solidFill>
          <a:ln w="9525">
            <a:solidFill>
              <a:srgbClr val="0078D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9" name="Image 1" descr="Bolt icon"/>
          <p:cNvPicPr/>
          <p:nvPr/>
        </p:nvPicPr>
        <p:blipFill>
          <a:blip r:embed="rId2"/>
          <a:stretch/>
        </p:blipFill>
        <p:spPr>
          <a:xfrm>
            <a:off x="763560" y="274788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Text 7"/>
          <p:cNvSpPr/>
          <p:nvPr/>
        </p:nvSpPr>
        <p:spPr>
          <a:xfrm>
            <a:off x="1234440" y="260604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Functions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Event-driven serverless code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Glass card 44"/>
          <p:cNvSpPr/>
          <p:nvPr/>
        </p:nvSpPr>
        <p:spPr>
          <a:xfrm>
            <a:off x="548640" y="328284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9"/>
          <p:cNvSpPr/>
          <p:nvPr/>
        </p:nvSpPr>
        <p:spPr>
          <a:xfrm>
            <a:off x="658440" y="3392280"/>
            <a:ext cx="420120" cy="420120"/>
          </a:xfrm>
          <a:prstGeom prst="ellipse">
            <a:avLst/>
          </a:prstGeom>
          <a:solidFill>
            <a:srgbClr val="0078D4">
              <a:alpha val="30000"/>
            </a:srgbClr>
          </a:solidFill>
          <a:ln w="9525">
            <a:solidFill>
              <a:srgbClr val="0078D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3" name="Image 2" descr="LayerGroup icon"/>
          <p:cNvPicPr/>
          <p:nvPr/>
        </p:nvPicPr>
        <p:blipFill>
          <a:blip r:embed="rId3"/>
          <a:stretch/>
        </p:blipFill>
        <p:spPr>
          <a:xfrm>
            <a:off x="763560" y="349776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Text 10"/>
          <p:cNvSpPr/>
          <p:nvPr/>
        </p:nvSpPr>
        <p:spPr>
          <a:xfrm>
            <a:off x="1234440" y="335592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App Service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Managed hosting for web apps and APIs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Glass card 45"/>
          <p:cNvSpPr/>
          <p:nvPr/>
        </p:nvSpPr>
        <p:spPr>
          <a:xfrm>
            <a:off x="548640" y="403236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2"/>
          <p:cNvSpPr/>
          <p:nvPr/>
        </p:nvSpPr>
        <p:spPr>
          <a:xfrm>
            <a:off x="658440" y="4142160"/>
            <a:ext cx="420120" cy="420120"/>
          </a:xfrm>
          <a:prstGeom prst="ellipse">
            <a:avLst/>
          </a:prstGeom>
          <a:solidFill>
            <a:srgbClr val="0078D4">
              <a:alpha val="30000"/>
            </a:srgbClr>
          </a:solidFill>
          <a:ln w="9525">
            <a:solidFill>
              <a:srgbClr val="0078D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Image 3" descr="Archive icon"/>
          <p:cNvPicPr/>
          <p:nvPr/>
        </p:nvPicPr>
        <p:blipFill>
          <a:blip r:embed="rId4"/>
          <a:stretch/>
        </p:blipFill>
        <p:spPr>
          <a:xfrm>
            <a:off x="763560" y="424728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Text 13"/>
          <p:cNvSpPr/>
          <p:nvPr/>
        </p:nvSpPr>
        <p:spPr>
          <a:xfrm>
            <a:off x="1234440" y="410580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Blob Storage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Massively scalable object storage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Glass card 46"/>
          <p:cNvSpPr/>
          <p:nvPr/>
        </p:nvSpPr>
        <p:spPr>
          <a:xfrm>
            <a:off x="548640" y="478224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5"/>
          <p:cNvSpPr/>
          <p:nvPr/>
        </p:nvSpPr>
        <p:spPr>
          <a:xfrm>
            <a:off x="658440" y="4892040"/>
            <a:ext cx="420120" cy="420120"/>
          </a:xfrm>
          <a:prstGeom prst="ellipse">
            <a:avLst/>
          </a:prstGeom>
          <a:solidFill>
            <a:srgbClr val="0078D4">
              <a:alpha val="30000"/>
            </a:srgbClr>
          </a:solidFill>
          <a:ln w="9525">
            <a:solidFill>
              <a:srgbClr val="0078D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1" name="Image 4" descr="Database icon"/>
          <p:cNvPicPr/>
          <p:nvPr/>
        </p:nvPicPr>
        <p:blipFill>
          <a:blip r:embed="rId5"/>
          <a:stretch/>
        </p:blipFill>
        <p:spPr>
          <a:xfrm>
            <a:off x="763560" y="499716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 16"/>
          <p:cNvSpPr/>
          <p:nvPr/>
        </p:nvSpPr>
        <p:spPr>
          <a:xfrm>
            <a:off x="1234440" y="485532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SQL Database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Managed relational database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Glass card 47"/>
          <p:cNvSpPr/>
          <p:nvPr/>
        </p:nvSpPr>
        <p:spPr>
          <a:xfrm>
            <a:off x="548640" y="553212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8"/>
          <p:cNvSpPr/>
          <p:nvPr/>
        </p:nvSpPr>
        <p:spPr>
          <a:xfrm>
            <a:off x="658440" y="5641920"/>
            <a:ext cx="420120" cy="420120"/>
          </a:xfrm>
          <a:prstGeom prst="ellipse">
            <a:avLst/>
          </a:prstGeom>
          <a:solidFill>
            <a:srgbClr val="0078D4">
              <a:alpha val="30000"/>
            </a:srgbClr>
          </a:solidFill>
          <a:ln w="9525">
            <a:solidFill>
              <a:srgbClr val="0078D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5" name="Image 5" descr="CodeBranch icon"/>
          <p:cNvPicPr/>
          <p:nvPr/>
        </p:nvPicPr>
        <p:blipFill>
          <a:blip r:embed="rId6"/>
          <a:stretch/>
        </p:blipFill>
        <p:spPr>
          <a:xfrm>
            <a:off x="763560" y="574704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Text 19"/>
          <p:cNvSpPr/>
          <p:nvPr/>
        </p:nvSpPr>
        <p:spPr>
          <a:xfrm>
            <a:off x="1234440" y="560520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DevOps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Repos, pipelines and boards in one suite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Glass card 48"/>
          <p:cNvSpPr/>
          <p:nvPr/>
        </p:nvSpPr>
        <p:spPr>
          <a:xfrm>
            <a:off x="5303520" y="1783080"/>
            <a:ext cx="6354720" cy="4434480"/>
          </a:xfrm>
          <a:prstGeom prst="roundRect">
            <a:avLst>
              <a:gd name="adj" fmla="val 453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1"/>
          <p:cNvSpPr/>
          <p:nvPr/>
        </p:nvSpPr>
        <p:spPr>
          <a:xfrm>
            <a:off x="5577840" y="19659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5CB6FF"/>
                </a:solidFill>
                <a:effectLst/>
                <a:uFillTx/>
                <a:latin typeface="Calibri"/>
                <a:ea typeface="Calibri"/>
              </a:rPr>
              <a:t>Azure application architecture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Glass card 49"/>
          <p:cNvSpPr/>
          <p:nvPr/>
        </p:nvSpPr>
        <p:spPr>
          <a:xfrm>
            <a:off x="548640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3"/>
          <p:cNvSpPr/>
          <p:nvPr/>
        </p:nvSpPr>
        <p:spPr>
          <a:xfrm>
            <a:off x="554112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Glass card 50"/>
          <p:cNvSpPr/>
          <p:nvPr/>
        </p:nvSpPr>
        <p:spPr>
          <a:xfrm>
            <a:off x="702576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5"/>
          <p:cNvSpPr/>
          <p:nvPr/>
        </p:nvSpPr>
        <p:spPr>
          <a:xfrm>
            <a:off x="708048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Front Door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Glass card 51"/>
          <p:cNvSpPr/>
          <p:nvPr/>
        </p:nvSpPr>
        <p:spPr>
          <a:xfrm>
            <a:off x="856476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7"/>
          <p:cNvSpPr/>
          <p:nvPr/>
        </p:nvSpPr>
        <p:spPr>
          <a:xfrm>
            <a:off x="861984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Application Gateway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Glass card 52"/>
          <p:cNvSpPr/>
          <p:nvPr/>
        </p:nvSpPr>
        <p:spPr>
          <a:xfrm>
            <a:off x="1010412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9"/>
          <p:cNvSpPr/>
          <p:nvPr/>
        </p:nvSpPr>
        <p:spPr>
          <a:xfrm>
            <a:off x="1015884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Functions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Glass card 53"/>
          <p:cNvSpPr/>
          <p:nvPr/>
        </p:nvSpPr>
        <p:spPr>
          <a:xfrm>
            <a:off x="548640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31"/>
          <p:cNvSpPr/>
          <p:nvPr/>
        </p:nvSpPr>
        <p:spPr>
          <a:xfrm>
            <a:off x="554112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Developers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Glass card 54"/>
          <p:cNvSpPr/>
          <p:nvPr/>
        </p:nvSpPr>
        <p:spPr>
          <a:xfrm>
            <a:off x="702576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33"/>
          <p:cNvSpPr/>
          <p:nvPr/>
        </p:nvSpPr>
        <p:spPr>
          <a:xfrm>
            <a:off x="708048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DevOps Pipelines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Glass card 55"/>
          <p:cNvSpPr/>
          <p:nvPr/>
        </p:nvSpPr>
        <p:spPr>
          <a:xfrm>
            <a:off x="856476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35"/>
          <p:cNvSpPr/>
          <p:nvPr/>
        </p:nvSpPr>
        <p:spPr>
          <a:xfrm>
            <a:off x="861984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 Service / Virtual Machines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Glass card 56"/>
          <p:cNvSpPr/>
          <p:nvPr/>
        </p:nvSpPr>
        <p:spPr>
          <a:xfrm>
            <a:off x="1010412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37"/>
          <p:cNvSpPr/>
          <p:nvPr/>
        </p:nvSpPr>
        <p:spPr>
          <a:xfrm>
            <a:off x="1015884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SQL Database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Glass card 57"/>
          <p:cNvSpPr/>
          <p:nvPr/>
        </p:nvSpPr>
        <p:spPr>
          <a:xfrm>
            <a:off x="8564760" y="512064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9"/>
          <p:cNvSpPr/>
          <p:nvPr/>
        </p:nvSpPr>
        <p:spPr>
          <a:xfrm>
            <a:off x="8619840" y="512064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Blob Storage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40"/>
          <p:cNvSpPr/>
          <p:nvPr/>
        </p:nvSpPr>
        <p:spPr>
          <a:xfrm>
            <a:off x="6876000" y="2948760"/>
            <a:ext cx="131040" cy="360"/>
          </a:xfrm>
          <a:prstGeom prst="line">
            <a:avLst/>
          </a:prstGeom>
          <a:ln w="22225">
            <a:solidFill>
              <a:srgbClr val="5CB6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41"/>
          <p:cNvSpPr/>
          <p:nvPr/>
        </p:nvSpPr>
        <p:spPr>
          <a:xfrm>
            <a:off x="8415360" y="2948760"/>
            <a:ext cx="131040" cy="360"/>
          </a:xfrm>
          <a:prstGeom prst="line">
            <a:avLst/>
          </a:prstGeom>
          <a:ln w="22225">
            <a:solidFill>
              <a:srgbClr val="5CB6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42"/>
          <p:cNvSpPr/>
          <p:nvPr/>
        </p:nvSpPr>
        <p:spPr>
          <a:xfrm>
            <a:off x="9954720" y="2948760"/>
            <a:ext cx="131040" cy="360"/>
          </a:xfrm>
          <a:prstGeom prst="line">
            <a:avLst/>
          </a:prstGeom>
          <a:ln w="22225">
            <a:solidFill>
              <a:srgbClr val="5CB6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43"/>
          <p:cNvSpPr/>
          <p:nvPr/>
        </p:nvSpPr>
        <p:spPr>
          <a:xfrm>
            <a:off x="6876000" y="4228920"/>
            <a:ext cx="131040" cy="360"/>
          </a:xfrm>
          <a:prstGeom prst="line">
            <a:avLst/>
          </a:prstGeom>
          <a:ln w="22225">
            <a:solidFill>
              <a:srgbClr val="5CB6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44"/>
          <p:cNvSpPr/>
          <p:nvPr/>
        </p:nvSpPr>
        <p:spPr>
          <a:xfrm>
            <a:off x="8415360" y="4228920"/>
            <a:ext cx="131040" cy="360"/>
          </a:xfrm>
          <a:prstGeom prst="line">
            <a:avLst/>
          </a:prstGeom>
          <a:ln w="22225">
            <a:solidFill>
              <a:srgbClr val="5CB6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45"/>
          <p:cNvSpPr/>
          <p:nvPr/>
        </p:nvSpPr>
        <p:spPr>
          <a:xfrm>
            <a:off x="9954720" y="4228920"/>
            <a:ext cx="131040" cy="360"/>
          </a:xfrm>
          <a:prstGeom prst="line">
            <a:avLst/>
          </a:prstGeom>
          <a:ln w="22225">
            <a:solidFill>
              <a:srgbClr val="5CB6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46"/>
          <p:cNvSpPr/>
          <p:nvPr/>
        </p:nvSpPr>
        <p:spPr>
          <a:xfrm>
            <a:off x="9250560" y="3355560"/>
            <a:ext cx="360" cy="466560"/>
          </a:xfrm>
          <a:prstGeom prst="line">
            <a:avLst/>
          </a:prstGeom>
          <a:ln w="22225">
            <a:solidFill>
              <a:srgbClr val="5CB6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47"/>
          <p:cNvSpPr/>
          <p:nvPr/>
        </p:nvSpPr>
        <p:spPr>
          <a:xfrm>
            <a:off x="9250560" y="4635720"/>
            <a:ext cx="360" cy="466560"/>
          </a:xfrm>
          <a:prstGeom prst="line">
            <a:avLst/>
          </a:prstGeom>
          <a:ln w="22225">
            <a:solidFill>
              <a:srgbClr val="5CB6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48"/>
          <p:cNvSpPr/>
          <p:nvPr/>
        </p:nvSpPr>
        <p:spPr>
          <a:xfrm>
            <a:off x="5486400" y="521208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Top row: request path. Middle row: build and deploy path.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sldNum" idx="12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49BC39-8BEE-406A-85BB-6F41B8666F66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Google Cloud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Strong in data, AI and container-native development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Glass card 58"/>
          <p:cNvSpPr/>
          <p:nvPr/>
        </p:nvSpPr>
        <p:spPr>
          <a:xfrm>
            <a:off x="548640" y="178308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"/>
          <p:cNvSpPr/>
          <p:nvPr/>
        </p:nvSpPr>
        <p:spPr>
          <a:xfrm>
            <a:off x="658440" y="1892880"/>
            <a:ext cx="420120" cy="420120"/>
          </a:xfrm>
          <a:prstGeom prst="ellipse">
            <a:avLst/>
          </a:prstGeom>
          <a:solidFill>
            <a:srgbClr val="4285F4">
              <a:alpha val="30000"/>
            </a:srgbClr>
          </a:solidFill>
          <a:ln w="9525">
            <a:solidFill>
              <a:srgbClr val="4285F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1" name="Image 0" descr="Server icon"/>
          <p:cNvPicPr/>
          <p:nvPr/>
        </p:nvPicPr>
        <p:blipFill>
          <a:blip r:embed="rId1"/>
          <a:stretch/>
        </p:blipFill>
        <p:spPr>
          <a:xfrm>
            <a:off x="763560" y="199800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Text 4"/>
          <p:cNvSpPr/>
          <p:nvPr/>
        </p:nvSpPr>
        <p:spPr>
          <a:xfrm>
            <a:off x="1234440" y="185616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Compute Engine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Virtual machines on Google infrastructure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Glass card 59"/>
          <p:cNvSpPr/>
          <p:nvPr/>
        </p:nvSpPr>
        <p:spPr>
          <a:xfrm>
            <a:off x="548640" y="253296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6"/>
          <p:cNvSpPr/>
          <p:nvPr/>
        </p:nvSpPr>
        <p:spPr>
          <a:xfrm>
            <a:off x="658440" y="2642760"/>
            <a:ext cx="420120" cy="420120"/>
          </a:xfrm>
          <a:prstGeom prst="ellipse">
            <a:avLst/>
          </a:prstGeom>
          <a:solidFill>
            <a:srgbClr val="4285F4">
              <a:alpha val="30000"/>
            </a:srgbClr>
          </a:solidFill>
          <a:ln w="9525">
            <a:solidFill>
              <a:srgbClr val="4285F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5" name="Image 1" descr="LayerGroup icon"/>
          <p:cNvPicPr/>
          <p:nvPr/>
        </p:nvPicPr>
        <p:blipFill>
          <a:blip r:embed="rId2"/>
          <a:stretch/>
        </p:blipFill>
        <p:spPr>
          <a:xfrm>
            <a:off x="763560" y="274788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Text 7"/>
          <p:cNvSpPr/>
          <p:nvPr/>
        </p:nvSpPr>
        <p:spPr>
          <a:xfrm>
            <a:off x="1234440" y="260604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 Engine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Fully managed platform for web apps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Glass card 60"/>
          <p:cNvSpPr/>
          <p:nvPr/>
        </p:nvSpPr>
        <p:spPr>
          <a:xfrm>
            <a:off x="548640" y="328284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9"/>
          <p:cNvSpPr/>
          <p:nvPr/>
        </p:nvSpPr>
        <p:spPr>
          <a:xfrm>
            <a:off x="658440" y="3392280"/>
            <a:ext cx="420120" cy="420120"/>
          </a:xfrm>
          <a:prstGeom prst="ellipse">
            <a:avLst/>
          </a:prstGeom>
          <a:solidFill>
            <a:srgbClr val="4285F4">
              <a:alpha val="30000"/>
            </a:srgbClr>
          </a:solidFill>
          <a:ln w="9525">
            <a:solidFill>
              <a:srgbClr val="4285F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9" name="Image 2" descr="Bolt icon"/>
          <p:cNvPicPr/>
          <p:nvPr/>
        </p:nvPicPr>
        <p:blipFill>
          <a:blip r:embed="rId3"/>
          <a:stretch/>
        </p:blipFill>
        <p:spPr>
          <a:xfrm>
            <a:off x="763560" y="349776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0" name="Text 10"/>
          <p:cNvSpPr/>
          <p:nvPr/>
        </p:nvSpPr>
        <p:spPr>
          <a:xfrm>
            <a:off x="1234440" y="335592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Run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Run containers without managing servers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Glass card 61"/>
          <p:cNvSpPr/>
          <p:nvPr/>
        </p:nvSpPr>
        <p:spPr>
          <a:xfrm>
            <a:off x="548640" y="403236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2"/>
          <p:cNvSpPr/>
          <p:nvPr/>
        </p:nvSpPr>
        <p:spPr>
          <a:xfrm>
            <a:off x="658440" y="4142160"/>
            <a:ext cx="420120" cy="420120"/>
          </a:xfrm>
          <a:prstGeom prst="ellipse">
            <a:avLst/>
          </a:prstGeom>
          <a:solidFill>
            <a:srgbClr val="4285F4">
              <a:alpha val="30000"/>
            </a:srgbClr>
          </a:solidFill>
          <a:ln w="9525">
            <a:solidFill>
              <a:srgbClr val="4285F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3" name="Image 3" descr="Archive icon"/>
          <p:cNvPicPr/>
          <p:nvPr/>
        </p:nvPicPr>
        <p:blipFill>
          <a:blip r:embed="rId4"/>
          <a:stretch/>
        </p:blipFill>
        <p:spPr>
          <a:xfrm>
            <a:off x="763560" y="424728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Text 13"/>
          <p:cNvSpPr/>
          <p:nvPr/>
        </p:nvSpPr>
        <p:spPr>
          <a:xfrm>
            <a:off x="1234440" y="410580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Storage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Unified object storage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Glass card 62"/>
          <p:cNvSpPr/>
          <p:nvPr/>
        </p:nvSpPr>
        <p:spPr>
          <a:xfrm>
            <a:off x="548640" y="478224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5"/>
          <p:cNvSpPr/>
          <p:nvPr/>
        </p:nvSpPr>
        <p:spPr>
          <a:xfrm>
            <a:off x="658440" y="4892040"/>
            <a:ext cx="420120" cy="420120"/>
          </a:xfrm>
          <a:prstGeom prst="ellipse">
            <a:avLst/>
          </a:prstGeom>
          <a:solidFill>
            <a:srgbClr val="4285F4">
              <a:alpha val="30000"/>
            </a:srgbClr>
          </a:solidFill>
          <a:ln w="9525">
            <a:solidFill>
              <a:srgbClr val="4285F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7" name="Image 4" descr="Database icon"/>
          <p:cNvPicPr/>
          <p:nvPr/>
        </p:nvPicPr>
        <p:blipFill>
          <a:blip r:embed="rId5"/>
          <a:stretch/>
        </p:blipFill>
        <p:spPr>
          <a:xfrm>
            <a:off x="763560" y="499716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Text 16"/>
          <p:cNvSpPr/>
          <p:nvPr/>
        </p:nvSpPr>
        <p:spPr>
          <a:xfrm>
            <a:off x="1234440" y="485532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SQL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Managed MySQL, PostgreSQL, SQL Server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Glass card 63"/>
          <p:cNvSpPr/>
          <p:nvPr/>
        </p:nvSpPr>
        <p:spPr>
          <a:xfrm>
            <a:off x="548640" y="5532120"/>
            <a:ext cx="4480200" cy="6397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8"/>
          <p:cNvSpPr/>
          <p:nvPr/>
        </p:nvSpPr>
        <p:spPr>
          <a:xfrm>
            <a:off x="658440" y="5641920"/>
            <a:ext cx="420120" cy="420120"/>
          </a:xfrm>
          <a:prstGeom prst="ellipse">
            <a:avLst/>
          </a:prstGeom>
          <a:solidFill>
            <a:srgbClr val="4285F4">
              <a:alpha val="30000"/>
            </a:srgbClr>
          </a:solidFill>
          <a:ln w="9525">
            <a:solidFill>
              <a:srgbClr val="4285F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1" name="Image 5" descr="CodeBranch icon"/>
          <p:cNvPicPr/>
          <p:nvPr/>
        </p:nvPicPr>
        <p:blipFill>
          <a:blip r:embed="rId6"/>
          <a:stretch/>
        </p:blipFill>
        <p:spPr>
          <a:xfrm>
            <a:off x="763560" y="5747040"/>
            <a:ext cx="20988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Text 19"/>
          <p:cNvSpPr/>
          <p:nvPr/>
        </p:nvSpPr>
        <p:spPr>
          <a:xfrm>
            <a:off x="1234440" y="5605200"/>
            <a:ext cx="3657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Build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Serverless CI/CD that builds and tests code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Glass card 64"/>
          <p:cNvSpPr/>
          <p:nvPr/>
        </p:nvSpPr>
        <p:spPr>
          <a:xfrm>
            <a:off x="5303520" y="1783080"/>
            <a:ext cx="6354720" cy="4434480"/>
          </a:xfrm>
          <a:prstGeom prst="roundRect">
            <a:avLst>
              <a:gd name="adj" fmla="val 453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1"/>
          <p:cNvSpPr/>
          <p:nvPr/>
        </p:nvSpPr>
        <p:spPr>
          <a:xfrm>
            <a:off x="5577840" y="19659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8AB4F8"/>
                </a:solidFill>
                <a:effectLst/>
                <a:uFillTx/>
                <a:latin typeface="Calibri"/>
                <a:ea typeface="Calibri"/>
              </a:rPr>
              <a:t>Google Cloud application architecture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2"/>
          <p:cNvSpPr/>
          <p:nvPr/>
        </p:nvSpPr>
        <p:spPr>
          <a:xfrm>
            <a:off x="10744200" y="2075760"/>
            <a:ext cx="127800" cy="12780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3"/>
          <p:cNvSpPr/>
          <p:nvPr/>
        </p:nvSpPr>
        <p:spPr>
          <a:xfrm>
            <a:off x="10927080" y="2075760"/>
            <a:ext cx="127800" cy="12780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24"/>
          <p:cNvSpPr/>
          <p:nvPr/>
        </p:nvSpPr>
        <p:spPr>
          <a:xfrm>
            <a:off x="11109960" y="2075760"/>
            <a:ext cx="127800" cy="127800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5"/>
          <p:cNvSpPr/>
          <p:nvPr/>
        </p:nvSpPr>
        <p:spPr>
          <a:xfrm>
            <a:off x="11292840" y="2075760"/>
            <a:ext cx="127800" cy="12780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Glass card 65"/>
          <p:cNvSpPr/>
          <p:nvPr/>
        </p:nvSpPr>
        <p:spPr>
          <a:xfrm>
            <a:off x="548640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7"/>
          <p:cNvSpPr/>
          <p:nvPr/>
        </p:nvSpPr>
        <p:spPr>
          <a:xfrm>
            <a:off x="554112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Glass card 66"/>
          <p:cNvSpPr/>
          <p:nvPr/>
        </p:nvSpPr>
        <p:spPr>
          <a:xfrm>
            <a:off x="702576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4285F4">
              <a:alpha val="18000"/>
            </a:srgbClr>
          </a:solidFill>
          <a:ln w="12700">
            <a:solidFill>
              <a:srgbClr val="4285F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9"/>
          <p:cNvSpPr/>
          <p:nvPr/>
        </p:nvSpPr>
        <p:spPr>
          <a:xfrm>
            <a:off x="708048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DNS + Cloud CDN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Glass card 67"/>
          <p:cNvSpPr/>
          <p:nvPr/>
        </p:nvSpPr>
        <p:spPr>
          <a:xfrm>
            <a:off x="856476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4285F4">
              <a:alpha val="18000"/>
            </a:srgbClr>
          </a:solidFill>
          <a:ln w="12700">
            <a:solidFill>
              <a:srgbClr val="4285F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31"/>
          <p:cNvSpPr/>
          <p:nvPr/>
        </p:nvSpPr>
        <p:spPr>
          <a:xfrm>
            <a:off x="861984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Load Balancing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Glass card 68"/>
          <p:cNvSpPr/>
          <p:nvPr/>
        </p:nvSpPr>
        <p:spPr>
          <a:xfrm>
            <a:off x="10104120" y="256032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4285F4">
              <a:alpha val="18000"/>
            </a:srgbClr>
          </a:solidFill>
          <a:ln w="12700">
            <a:solidFill>
              <a:srgbClr val="4285F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33"/>
          <p:cNvSpPr/>
          <p:nvPr/>
        </p:nvSpPr>
        <p:spPr>
          <a:xfrm>
            <a:off x="10158840" y="256032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Run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Glass card 69"/>
          <p:cNvSpPr/>
          <p:nvPr/>
        </p:nvSpPr>
        <p:spPr>
          <a:xfrm>
            <a:off x="548640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35"/>
          <p:cNvSpPr/>
          <p:nvPr/>
        </p:nvSpPr>
        <p:spPr>
          <a:xfrm>
            <a:off x="554112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Developers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Glass card 70"/>
          <p:cNvSpPr/>
          <p:nvPr/>
        </p:nvSpPr>
        <p:spPr>
          <a:xfrm>
            <a:off x="702576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4285F4">
              <a:alpha val="18000"/>
            </a:srgbClr>
          </a:solidFill>
          <a:ln w="12700">
            <a:solidFill>
              <a:srgbClr val="4285F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37"/>
          <p:cNvSpPr/>
          <p:nvPr/>
        </p:nvSpPr>
        <p:spPr>
          <a:xfrm>
            <a:off x="708048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Build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Glass card 71"/>
          <p:cNvSpPr/>
          <p:nvPr/>
        </p:nvSpPr>
        <p:spPr>
          <a:xfrm>
            <a:off x="856476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4285F4">
              <a:alpha val="18000"/>
            </a:srgbClr>
          </a:solidFill>
          <a:ln w="12700">
            <a:solidFill>
              <a:srgbClr val="4285F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39"/>
          <p:cNvSpPr/>
          <p:nvPr/>
        </p:nvSpPr>
        <p:spPr>
          <a:xfrm>
            <a:off x="861984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Compute Engine / App Engine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Glass card 72"/>
          <p:cNvSpPr/>
          <p:nvPr/>
        </p:nvSpPr>
        <p:spPr>
          <a:xfrm>
            <a:off x="10104120" y="384048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4285F4">
              <a:alpha val="18000"/>
            </a:srgbClr>
          </a:solidFill>
          <a:ln w="12700">
            <a:solidFill>
              <a:srgbClr val="4285F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41"/>
          <p:cNvSpPr/>
          <p:nvPr/>
        </p:nvSpPr>
        <p:spPr>
          <a:xfrm>
            <a:off x="10158840" y="384048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SQL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Glass card 73"/>
          <p:cNvSpPr/>
          <p:nvPr/>
        </p:nvSpPr>
        <p:spPr>
          <a:xfrm>
            <a:off x="8564760" y="5120640"/>
            <a:ext cx="1371240" cy="776880"/>
          </a:xfrm>
          <a:prstGeom prst="roundRect">
            <a:avLst>
              <a:gd name="adj" fmla="val 16471"/>
            </a:avLst>
          </a:prstGeom>
          <a:solidFill>
            <a:srgbClr val="4285F4">
              <a:alpha val="18000"/>
            </a:srgbClr>
          </a:solidFill>
          <a:ln w="12700">
            <a:solidFill>
              <a:srgbClr val="4285F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43"/>
          <p:cNvSpPr/>
          <p:nvPr/>
        </p:nvSpPr>
        <p:spPr>
          <a:xfrm>
            <a:off x="8619840" y="5120640"/>
            <a:ext cx="1261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Storage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44"/>
          <p:cNvSpPr/>
          <p:nvPr/>
        </p:nvSpPr>
        <p:spPr>
          <a:xfrm>
            <a:off x="6876000" y="2948760"/>
            <a:ext cx="131040" cy="360"/>
          </a:xfrm>
          <a:prstGeom prst="line">
            <a:avLst/>
          </a:prstGeom>
          <a:ln w="22225">
            <a:solidFill>
              <a:srgbClr val="8AB4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45"/>
          <p:cNvSpPr/>
          <p:nvPr/>
        </p:nvSpPr>
        <p:spPr>
          <a:xfrm>
            <a:off x="8415360" y="2948760"/>
            <a:ext cx="131040" cy="360"/>
          </a:xfrm>
          <a:prstGeom prst="line">
            <a:avLst/>
          </a:prstGeom>
          <a:ln w="22225">
            <a:solidFill>
              <a:srgbClr val="8AB4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46"/>
          <p:cNvSpPr/>
          <p:nvPr/>
        </p:nvSpPr>
        <p:spPr>
          <a:xfrm>
            <a:off x="9954720" y="2948760"/>
            <a:ext cx="131040" cy="360"/>
          </a:xfrm>
          <a:prstGeom prst="line">
            <a:avLst/>
          </a:prstGeom>
          <a:ln w="22225">
            <a:solidFill>
              <a:srgbClr val="8AB4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47"/>
          <p:cNvSpPr/>
          <p:nvPr/>
        </p:nvSpPr>
        <p:spPr>
          <a:xfrm>
            <a:off x="6876000" y="4228920"/>
            <a:ext cx="131040" cy="360"/>
          </a:xfrm>
          <a:prstGeom prst="line">
            <a:avLst/>
          </a:prstGeom>
          <a:ln w="22225">
            <a:solidFill>
              <a:srgbClr val="8AB4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48"/>
          <p:cNvSpPr/>
          <p:nvPr/>
        </p:nvSpPr>
        <p:spPr>
          <a:xfrm>
            <a:off x="8415360" y="4228920"/>
            <a:ext cx="131040" cy="360"/>
          </a:xfrm>
          <a:prstGeom prst="line">
            <a:avLst/>
          </a:prstGeom>
          <a:ln w="22225">
            <a:solidFill>
              <a:srgbClr val="8AB4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49"/>
          <p:cNvSpPr/>
          <p:nvPr/>
        </p:nvSpPr>
        <p:spPr>
          <a:xfrm>
            <a:off x="9954720" y="4228920"/>
            <a:ext cx="131040" cy="360"/>
          </a:xfrm>
          <a:prstGeom prst="line">
            <a:avLst/>
          </a:prstGeom>
          <a:ln w="22225">
            <a:solidFill>
              <a:srgbClr val="8AB4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50"/>
          <p:cNvSpPr/>
          <p:nvPr/>
        </p:nvSpPr>
        <p:spPr>
          <a:xfrm>
            <a:off x="9250560" y="3355560"/>
            <a:ext cx="360" cy="466560"/>
          </a:xfrm>
          <a:prstGeom prst="line">
            <a:avLst/>
          </a:prstGeom>
          <a:ln w="22225">
            <a:solidFill>
              <a:srgbClr val="8AB4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51"/>
          <p:cNvSpPr/>
          <p:nvPr/>
        </p:nvSpPr>
        <p:spPr>
          <a:xfrm>
            <a:off x="9250560" y="4635720"/>
            <a:ext cx="360" cy="466560"/>
          </a:xfrm>
          <a:prstGeom prst="line">
            <a:avLst/>
          </a:prstGeom>
          <a:ln w="22225">
            <a:solidFill>
              <a:srgbClr val="8AB4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52"/>
          <p:cNvSpPr/>
          <p:nvPr/>
        </p:nvSpPr>
        <p:spPr>
          <a:xfrm>
            <a:off x="5486400" y="521208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Top row: request path. Middle row: build and deploy path.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 type="sldNum" idx="13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AEC51C-E22A-4340-B0D9-E5F84230F0D3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Application Architecture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A cloud-native app is layered, scalable and observable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Glass card 74"/>
          <p:cNvSpPr/>
          <p:nvPr/>
        </p:nvSpPr>
        <p:spPr>
          <a:xfrm>
            <a:off x="640080" y="1783080"/>
            <a:ext cx="1782720" cy="1919880"/>
          </a:xfrm>
          <a:prstGeom prst="roundRect">
            <a:avLst>
              <a:gd name="adj" fmla="val 9231"/>
            </a:avLst>
          </a:prstGeom>
          <a:solidFill>
            <a:srgbClr val="5AC8FA">
              <a:alpha val="10000"/>
            </a:srgbClr>
          </a:solidFill>
          <a:ln w="9525">
            <a:solidFill>
              <a:srgbClr val="5AC8FA">
                <a:alpha val="4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3"/>
          <p:cNvSpPr/>
          <p:nvPr/>
        </p:nvSpPr>
        <p:spPr>
          <a:xfrm>
            <a:off x="1280160" y="1920240"/>
            <a:ext cx="502560" cy="50256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1" name="Image 0" descr="Desktop icon"/>
          <p:cNvPicPr/>
          <p:nvPr/>
        </p:nvPicPr>
        <p:blipFill>
          <a:blip r:embed="rId1"/>
          <a:stretch/>
        </p:blipFill>
        <p:spPr>
          <a:xfrm>
            <a:off x="1405800" y="204588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Text 4"/>
          <p:cNvSpPr/>
          <p:nvPr/>
        </p:nvSpPr>
        <p:spPr>
          <a:xfrm>
            <a:off x="749880" y="2560320"/>
            <a:ext cx="1563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Frontend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Browser or mobile app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5"/>
          <p:cNvSpPr/>
          <p:nvPr/>
        </p:nvSpPr>
        <p:spPr>
          <a:xfrm>
            <a:off x="2441160" y="2743200"/>
            <a:ext cx="51228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Glass card 75"/>
          <p:cNvSpPr/>
          <p:nvPr/>
        </p:nvSpPr>
        <p:spPr>
          <a:xfrm>
            <a:off x="2971800" y="1783080"/>
            <a:ext cx="1782720" cy="1919880"/>
          </a:xfrm>
          <a:prstGeom prst="roundRect">
            <a:avLst>
              <a:gd name="adj" fmla="val 9231"/>
            </a:avLst>
          </a:prstGeom>
          <a:solidFill>
            <a:srgbClr val="5AC8FA">
              <a:alpha val="10000"/>
            </a:srgbClr>
          </a:solidFill>
          <a:ln w="9525">
            <a:solidFill>
              <a:srgbClr val="5AC8FA">
                <a:alpha val="4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7"/>
          <p:cNvSpPr/>
          <p:nvPr/>
        </p:nvSpPr>
        <p:spPr>
          <a:xfrm>
            <a:off x="3611880" y="1920240"/>
            <a:ext cx="502560" cy="50256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6" name="Image 1" descr="ExchangeAlt icon"/>
          <p:cNvPicPr/>
          <p:nvPr/>
        </p:nvPicPr>
        <p:blipFill>
          <a:blip r:embed="rId2"/>
          <a:stretch/>
        </p:blipFill>
        <p:spPr>
          <a:xfrm>
            <a:off x="3737520" y="204588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Text 8"/>
          <p:cNvSpPr/>
          <p:nvPr/>
        </p:nvSpPr>
        <p:spPr>
          <a:xfrm>
            <a:off x="3081600" y="2560320"/>
            <a:ext cx="1563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API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Routes and secures requests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9"/>
          <p:cNvSpPr/>
          <p:nvPr/>
        </p:nvSpPr>
        <p:spPr>
          <a:xfrm>
            <a:off x="4772880" y="2743200"/>
            <a:ext cx="51228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Glass card 76"/>
          <p:cNvSpPr/>
          <p:nvPr/>
        </p:nvSpPr>
        <p:spPr>
          <a:xfrm>
            <a:off x="5303520" y="1783080"/>
            <a:ext cx="1782720" cy="1919880"/>
          </a:xfrm>
          <a:prstGeom prst="roundRect">
            <a:avLst>
              <a:gd name="adj" fmla="val 9231"/>
            </a:avLst>
          </a:prstGeom>
          <a:solidFill>
            <a:srgbClr val="5AC8FA">
              <a:alpha val="10000"/>
            </a:srgbClr>
          </a:solidFill>
          <a:ln w="9525">
            <a:solidFill>
              <a:srgbClr val="5AC8FA">
                <a:alpha val="4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1"/>
          <p:cNvSpPr/>
          <p:nvPr/>
        </p:nvSpPr>
        <p:spPr>
          <a:xfrm>
            <a:off x="5943600" y="1920240"/>
            <a:ext cx="502560" cy="50256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1" name="Image 2" descr="BalanceScale icon"/>
          <p:cNvPicPr/>
          <p:nvPr/>
        </p:nvPicPr>
        <p:blipFill>
          <a:blip r:embed="rId3"/>
          <a:stretch/>
        </p:blipFill>
        <p:spPr>
          <a:xfrm>
            <a:off x="6069240" y="204588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" name="Text 12"/>
          <p:cNvSpPr/>
          <p:nvPr/>
        </p:nvSpPr>
        <p:spPr>
          <a:xfrm>
            <a:off x="5413320" y="2560320"/>
            <a:ext cx="1563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Load balancer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Spreads traffic evenly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3"/>
          <p:cNvSpPr/>
          <p:nvPr/>
        </p:nvSpPr>
        <p:spPr>
          <a:xfrm>
            <a:off x="7104600" y="2743200"/>
            <a:ext cx="51228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Glass card 77"/>
          <p:cNvSpPr/>
          <p:nvPr/>
        </p:nvSpPr>
        <p:spPr>
          <a:xfrm>
            <a:off x="7635240" y="1783080"/>
            <a:ext cx="1782720" cy="1919880"/>
          </a:xfrm>
          <a:prstGeom prst="roundRect">
            <a:avLst>
              <a:gd name="adj" fmla="val 9231"/>
            </a:avLst>
          </a:prstGeom>
          <a:solidFill>
            <a:srgbClr val="5AC8FA">
              <a:alpha val="10000"/>
            </a:srgbClr>
          </a:solidFill>
          <a:ln w="9525">
            <a:solidFill>
              <a:srgbClr val="5AC8FA">
                <a:alpha val="4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5"/>
          <p:cNvSpPr/>
          <p:nvPr/>
        </p:nvSpPr>
        <p:spPr>
          <a:xfrm>
            <a:off x="8275320" y="1920240"/>
            <a:ext cx="502560" cy="50256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6" name="Image 3" descr="Server icon"/>
          <p:cNvPicPr/>
          <p:nvPr/>
        </p:nvPicPr>
        <p:blipFill>
          <a:blip r:embed="rId4"/>
          <a:stretch/>
        </p:blipFill>
        <p:spPr>
          <a:xfrm>
            <a:off x="8400960" y="204588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Text 16"/>
          <p:cNvSpPr/>
          <p:nvPr/>
        </p:nvSpPr>
        <p:spPr>
          <a:xfrm>
            <a:off x="7745040" y="2560320"/>
            <a:ext cx="1563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Compute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VMs, containers, functions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7"/>
          <p:cNvSpPr/>
          <p:nvPr/>
        </p:nvSpPr>
        <p:spPr>
          <a:xfrm>
            <a:off x="9436320" y="2743200"/>
            <a:ext cx="51228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Glass card 78"/>
          <p:cNvSpPr/>
          <p:nvPr/>
        </p:nvSpPr>
        <p:spPr>
          <a:xfrm>
            <a:off x="9966960" y="1783080"/>
            <a:ext cx="1782720" cy="914040"/>
          </a:xfrm>
          <a:prstGeom prst="roundRect">
            <a:avLst>
              <a:gd name="adj" fmla="val 18000"/>
            </a:avLst>
          </a:prstGeom>
          <a:solidFill>
            <a:srgbClr val="8B80F9">
              <a:alpha val="12000"/>
            </a:srgbClr>
          </a:solidFill>
          <a:ln w="9525">
            <a:solidFill>
              <a:srgbClr val="8B80F9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9"/>
          <p:cNvSpPr/>
          <p:nvPr/>
        </p:nvSpPr>
        <p:spPr>
          <a:xfrm>
            <a:off x="10607040" y="1783080"/>
            <a:ext cx="1051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ab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ase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Glass card 79"/>
          <p:cNvSpPr/>
          <p:nvPr/>
        </p:nvSpPr>
        <p:spPr>
          <a:xfrm>
            <a:off x="9966960" y="2788920"/>
            <a:ext cx="1782720" cy="914040"/>
          </a:xfrm>
          <a:prstGeom prst="roundRect">
            <a:avLst>
              <a:gd name="adj" fmla="val 18000"/>
            </a:avLst>
          </a:prstGeom>
          <a:solidFill>
            <a:srgbClr val="8B80F9">
              <a:alpha val="12000"/>
            </a:srgbClr>
          </a:solidFill>
          <a:ln w="9525">
            <a:solidFill>
              <a:srgbClr val="8B80F9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1"/>
          <p:cNvSpPr/>
          <p:nvPr/>
        </p:nvSpPr>
        <p:spPr>
          <a:xfrm>
            <a:off x="10607040" y="2788920"/>
            <a:ext cx="1051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Storage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3" name="Image 4" descr="Database icon"/>
          <p:cNvPicPr/>
          <p:nvPr/>
        </p:nvPicPr>
        <p:blipFill>
          <a:blip r:embed="rId5"/>
          <a:stretch/>
        </p:blipFill>
        <p:spPr>
          <a:xfrm>
            <a:off x="10149840" y="20116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4" name="Image 5" descr="Archive icon"/>
          <p:cNvPicPr/>
          <p:nvPr/>
        </p:nvPicPr>
        <p:blipFill>
          <a:blip r:embed="rId6"/>
          <a:stretch/>
        </p:blipFill>
        <p:spPr>
          <a:xfrm>
            <a:off x="10149840" y="301752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" name="Glass card 80"/>
          <p:cNvSpPr/>
          <p:nvPr/>
        </p:nvSpPr>
        <p:spPr>
          <a:xfrm>
            <a:off x="640080" y="4069080"/>
            <a:ext cx="10972440" cy="914040"/>
          </a:xfrm>
          <a:prstGeom prst="roundRect">
            <a:avLst>
              <a:gd name="adj" fmla="val 18000"/>
            </a:avLst>
          </a:prstGeom>
          <a:solidFill>
            <a:srgbClr val="FF6B81">
              <a:alpha val="10000"/>
            </a:srgbClr>
          </a:solidFill>
          <a:ln w="9525">
            <a:solidFill>
              <a:srgbClr val="FF6B81">
                <a:alpha val="4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23"/>
          <p:cNvSpPr/>
          <p:nvPr/>
        </p:nvSpPr>
        <p:spPr>
          <a:xfrm>
            <a:off x="868680" y="4251960"/>
            <a:ext cx="548280" cy="548280"/>
          </a:xfrm>
          <a:prstGeom prst="ellipse">
            <a:avLst/>
          </a:prstGeom>
          <a:solidFill>
            <a:srgbClr val="FF6B81">
              <a:alpha val="30000"/>
            </a:srgbClr>
          </a:solidFill>
          <a:ln w="9525">
            <a:solidFill>
              <a:srgbClr val="FF6B81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7" name="Image 6" descr="ShieldAlt icon"/>
          <p:cNvPicPr/>
          <p:nvPr/>
        </p:nvPicPr>
        <p:blipFill>
          <a:blip r:embed="rId7"/>
          <a:stretch/>
        </p:blipFill>
        <p:spPr>
          <a:xfrm>
            <a:off x="1005840" y="43891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Text 24"/>
          <p:cNvSpPr/>
          <p:nvPr/>
        </p:nvSpPr>
        <p:spPr>
          <a:xfrm>
            <a:off x="1645920" y="4069080"/>
            <a:ext cx="9783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Security  </a:t>
            </a:r>
            <a:r>
              <a:rPr lang="en-US" sz="1500" b="0" u="none" strike="noStrike">
                <a:solidFill>
                  <a:srgbClr val="E3E8F7"/>
                </a:solidFill>
                <a:effectLst/>
                <a:uFillTx/>
                <a:latin typeface="Calibri"/>
                <a:ea typeface="Calibri"/>
              </a:rPr>
              <a:t>Identity, encryption, firewalls and network isolation protect every layer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Glass card 81"/>
          <p:cNvSpPr/>
          <p:nvPr/>
        </p:nvSpPr>
        <p:spPr>
          <a:xfrm>
            <a:off x="640080" y="5212080"/>
            <a:ext cx="10972440" cy="914040"/>
          </a:xfrm>
          <a:prstGeom prst="roundRect">
            <a:avLst>
              <a:gd name="adj" fmla="val 18000"/>
            </a:avLst>
          </a:prstGeom>
          <a:solidFill>
            <a:srgbClr val="34C77B">
              <a:alpha val="10000"/>
            </a:srgbClr>
          </a:solidFill>
          <a:ln w="9525">
            <a:solidFill>
              <a:srgbClr val="34C77B">
                <a:alpha val="4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26"/>
          <p:cNvSpPr/>
          <p:nvPr/>
        </p:nvSpPr>
        <p:spPr>
          <a:xfrm>
            <a:off x="868680" y="5394960"/>
            <a:ext cx="548280" cy="548280"/>
          </a:xfrm>
          <a:prstGeom prst="ellipse">
            <a:avLst/>
          </a:prstGeom>
          <a:solidFill>
            <a:srgbClr val="34C77B">
              <a:alpha val="30000"/>
            </a:srgbClr>
          </a:solidFill>
          <a:ln w="9525">
            <a:solidFill>
              <a:srgbClr val="34C77B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1" name="Image 7" descr="ChartLine icon"/>
          <p:cNvPicPr/>
          <p:nvPr/>
        </p:nvPicPr>
        <p:blipFill>
          <a:blip r:embed="rId8"/>
          <a:stretch/>
        </p:blipFill>
        <p:spPr>
          <a:xfrm>
            <a:off x="1005840" y="55321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Text 27"/>
          <p:cNvSpPr/>
          <p:nvPr/>
        </p:nvSpPr>
        <p:spPr>
          <a:xfrm>
            <a:off x="1645920" y="5212080"/>
            <a:ext cx="9783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Monitoring  </a:t>
            </a:r>
            <a:r>
              <a:rPr lang="en-US" sz="1500" b="0" u="none" strike="noStrike">
                <a:solidFill>
                  <a:srgbClr val="E3E8F7"/>
                </a:solidFill>
                <a:effectLst/>
                <a:uFillTx/>
                <a:latin typeface="Calibri"/>
                <a:ea typeface="Calibri"/>
              </a:rPr>
              <a:t>Metrics, logs and alerts show health and feed improvements back to the team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 type="sldNum" idx="14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76E487-677D-488C-8334-08A53E277AD3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Development and CI/CD Workflow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Every commit flows through an automated path to production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Glass card 82"/>
          <p:cNvSpPr/>
          <p:nvPr/>
        </p:nvSpPr>
        <p:spPr>
          <a:xfrm>
            <a:off x="475560" y="1783080"/>
            <a:ext cx="1554120" cy="1828440"/>
          </a:xfrm>
          <a:prstGeom prst="roundRect">
            <a:avLst>
              <a:gd name="adj" fmla="val 10588"/>
            </a:avLst>
          </a:prstGeom>
          <a:solidFill>
            <a:srgbClr val="8B80F9">
              <a:alpha val="10000"/>
            </a:srgbClr>
          </a:solidFill>
          <a:ln w="9525">
            <a:solidFill>
              <a:srgbClr val="8B80F9">
                <a:alpha val="5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3"/>
          <p:cNvSpPr/>
          <p:nvPr/>
        </p:nvSpPr>
        <p:spPr>
          <a:xfrm>
            <a:off x="978480" y="1920240"/>
            <a:ext cx="548280" cy="54828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8" name="Image 0" descr="Code icon"/>
          <p:cNvPicPr/>
          <p:nvPr/>
        </p:nvPicPr>
        <p:blipFill>
          <a:blip r:embed="rId1"/>
          <a:stretch/>
        </p:blipFill>
        <p:spPr>
          <a:xfrm>
            <a:off x="1115640" y="20574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" name="Text 4"/>
          <p:cNvSpPr/>
          <p:nvPr/>
        </p:nvSpPr>
        <p:spPr>
          <a:xfrm>
            <a:off x="567000" y="260604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Code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Write features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5"/>
          <p:cNvSpPr/>
          <p:nvPr/>
        </p:nvSpPr>
        <p:spPr>
          <a:xfrm>
            <a:off x="2057400" y="2697480"/>
            <a:ext cx="32904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Glass card 83"/>
          <p:cNvSpPr/>
          <p:nvPr/>
        </p:nvSpPr>
        <p:spPr>
          <a:xfrm>
            <a:off x="2414160" y="1783080"/>
            <a:ext cx="1554120" cy="1828440"/>
          </a:xfrm>
          <a:prstGeom prst="roundRect">
            <a:avLst>
              <a:gd name="adj" fmla="val 10588"/>
            </a:avLst>
          </a:prstGeom>
          <a:solidFill>
            <a:srgbClr val="8B80F9">
              <a:alpha val="10000"/>
            </a:srgbClr>
          </a:solidFill>
          <a:ln w="9525">
            <a:solidFill>
              <a:srgbClr val="8B80F9">
                <a:alpha val="5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7"/>
          <p:cNvSpPr/>
          <p:nvPr/>
        </p:nvSpPr>
        <p:spPr>
          <a:xfrm>
            <a:off x="2917080" y="1920240"/>
            <a:ext cx="548280" cy="54828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3" name="Image 1" descr="GitAlt icon"/>
          <p:cNvPicPr/>
          <p:nvPr/>
        </p:nvPicPr>
        <p:blipFill>
          <a:blip r:embed="rId2"/>
          <a:stretch/>
        </p:blipFill>
        <p:spPr>
          <a:xfrm>
            <a:off x="3054240" y="20574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Text 8"/>
          <p:cNvSpPr/>
          <p:nvPr/>
        </p:nvSpPr>
        <p:spPr>
          <a:xfrm>
            <a:off x="2505600" y="260604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Git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Version and review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9"/>
          <p:cNvSpPr/>
          <p:nvPr/>
        </p:nvSpPr>
        <p:spPr>
          <a:xfrm>
            <a:off x="3995640" y="2697480"/>
            <a:ext cx="32940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Glass card 84"/>
          <p:cNvSpPr/>
          <p:nvPr/>
        </p:nvSpPr>
        <p:spPr>
          <a:xfrm>
            <a:off x="4352400" y="1783080"/>
            <a:ext cx="1554120" cy="1828440"/>
          </a:xfrm>
          <a:prstGeom prst="roundRect">
            <a:avLst>
              <a:gd name="adj" fmla="val 10588"/>
            </a:avLst>
          </a:prstGeom>
          <a:solidFill>
            <a:srgbClr val="8B80F9">
              <a:alpha val="10000"/>
            </a:srgbClr>
          </a:solidFill>
          <a:ln w="9525">
            <a:solidFill>
              <a:srgbClr val="8B80F9">
                <a:alpha val="5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1"/>
          <p:cNvSpPr/>
          <p:nvPr/>
        </p:nvSpPr>
        <p:spPr>
          <a:xfrm>
            <a:off x="4855320" y="1920240"/>
            <a:ext cx="548280" cy="54828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8" name="Image 2" descr="Hammer icon"/>
          <p:cNvPicPr/>
          <p:nvPr/>
        </p:nvPicPr>
        <p:blipFill>
          <a:blip r:embed="rId3"/>
          <a:stretch/>
        </p:blipFill>
        <p:spPr>
          <a:xfrm>
            <a:off x="4992480" y="20574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9" name="Text 12"/>
          <p:cNvSpPr/>
          <p:nvPr/>
        </p:nvSpPr>
        <p:spPr>
          <a:xfrm>
            <a:off x="4443840" y="260604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Build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Compile and package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3"/>
          <p:cNvSpPr/>
          <p:nvPr/>
        </p:nvSpPr>
        <p:spPr>
          <a:xfrm>
            <a:off x="5934240" y="2697480"/>
            <a:ext cx="32940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Glass card 85"/>
          <p:cNvSpPr/>
          <p:nvPr/>
        </p:nvSpPr>
        <p:spPr>
          <a:xfrm>
            <a:off x="6291000" y="1783080"/>
            <a:ext cx="1554120" cy="1828440"/>
          </a:xfrm>
          <a:prstGeom prst="roundRect">
            <a:avLst>
              <a:gd name="adj" fmla="val 10588"/>
            </a:avLst>
          </a:prstGeom>
          <a:solidFill>
            <a:srgbClr val="8B80F9">
              <a:alpha val="10000"/>
            </a:srgbClr>
          </a:solidFill>
          <a:ln w="9525">
            <a:solidFill>
              <a:srgbClr val="8B80F9">
                <a:alpha val="5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5"/>
          <p:cNvSpPr/>
          <p:nvPr/>
        </p:nvSpPr>
        <p:spPr>
          <a:xfrm>
            <a:off x="6793920" y="1920240"/>
            <a:ext cx="548280" cy="54828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3" name="Image 3" descr="Vial icon"/>
          <p:cNvPicPr/>
          <p:nvPr/>
        </p:nvPicPr>
        <p:blipFill>
          <a:blip r:embed="rId4"/>
          <a:stretch/>
        </p:blipFill>
        <p:spPr>
          <a:xfrm>
            <a:off x="6931080" y="20574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4" name="Text 16"/>
          <p:cNvSpPr/>
          <p:nvPr/>
        </p:nvSpPr>
        <p:spPr>
          <a:xfrm>
            <a:off x="6382440" y="260604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Run automated checks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17"/>
          <p:cNvSpPr/>
          <p:nvPr/>
        </p:nvSpPr>
        <p:spPr>
          <a:xfrm>
            <a:off x="7872840" y="2697480"/>
            <a:ext cx="32904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Glass card 86"/>
          <p:cNvSpPr/>
          <p:nvPr/>
        </p:nvSpPr>
        <p:spPr>
          <a:xfrm>
            <a:off x="8229600" y="1783080"/>
            <a:ext cx="1554120" cy="1828440"/>
          </a:xfrm>
          <a:prstGeom prst="roundRect">
            <a:avLst>
              <a:gd name="adj" fmla="val 10588"/>
            </a:avLst>
          </a:prstGeom>
          <a:solidFill>
            <a:srgbClr val="8B80F9">
              <a:alpha val="10000"/>
            </a:srgbClr>
          </a:solidFill>
          <a:ln w="9525">
            <a:solidFill>
              <a:srgbClr val="8B80F9">
                <a:alpha val="5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19"/>
          <p:cNvSpPr/>
          <p:nvPr/>
        </p:nvSpPr>
        <p:spPr>
          <a:xfrm>
            <a:off x="8732520" y="1920240"/>
            <a:ext cx="548280" cy="54828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8" name="Image 4" descr="Rocket icon"/>
          <p:cNvPicPr/>
          <p:nvPr/>
        </p:nvPicPr>
        <p:blipFill>
          <a:blip r:embed="rId5"/>
          <a:stretch/>
        </p:blipFill>
        <p:spPr>
          <a:xfrm>
            <a:off x="8869680" y="20574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Text 20"/>
          <p:cNvSpPr/>
          <p:nvPr/>
        </p:nvSpPr>
        <p:spPr>
          <a:xfrm>
            <a:off x="8321040" y="260604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Deploy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Release safely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21"/>
          <p:cNvSpPr/>
          <p:nvPr/>
        </p:nvSpPr>
        <p:spPr>
          <a:xfrm>
            <a:off x="9811440" y="2697480"/>
            <a:ext cx="329040" cy="360"/>
          </a:xfrm>
          <a:prstGeom prst="line">
            <a:avLst/>
          </a:prstGeom>
          <a:ln w="22225">
            <a:solidFill>
              <a:srgbClr val="5AC8F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Glass card 87"/>
          <p:cNvSpPr/>
          <p:nvPr/>
        </p:nvSpPr>
        <p:spPr>
          <a:xfrm>
            <a:off x="10168200" y="1783080"/>
            <a:ext cx="1554120" cy="1828440"/>
          </a:xfrm>
          <a:prstGeom prst="roundRect">
            <a:avLst>
              <a:gd name="adj" fmla="val 10588"/>
            </a:avLst>
          </a:prstGeom>
          <a:solidFill>
            <a:srgbClr val="8B80F9">
              <a:alpha val="10000"/>
            </a:srgbClr>
          </a:solidFill>
          <a:ln w="9525">
            <a:solidFill>
              <a:srgbClr val="8B80F9">
                <a:alpha val="5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23"/>
          <p:cNvSpPr/>
          <p:nvPr/>
        </p:nvSpPr>
        <p:spPr>
          <a:xfrm>
            <a:off x="10671120" y="1920240"/>
            <a:ext cx="548280" cy="548280"/>
          </a:xfrm>
          <a:prstGeom prst="ellipse">
            <a:avLst/>
          </a:prstGeom>
          <a:solidFill>
            <a:srgbClr val="5AC8FA">
              <a:alpha val="30000"/>
            </a:srgbClr>
          </a:solidFill>
          <a:ln w="9525">
            <a:solidFill>
              <a:srgbClr val="5AC8FA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3" name="Image 5" descr="ChartLine icon"/>
          <p:cNvPicPr/>
          <p:nvPr/>
        </p:nvPicPr>
        <p:blipFill>
          <a:blip r:embed="rId6"/>
          <a:stretch/>
        </p:blipFill>
        <p:spPr>
          <a:xfrm>
            <a:off x="10808280" y="20574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4" name="Text 24"/>
          <p:cNvSpPr/>
          <p:nvPr/>
        </p:nvSpPr>
        <p:spPr>
          <a:xfrm>
            <a:off x="10259640" y="260604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Monitor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Watch health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25"/>
          <p:cNvSpPr/>
          <p:nvPr/>
        </p:nvSpPr>
        <p:spPr>
          <a:xfrm>
            <a:off x="10945080" y="3629880"/>
            <a:ext cx="360" cy="393480"/>
          </a:xfrm>
          <a:prstGeom prst="line">
            <a:avLst/>
          </a:prstGeom>
          <a:ln w="22225">
            <a:solidFill>
              <a:srgbClr val="8B80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26"/>
          <p:cNvSpPr/>
          <p:nvPr/>
        </p:nvSpPr>
        <p:spPr>
          <a:xfrm flipH="1">
            <a:off x="1252440" y="4023360"/>
            <a:ext cx="9692640" cy="360"/>
          </a:xfrm>
          <a:prstGeom prst="line">
            <a:avLst/>
          </a:prstGeom>
          <a:ln w="22225">
            <a:solidFill>
              <a:srgbClr val="8B80F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27"/>
          <p:cNvSpPr/>
          <p:nvPr/>
        </p:nvSpPr>
        <p:spPr>
          <a:xfrm flipV="1">
            <a:off x="1252440" y="3648240"/>
            <a:ext cx="360" cy="375120"/>
          </a:xfrm>
          <a:prstGeom prst="line">
            <a:avLst/>
          </a:prstGeom>
          <a:ln w="22225">
            <a:solidFill>
              <a:srgbClr val="8B80F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28"/>
          <p:cNvSpPr/>
          <p:nvPr/>
        </p:nvSpPr>
        <p:spPr>
          <a:xfrm>
            <a:off x="4754880" y="40874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Feedback loop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Glass card 88"/>
          <p:cNvSpPr/>
          <p:nvPr/>
        </p:nvSpPr>
        <p:spPr>
          <a:xfrm>
            <a:off x="475560" y="4617720"/>
            <a:ext cx="3565800" cy="1416960"/>
          </a:xfrm>
          <a:prstGeom prst="roundRect">
            <a:avLst>
              <a:gd name="adj" fmla="val 11613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>
                <a:alpha val="6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30"/>
          <p:cNvSpPr/>
          <p:nvPr/>
        </p:nvSpPr>
        <p:spPr>
          <a:xfrm>
            <a:off x="749880" y="4617720"/>
            <a:ext cx="31086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AWS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CodePipeline · CodeBuild · CodeDeploy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Glass card 89"/>
          <p:cNvSpPr/>
          <p:nvPr/>
        </p:nvSpPr>
        <p:spPr>
          <a:xfrm>
            <a:off x="4316040" y="4617720"/>
            <a:ext cx="3565800" cy="1416960"/>
          </a:xfrm>
          <a:prstGeom prst="roundRect">
            <a:avLst>
              <a:gd name="adj" fmla="val 11613"/>
            </a:avLst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6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32"/>
          <p:cNvSpPr/>
          <p:nvPr/>
        </p:nvSpPr>
        <p:spPr>
          <a:xfrm>
            <a:off x="4590360" y="4617720"/>
            <a:ext cx="31086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5CB6FF"/>
                </a:solidFill>
                <a:effectLst/>
                <a:uFillTx/>
                <a:latin typeface="Calibri"/>
                <a:ea typeface="Calibri"/>
              </a:rPr>
              <a:t>Azure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Repos · Azure Pipelines · Azure Monitor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Glass card 90"/>
          <p:cNvSpPr/>
          <p:nvPr/>
        </p:nvSpPr>
        <p:spPr>
          <a:xfrm>
            <a:off x="8156520" y="4617720"/>
            <a:ext cx="3565800" cy="1416960"/>
          </a:xfrm>
          <a:prstGeom prst="roundRect">
            <a:avLst>
              <a:gd name="adj" fmla="val 11613"/>
            </a:avLst>
          </a:prstGeom>
          <a:solidFill>
            <a:srgbClr val="4285F4">
              <a:alpha val="18000"/>
            </a:srgbClr>
          </a:solidFill>
          <a:ln w="12700">
            <a:solidFill>
              <a:srgbClr val="4285F4">
                <a:alpha val="6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34"/>
          <p:cNvSpPr/>
          <p:nvPr/>
        </p:nvSpPr>
        <p:spPr>
          <a:xfrm>
            <a:off x="8430840" y="4617720"/>
            <a:ext cx="31086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8AB4F8"/>
                </a:solidFill>
                <a:effectLst/>
                <a:uFillTx/>
                <a:latin typeface="Calibri"/>
                <a:ea typeface="Calibri"/>
              </a:rPr>
              <a:t>Google Cloud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Build · Artifact Registry · Cloud Deploy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sldNum" idx="15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63FFA8-8DE5-48B8-BC64-8145B2F41FA2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1D2433"/>
                </a:solidFill>
                <a:effectLst/>
                <a:uFillTx/>
                <a:latin typeface="Calibri"/>
                <a:ea typeface="Calibri"/>
              </a:rPr>
              <a:t>Compute and Hosting Comparison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7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A6482"/>
                </a:solidFill>
                <a:effectLst/>
                <a:uFillTx/>
                <a:latin typeface="Calibri"/>
                <a:ea typeface="Calibri"/>
              </a:rPr>
              <a:t>Equivalent services across the three platforms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Glass card 91"/>
          <p:cNvSpPr/>
          <p:nvPr/>
        </p:nvSpPr>
        <p:spPr>
          <a:xfrm>
            <a:off x="502920" y="1691640"/>
            <a:ext cx="11201040" cy="4388760"/>
          </a:xfrm>
          <a:prstGeom prst="roundRect">
            <a:avLst>
              <a:gd name="adj" fmla="val 416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5CEE8"/>
            </a:solidFill>
            <a:round/>
          </a:ln>
          <a:effectLst>
            <a:outerShdw algn="bl" blurRad="177840" dir="5400000" dist="38160" kx="0" ky="0" rotWithShape="0" sx="100000" sy="100000">
              <a:srgbClr val="6B7AA8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89" name="Comparison table"/>
          <p:cNvGraphicFramePr/>
          <p:nvPr/>
        </p:nvGraphicFramePr>
        <p:xfrm>
          <a:off x="640080" y="1828800"/>
          <a:ext cx="10926720" cy="4114440"/>
        </p:xfrm>
        <a:graphic>
          <a:graphicData uri="http://schemas.openxmlformats.org/drawingml/2006/table">
            <a:tbl>
              <a:tblPr/>
              <a:tblGrid>
                <a:gridCol w="2331720"/>
                <a:gridCol w="2834640"/>
                <a:gridCol w="2926080"/>
                <a:gridCol w="2834640"/>
              </a:tblGrid>
              <a:tr h="548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Category</a:t>
                      </a:r>
                      <a:endParaRPr lang="en-IN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17192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AWS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Microsoft Azure</a:t>
                      </a:r>
                      <a:endParaRPr lang="en-IN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Google Cloud</a:t>
                      </a:r>
                      <a:endParaRPr lang="en-IN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</a:tr>
              <a:tr h="7131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Virtual machines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Amazon EC2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Virtual Machines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Compute Engine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1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Managed app hosting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Elastic Beanstalk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App Service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App Engine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1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Serverless functions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AWS Lambda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Azure Functions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Cloud Run functions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1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Serverless containers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AWS Fargate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Azure Container Apps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Cloud Run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1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Managed Kubernetes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Amazon EKS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Azure Kubernetes Service (AKS)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Google Kubernetes Engine (GKE)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0" name="PlaceHolder 2"/>
          <p:cNvSpPr>
            <a:spLocks noGrp="1"/>
          </p:cNvSpPr>
          <p:nvPr>
            <p:ph type="sldNum" idx="16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A64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A9236F-C0F5-448E-9C69-70CCB3F4D4B5}" type="slidenum">
              <a:rPr lang="en-US" sz="1000" b="0" u="none" strike="noStrike">
                <a:solidFill>
                  <a:srgbClr val="5A64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1D2433"/>
                </a:solidFill>
                <a:effectLst/>
                <a:uFillTx/>
                <a:latin typeface="Calibri"/>
                <a:ea typeface="Calibri"/>
              </a:rPr>
              <a:t>Storage, Databases and Networking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2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A6482"/>
                </a:solidFill>
                <a:effectLst/>
                <a:uFillTx/>
                <a:latin typeface="Calibri"/>
                <a:ea typeface="Calibri"/>
              </a:rPr>
              <a:t>Representative services for the data and network layers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Glass card 92"/>
          <p:cNvSpPr/>
          <p:nvPr/>
        </p:nvSpPr>
        <p:spPr>
          <a:xfrm>
            <a:off x="502920" y="1691640"/>
            <a:ext cx="11201040" cy="4553280"/>
          </a:xfrm>
          <a:prstGeom prst="roundRect">
            <a:avLst>
              <a:gd name="adj" fmla="val 4016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5CEE8"/>
            </a:solidFill>
            <a:round/>
          </a:ln>
          <a:effectLst>
            <a:outerShdw algn="bl" blurRad="177840" dir="5400000" dist="38160" kx="0" ky="0" rotWithShape="0" sx="100000" sy="100000">
              <a:srgbClr val="6B7AA8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4" name="Comparison table"/>
          <p:cNvGraphicFramePr/>
          <p:nvPr/>
        </p:nvGraphicFramePr>
        <p:xfrm>
          <a:off x="640080" y="1828800"/>
          <a:ext cx="10926720" cy="4278960"/>
        </p:xfrm>
        <a:graphic>
          <a:graphicData uri="http://schemas.openxmlformats.org/drawingml/2006/table">
            <a:tbl>
              <a:tblPr/>
              <a:tblGrid>
                <a:gridCol w="2331720"/>
                <a:gridCol w="2834640"/>
                <a:gridCol w="2926080"/>
                <a:gridCol w="2834640"/>
              </a:tblGrid>
              <a:tr h="548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Category</a:t>
                      </a:r>
                      <a:endParaRPr lang="en-IN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17192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AWS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Microsoft Azure</a:t>
                      </a:r>
                      <a:endParaRPr lang="en-IN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Google Cloud</a:t>
                      </a:r>
                      <a:endParaRPr lang="en-IN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</a:tr>
              <a:tr h="6217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Object storage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Amazon S3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Blob Storage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Cloud Storage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Relational database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Amazon RDS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Azure SQL Database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Cloud SQL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NoSQL database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Amazon DynamoDB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Azure Cosmos DB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Firestore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Virtual network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Amazon VPC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Virtual Network (VNet)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VPC network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Load balancing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Elastic Load Balancing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Load Balancer / Application Gateway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Cloud Load Balancing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DNS and CDN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E7EB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Route 53 + CloudFront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Azure DNS + Front Door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D24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Cloud DNS + Cloud CDN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BEE"/>
                      </a:solidFill>
                      <a:prstDash val="solid"/>
                    </a:lnL>
                    <a:lnR w="9360">
                      <a:solidFill>
                        <a:srgbClr val="D5DBEE"/>
                      </a:solidFill>
                      <a:prstDash val="solid"/>
                    </a:lnR>
                    <a:lnT w="9360">
                      <a:solidFill>
                        <a:srgbClr val="D5DBEE"/>
                      </a:solidFill>
                      <a:prstDash val="solid"/>
                    </a:lnT>
                    <a:lnB w="9360">
                      <a:solidFill>
                        <a:srgbClr val="D5DB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5" name="PlaceHolder 2"/>
          <p:cNvSpPr>
            <a:spLocks noGrp="1"/>
          </p:cNvSpPr>
          <p:nvPr>
            <p:ph type="sldNum" idx="17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A648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B54EA2-E9B7-4F67-A06C-E91457B70496}" type="slidenum">
              <a:rPr lang="en-US" sz="1000" b="0" u="none" strike="noStrike">
                <a:solidFill>
                  <a:srgbClr val="5A6482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Security, Monitoring and DevOps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Five layers protect and operate a cloud application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"/>
          <p:cNvSpPr/>
          <p:nvPr/>
        </p:nvSpPr>
        <p:spPr>
          <a:xfrm>
            <a:off x="3474720" y="160020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AWS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3"/>
          <p:cNvSpPr/>
          <p:nvPr/>
        </p:nvSpPr>
        <p:spPr>
          <a:xfrm>
            <a:off x="6217920" y="160020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5CB6FF"/>
                </a:solidFill>
                <a:effectLst/>
                <a:uFillTx/>
                <a:latin typeface="Calibri"/>
                <a:ea typeface="Calibri"/>
              </a:rPr>
              <a:t>Microsoft Azure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4"/>
          <p:cNvSpPr/>
          <p:nvPr/>
        </p:nvSpPr>
        <p:spPr>
          <a:xfrm>
            <a:off x="8961120" y="160020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8AB4F8"/>
                </a:solidFill>
                <a:effectLst/>
                <a:uFillTx/>
                <a:latin typeface="Calibri"/>
                <a:ea typeface="Calibri"/>
              </a:rPr>
              <a:t>Google Cloud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Glass card 93"/>
          <p:cNvSpPr/>
          <p:nvPr/>
        </p:nvSpPr>
        <p:spPr>
          <a:xfrm>
            <a:off x="548640" y="2011680"/>
            <a:ext cx="2742840" cy="712800"/>
          </a:xfrm>
          <a:prstGeom prst="roundRect">
            <a:avLst>
              <a:gd name="adj" fmla="val 23077"/>
            </a:avLst>
          </a:prstGeom>
          <a:solidFill>
            <a:srgbClr val="8B80F9">
              <a:alpha val="14000"/>
            </a:srgbClr>
          </a:solidFill>
          <a:ln w="12700">
            <a:solidFill>
              <a:srgbClr val="8B80F9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2" name="Image 0" descr="Key icon"/>
          <p:cNvPicPr/>
          <p:nvPr/>
        </p:nvPicPr>
        <p:blipFill>
          <a:blip r:embed="rId1"/>
          <a:stretch/>
        </p:blipFill>
        <p:spPr>
          <a:xfrm>
            <a:off x="731520" y="222192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3" name="Text 6"/>
          <p:cNvSpPr/>
          <p:nvPr/>
        </p:nvSpPr>
        <p:spPr>
          <a:xfrm>
            <a:off x="1188720" y="2011680"/>
            <a:ext cx="2057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Identity and access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Glass card 94"/>
          <p:cNvSpPr/>
          <p:nvPr/>
        </p:nvSpPr>
        <p:spPr>
          <a:xfrm>
            <a:off x="3474720" y="201168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FF9900">
              <a:alpha val="12000"/>
            </a:srgbClr>
          </a:solidFill>
          <a:ln w="9525">
            <a:solidFill>
              <a:srgbClr val="FF9900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8"/>
          <p:cNvSpPr/>
          <p:nvPr/>
        </p:nvSpPr>
        <p:spPr>
          <a:xfrm>
            <a:off x="3566160" y="201168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AWS IAM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Glass card 95"/>
          <p:cNvSpPr/>
          <p:nvPr/>
        </p:nvSpPr>
        <p:spPr>
          <a:xfrm>
            <a:off x="6217920" y="201168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0078D4">
              <a:alpha val="20000"/>
            </a:srgbClr>
          </a:solidFill>
          <a:ln w="9525">
            <a:solidFill>
              <a:srgbClr val="0078D4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0"/>
          <p:cNvSpPr/>
          <p:nvPr/>
        </p:nvSpPr>
        <p:spPr>
          <a:xfrm>
            <a:off x="6309360" y="201168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Microsoft Entra ID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Glass card 96"/>
          <p:cNvSpPr/>
          <p:nvPr/>
        </p:nvSpPr>
        <p:spPr>
          <a:xfrm>
            <a:off x="8961120" y="201168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4285F4">
              <a:alpha val="18000"/>
            </a:srgbClr>
          </a:solidFill>
          <a:ln w="9525">
            <a:solidFill>
              <a:srgbClr val="4285F4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2"/>
          <p:cNvSpPr/>
          <p:nvPr/>
        </p:nvSpPr>
        <p:spPr>
          <a:xfrm>
            <a:off x="9052560" y="201168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IAM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Glass card 97"/>
          <p:cNvSpPr/>
          <p:nvPr/>
        </p:nvSpPr>
        <p:spPr>
          <a:xfrm>
            <a:off x="548640" y="2834640"/>
            <a:ext cx="2742840" cy="712800"/>
          </a:xfrm>
          <a:prstGeom prst="roundRect">
            <a:avLst>
              <a:gd name="adj" fmla="val 23077"/>
            </a:avLst>
          </a:prstGeom>
          <a:solidFill>
            <a:srgbClr val="8B80F9">
              <a:alpha val="14000"/>
            </a:srgbClr>
          </a:solidFill>
          <a:ln w="12700">
            <a:solidFill>
              <a:srgbClr val="8B80F9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1" name="Image 1" descr="NetworkWired icon"/>
          <p:cNvPicPr/>
          <p:nvPr/>
        </p:nvPicPr>
        <p:blipFill>
          <a:blip r:embed="rId2"/>
          <a:stretch/>
        </p:blipFill>
        <p:spPr>
          <a:xfrm>
            <a:off x="731520" y="304488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2" name="Text 14"/>
          <p:cNvSpPr/>
          <p:nvPr/>
        </p:nvSpPr>
        <p:spPr>
          <a:xfrm>
            <a:off x="1188720" y="2834640"/>
            <a:ext cx="2057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Network security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Glass card 98"/>
          <p:cNvSpPr/>
          <p:nvPr/>
        </p:nvSpPr>
        <p:spPr>
          <a:xfrm>
            <a:off x="3474720" y="283464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FF9900">
              <a:alpha val="12000"/>
            </a:srgbClr>
          </a:solidFill>
          <a:ln w="9525">
            <a:solidFill>
              <a:srgbClr val="FF9900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6"/>
          <p:cNvSpPr/>
          <p:nvPr/>
        </p:nvSpPr>
        <p:spPr>
          <a:xfrm>
            <a:off x="3566160" y="283464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VPC · Security Groups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Glass card 99"/>
          <p:cNvSpPr/>
          <p:nvPr/>
        </p:nvSpPr>
        <p:spPr>
          <a:xfrm>
            <a:off x="6217920" y="283464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0078D4">
              <a:alpha val="20000"/>
            </a:srgbClr>
          </a:solidFill>
          <a:ln w="9525">
            <a:solidFill>
              <a:srgbClr val="0078D4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8"/>
          <p:cNvSpPr/>
          <p:nvPr/>
        </p:nvSpPr>
        <p:spPr>
          <a:xfrm>
            <a:off x="6309360" y="283464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VNet · Network Security Groups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Glass card 100"/>
          <p:cNvSpPr/>
          <p:nvPr/>
        </p:nvSpPr>
        <p:spPr>
          <a:xfrm>
            <a:off x="8961120" y="283464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4285F4">
              <a:alpha val="18000"/>
            </a:srgbClr>
          </a:solidFill>
          <a:ln w="9525">
            <a:solidFill>
              <a:srgbClr val="4285F4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20"/>
          <p:cNvSpPr/>
          <p:nvPr/>
        </p:nvSpPr>
        <p:spPr>
          <a:xfrm>
            <a:off x="9052560" y="283464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VPC · Firewall rules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Glass card 101"/>
          <p:cNvSpPr/>
          <p:nvPr/>
        </p:nvSpPr>
        <p:spPr>
          <a:xfrm>
            <a:off x="548640" y="3657600"/>
            <a:ext cx="2742840" cy="712800"/>
          </a:xfrm>
          <a:prstGeom prst="roundRect">
            <a:avLst>
              <a:gd name="adj" fmla="val 23077"/>
            </a:avLst>
          </a:prstGeom>
          <a:solidFill>
            <a:srgbClr val="8B80F9">
              <a:alpha val="14000"/>
            </a:srgbClr>
          </a:solidFill>
          <a:ln w="12700">
            <a:solidFill>
              <a:srgbClr val="8B80F9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0" name="Image 2" descr="Lock icon"/>
          <p:cNvPicPr/>
          <p:nvPr/>
        </p:nvPicPr>
        <p:blipFill>
          <a:blip r:embed="rId3"/>
          <a:stretch/>
        </p:blipFill>
        <p:spPr>
          <a:xfrm>
            <a:off x="731520" y="386784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1" name="Text 22"/>
          <p:cNvSpPr/>
          <p:nvPr/>
        </p:nvSpPr>
        <p:spPr>
          <a:xfrm>
            <a:off x="1188720" y="3657600"/>
            <a:ext cx="2057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 encryption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Glass card 102"/>
          <p:cNvSpPr/>
          <p:nvPr/>
        </p:nvSpPr>
        <p:spPr>
          <a:xfrm>
            <a:off x="3474720" y="365760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FF9900">
              <a:alpha val="12000"/>
            </a:srgbClr>
          </a:solidFill>
          <a:ln w="9525">
            <a:solidFill>
              <a:srgbClr val="FF9900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24"/>
          <p:cNvSpPr/>
          <p:nvPr/>
        </p:nvSpPr>
        <p:spPr>
          <a:xfrm>
            <a:off x="3566160" y="365760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AWS KMS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Glass card 103"/>
          <p:cNvSpPr/>
          <p:nvPr/>
        </p:nvSpPr>
        <p:spPr>
          <a:xfrm>
            <a:off x="6217920" y="365760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0078D4">
              <a:alpha val="20000"/>
            </a:srgbClr>
          </a:solidFill>
          <a:ln w="9525">
            <a:solidFill>
              <a:srgbClr val="0078D4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26"/>
          <p:cNvSpPr/>
          <p:nvPr/>
        </p:nvSpPr>
        <p:spPr>
          <a:xfrm>
            <a:off x="6309360" y="365760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Key Vault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Glass card 104"/>
          <p:cNvSpPr/>
          <p:nvPr/>
        </p:nvSpPr>
        <p:spPr>
          <a:xfrm>
            <a:off x="8961120" y="365760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4285F4">
              <a:alpha val="18000"/>
            </a:srgbClr>
          </a:solidFill>
          <a:ln w="9525">
            <a:solidFill>
              <a:srgbClr val="4285F4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28"/>
          <p:cNvSpPr/>
          <p:nvPr/>
        </p:nvSpPr>
        <p:spPr>
          <a:xfrm>
            <a:off x="9052560" y="365760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KMS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Glass card 105"/>
          <p:cNvSpPr/>
          <p:nvPr/>
        </p:nvSpPr>
        <p:spPr>
          <a:xfrm>
            <a:off x="548640" y="4480560"/>
            <a:ext cx="2742840" cy="712800"/>
          </a:xfrm>
          <a:prstGeom prst="roundRect">
            <a:avLst>
              <a:gd name="adj" fmla="val 23077"/>
            </a:avLst>
          </a:prstGeom>
          <a:solidFill>
            <a:srgbClr val="8B80F9">
              <a:alpha val="14000"/>
            </a:srgbClr>
          </a:solidFill>
          <a:ln w="12700">
            <a:solidFill>
              <a:srgbClr val="8B80F9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9" name="Image 3" descr="Eye icon"/>
          <p:cNvPicPr/>
          <p:nvPr/>
        </p:nvPicPr>
        <p:blipFill>
          <a:blip r:embed="rId4"/>
          <a:stretch/>
        </p:blipFill>
        <p:spPr>
          <a:xfrm>
            <a:off x="731520" y="469080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0" name="Text 30"/>
          <p:cNvSpPr/>
          <p:nvPr/>
        </p:nvSpPr>
        <p:spPr>
          <a:xfrm>
            <a:off x="1188720" y="4480560"/>
            <a:ext cx="2057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Logging and monitoring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Glass card 106"/>
          <p:cNvSpPr/>
          <p:nvPr/>
        </p:nvSpPr>
        <p:spPr>
          <a:xfrm>
            <a:off x="3474720" y="448056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FF9900">
              <a:alpha val="12000"/>
            </a:srgbClr>
          </a:solidFill>
          <a:ln w="9525">
            <a:solidFill>
              <a:srgbClr val="FF9900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32"/>
          <p:cNvSpPr/>
          <p:nvPr/>
        </p:nvSpPr>
        <p:spPr>
          <a:xfrm>
            <a:off x="3566160" y="448056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CloudWatch · CloudTrail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Glass card 107"/>
          <p:cNvSpPr/>
          <p:nvPr/>
        </p:nvSpPr>
        <p:spPr>
          <a:xfrm>
            <a:off x="6217920" y="448056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0078D4">
              <a:alpha val="20000"/>
            </a:srgbClr>
          </a:solidFill>
          <a:ln w="9525">
            <a:solidFill>
              <a:srgbClr val="0078D4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34"/>
          <p:cNvSpPr/>
          <p:nvPr/>
        </p:nvSpPr>
        <p:spPr>
          <a:xfrm>
            <a:off x="6309360" y="448056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Monitor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Glass card 108"/>
          <p:cNvSpPr/>
          <p:nvPr/>
        </p:nvSpPr>
        <p:spPr>
          <a:xfrm>
            <a:off x="8961120" y="448056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4285F4">
              <a:alpha val="18000"/>
            </a:srgbClr>
          </a:solidFill>
          <a:ln w="9525">
            <a:solidFill>
              <a:srgbClr val="4285F4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36"/>
          <p:cNvSpPr/>
          <p:nvPr/>
        </p:nvSpPr>
        <p:spPr>
          <a:xfrm>
            <a:off x="9052560" y="448056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Logging · Monitoring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Glass card 109"/>
          <p:cNvSpPr/>
          <p:nvPr/>
        </p:nvSpPr>
        <p:spPr>
          <a:xfrm>
            <a:off x="548640" y="5303520"/>
            <a:ext cx="2742840" cy="712800"/>
          </a:xfrm>
          <a:prstGeom prst="roundRect">
            <a:avLst>
              <a:gd name="adj" fmla="val 23077"/>
            </a:avLst>
          </a:prstGeom>
          <a:solidFill>
            <a:srgbClr val="8B80F9">
              <a:alpha val="14000"/>
            </a:srgbClr>
          </a:solidFill>
          <a:ln w="12700">
            <a:solidFill>
              <a:srgbClr val="8B80F9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8" name="Image 4" descr="Cogs icon"/>
          <p:cNvPicPr/>
          <p:nvPr/>
        </p:nvPicPr>
        <p:blipFill>
          <a:blip r:embed="rId5"/>
          <a:stretch/>
        </p:blipFill>
        <p:spPr>
          <a:xfrm>
            <a:off x="731520" y="551376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9" name="Text 38"/>
          <p:cNvSpPr/>
          <p:nvPr/>
        </p:nvSpPr>
        <p:spPr>
          <a:xfrm>
            <a:off x="1188720" y="5303520"/>
            <a:ext cx="2057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Deployment automation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Glass card 110"/>
          <p:cNvSpPr/>
          <p:nvPr/>
        </p:nvSpPr>
        <p:spPr>
          <a:xfrm>
            <a:off x="3474720" y="530352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FF9900">
              <a:alpha val="12000"/>
            </a:srgbClr>
          </a:solidFill>
          <a:ln w="9525">
            <a:solidFill>
              <a:srgbClr val="FF9900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40"/>
          <p:cNvSpPr/>
          <p:nvPr/>
        </p:nvSpPr>
        <p:spPr>
          <a:xfrm>
            <a:off x="3566160" y="530352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AWS CodePipeline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Glass card 111"/>
          <p:cNvSpPr/>
          <p:nvPr/>
        </p:nvSpPr>
        <p:spPr>
          <a:xfrm>
            <a:off x="6217920" y="530352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0078D4">
              <a:alpha val="20000"/>
            </a:srgbClr>
          </a:solidFill>
          <a:ln w="9525">
            <a:solidFill>
              <a:srgbClr val="0078D4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42"/>
          <p:cNvSpPr/>
          <p:nvPr/>
        </p:nvSpPr>
        <p:spPr>
          <a:xfrm>
            <a:off x="6309360" y="530352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Pipelines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Glass card 112"/>
          <p:cNvSpPr/>
          <p:nvPr/>
        </p:nvSpPr>
        <p:spPr>
          <a:xfrm>
            <a:off x="8961120" y="5303520"/>
            <a:ext cx="2605680" cy="712800"/>
          </a:xfrm>
          <a:prstGeom prst="roundRect">
            <a:avLst>
              <a:gd name="adj" fmla="val 17949"/>
            </a:avLst>
          </a:prstGeom>
          <a:solidFill>
            <a:srgbClr val="4285F4">
              <a:alpha val="18000"/>
            </a:srgbClr>
          </a:solidFill>
          <a:ln w="9525">
            <a:solidFill>
              <a:srgbClr val="4285F4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44"/>
          <p:cNvSpPr/>
          <p:nvPr/>
        </p:nvSpPr>
        <p:spPr>
          <a:xfrm>
            <a:off x="9052560" y="530352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Build · Cloud Deploy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2"/>
          <p:cNvSpPr>
            <a:spLocks noGrp="1"/>
          </p:cNvSpPr>
          <p:nvPr>
            <p:ph type="sldNum" idx="18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CEB68D-B795-4220-89FB-465740CE1C25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Advantages, Limitations and Use Cases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8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A balanced view: the best choice depends on the workload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Glass card 113"/>
          <p:cNvSpPr/>
          <p:nvPr/>
        </p:nvSpPr>
        <p:spPr>
          <a:xfrm>
            <a:off x="502920" y="1691640"/>
            <a:ext cx="3611520" cy="4434480"/>
          </a:xfrm>
          <a:prstGeom prst="roundRect">
            <a:avLst>
              <a:gd name="adj" fmla="val 4557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>
                <a:alpha val="6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3"/>
          <p:cNvSpPr/>
          <p:nvPr/>
        </p:nvSpPr>
        <p:spPr>
          <a:xfrm>
            <a:off x="777240" y="1828800"/>
            <a:ext cx="3108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AWS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4"/>
          <p:cNvSpPr/>
          <p:nvPr/>
        </p:nvSpPr>
        <p:spPr>
          <a:xfrm>
            <a:off x="777240" y="2423160"/>
            <a:ext cx="310860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59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7CF0A8"/>
                </a:solidFill>
                <a:effectLst/>
                <a:uFillTx/>
                <a:latin typeface="Calibri"/>
                <a:ea typeface="Calibri"/>
              </a:rPr>
              <a:t>ADVANTAGES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Widest range of services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Mature, large partner ecosystem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59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FFB86B"/>
                </a:solidFill>
                <a:effectLst/>
                <a:uFillTx/>
                <a:latin typeface="Calibri"/>
                <a:ea typeface="Calibri"/>
              </a:rPr>
              <a:t>LIMITATIONS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Many options can feel complex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Costs need careful tracking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59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5AC8FA"/>
                </a:solidFill>
                <a:effectLst/>
                <a:uFillTx/>
                <a:latin typeface="Calibri"/>
                <a:ea typeface="Calibri"/>
              </a:rPr>
              <a:t>BEST FOR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Varied, high-scale workloads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Glass card 114"/>
          <p:cNvSpPr/>
          <p:nvPr/>
        </p:nvSpPr>
        <p:spPr>
          <a:xfrm>
            <a:off x="4297680" y="1691640"/>
            <a:ext cx="3611520" cy="4434480"/>
          </a:xfrm>
          <a:prstGeom prst="roundRect">
            <a:avLst>
              <a:gd name="adj" fmla="val 4557"/>
            </a:avLst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6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6"/>
          <p:cNvSpPr/>
          <p:nvPr/>
        </p:nvSpPr>
        <p:spPr>
          <a:xfrm>
            <a:off x="4572000" y="1828800"/>
            <a:ext cx="3108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5CB6FF"/>
                </a:solidFill>
                <a:effectLst/>
                <a:uFillTx/>
                <a:latin typeface="Calibri"/>
                <a:ea typeface="Calibri"/>
              </a:rPr>
              <a:t>Microsoft Azure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7"/>
          <p:cNvSpPr/>
          <p:nvPr/>
        </p:nvSpPr>
        <p:spPr>
          <a:xfrm>
            <a:off x="4572000" y="2423160"/>
            <a:ext cx="310860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59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7CF0A8"/>
                </a:solidFill>
                <a:effectLst/>
                <a:uFillTx/>
                <a:latin typeface="Calibri"/>
                <a:ea typeface="Calibri"/>
              </a:rPr>
              <a:t>ADVANTAGES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Works well with Microsoft tools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Strong hybrid cloud support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59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FFB86B"/>
                </a:solidFill>
                <a:effectLst/>
                <a:uFillTx/>
                <a:latin typeface="Calibri"/>
                <a:ea typeface="Calibri"/>
              </a:rPr>
              <a:t>LIMITATIONS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Portal and naming can confuse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Some services overlap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59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5AC8FA"/>
                </a:solidFill>
                <a:effectLst/>
                <a:uFillTx/>
                <a:latin typeface="Calibri"/>
                <a:ea typeface="Calibri"/>
              </a:rPr>
              <a:t>BEST FOR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Enterprises on .NET and Microsoft 365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Glass card 115"/>
          <p:cNvSpPr/>
          <p:nvPr/>
        </p:nvSpPr>
        <p:spPr>
          <a:xfrm>
            <a:off x="8092440" y="1691640"/>
            <a:ext cx="3611520" cy="4434480"/>
          </a:xfrm>
          <a:prstGeom prst="roundRect">
            <a:avLst>
              <a:gd name="adj" fmla="val 4557"/>
            </a:avLst>
          </a:prstGeom>
          <a:solidFill>
            <a:srgbClr val="4285F4">
              <a:alpha val="18000"/>
            </a:srgbClr>
          </a:solidFill>
          <a:ln w="12700">
            <a:solidFill>
              <a:srgbClr val="4285F4">
                <a:alpha val="60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9"/>
          <p:cNvSpPr/>
          <p:nvPr/>
        </p:nvSpPr>
        <p:spPr>
          <a:xfrm>
            <a:off x="8366760" y="1828800"/>
            <a:ext cx="3108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AB4F8"/>
                </a:solidFill>
                <a:effectLst/>
                <a:uFillTx/>
                <a:latin typeface="Calibri"/>
                <a:ea typeface="Calibri"/>
              </a:rPr>
              <a:t>Google Cloud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10"/>
          <p:cNvSpPr/>
          <p:nvPr/>
        </p:nvSpPr>
        <p:spPr>
          <a:xfrm>
            <a:off x="8366760" y="2423160"/>
            <a:ext cx="310860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59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7CF0A8"/>
                </a:solidFill>
                <a:effectLst/>
                <a:uFillTx/>
                <a:latin typeface="Calibri"/>
                <a:ea typeface="Calibri"/>
              </a:rPr>
              <a:t>ADVANTAGES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Strong data, analytics and AI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Strong Kubernetes and containers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59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FFB86B"/>
                </a:solidFill>
                <a:effectLst/>
                <a:uFillTx/>
                <a:latin typeface="Calibri"/>
                <a:ea typeface="Calibri"/>
              </a:rPr>
              <a:t>LIMITATIONS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Smaller market share than rivals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Smaller partner ecosystem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599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5AC8FA"/>
                </a:solidFill>
                <a:effectLst/>
                <a:uFillTx/>
                <a:latin typeface="Calibri"/>
                <a:ea typeface="Calibri"/>
              </a:rPr>
              <a:t>BEST FOR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Data, AI and container-native apps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sldNum" idx="19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9CF36D-EEDE-40D6-B75B-A6081E724EF9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Practical Example: Student Portal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0" name="Text 1"/>
          <p:cNvSpPr/>
          <p:nvPr/>
        </p:nvSpPr>
        <p:spPr>
          <a:xfrm>
            <a:off x="548640" y="1069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9B4D6"/>
                </a:solidFill>
                <a:effectLst/>
                <a:uFillTx/>
                <a:latin typeface="Calibri"/>
                <a:ea typeface="Calibri"/>
              </a:rPr>
              <a:t>The same web app, developed, deployed, secured and monitored on each platform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2"/>
          <p:cNvSpPr/>
          <p:nvPr/>
        </p:nvSpPr>
        <p:spPr>
          <a:xfrm>
            <a:off x="2331720" y="16275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5AC8FA"/>
                </a:solidFill>
                <a:effectLst/>
                <a:uFillTx/>
                <a:latin typeface="Calibri"/>
                <a:ea typeface="Calibri"/>
              </a:rPr>
              <a:t>Develop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3"/>
          <p:cNvSpPr/>
          <p:nvPr/>
        </p:nvSpPr>
        <p:spPr>
          <a:xfrm>
            <a:off x="4709160" y="16275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5AC8FA"/>
                </a:solidFill>
                <a:effectLst/>
                <a:uFillTx/>
                <a:latin typeface="Calibri"/>
                <a:ea typeface="Calibri"/>
              </a:rPr>
              <a:t>Deploy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4"/>
          <p:cNvSpPr/>
          <p:nvPr/>
        </p:nvSpPr>
        <p:spPr>
          <a:xfrm>
            <a:off x="7086600" y="16275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5AC8FA"/>
                </a:solidFill>
                <a:effectLst/>
                <a:uFillTx/>
                <a:latin typeface="Calibri"/>
                <a:ea typeface="Calibri"/>
              </a:rPr>
              <a:t>Secure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5"/>
          <p:cNvSpPr/>
          <p:nvPr/>
        </p:nvSpPr>
        <p:spPr>
          <a:xfrm>
            <a:off x="9464040" y="16275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5AC8FA"/>
                </a:solidFill>
                <a:effectLst/>
                <a:uFillTx/>
                <a:latin typeface="Calibri"/>
                <a:ea typeface="Calibri"/>
              </a:rPr>
              <a:t>Monitor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Glass card 116"/>
          <p:cNvSpPr/>
          <p:nvPr/>
        </p:nvSpPr>
        <p:spPr>
          <a:xfrm>
            <a:off x="548640" y="2057400"/>
            <a:ext cx="1599840" cy="1142640"/>
          </a:xfrm>
          <a:prstGeom prst="roundRect">
            <a:avLst>
              <a:gd name="adj" fmla="val 14400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7"/>
          <p:cNvSpPr/>
          <p:nvPr/>
        </p:nvSpPr>
        <p:spPr>
          <a:xfrm>
            <a:off x="640080" y="2057400"/>
            <a:ext cx="14169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9900"/>
                </a:solidFill>
                <a:effectLst/>
                <a:uFillTx/>
                <a:latin typeface="Calibri"/>
                <a:ea typeface="Calibri"/>
              </a:rPr>
              <a:t>AWS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Glass card 117"/>
          <p:cNvSpPr/>
          <p:nvPr/>
        </p:nvSpPr>
        <p:spPr>
          <a:xfrm>
            <a:off x="2331720" y="20574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9"/>
          <p:cNvSpPr/>
          <p:nvPr/>
        </p:nvSpPr>
        <p:spPr>
          <a:xfrm>
            <a:off x="2423160" y="20574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Git + CodePipeline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CodeBuild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10"/>
          <p:cNvSpPr/>
          <p:nvPr/>
        </p:nvSpPr>
        <p:spPr>
          <a:xfrm>
            <a:off x="4452840" y="2628720"/>
            <a:ext cx="237960" cy="360"/>
          </a:xfrm>
          <a:prstGeom prst="line">
            <a:avLst/>
          </a:prstGeom>
          <a:ln w="22225">
            <a:solidFill>
              <a:srgbClr val="FF99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Glass card 118"/>
          <p:cNvSpPr/>
          <p:nvPr/>
        </p:nvSpPr>
        <p:spPr>
          <a:xfrm>
            <a:off x="4709160" y="20574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2"/>
          <p:cNvSpPr/>
          <p:nvPr/>
        </p:nvSpPr>
        <p:spPr>
          <a:xfrm>
            <a:off x="4800600" y="20574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Elastic Beanstalk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RDS + S3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13"/>
          <p:cNvSpPr/>
          <p:nvPr/>
        </p:nvSpPr>
        <p:spPr>
          <a:xfrm>
            <a:off x="6830280" y="2628720"/>
            <a:ext cx="237960" cy="360"/>
          </a:xfrm>
          <a:prstGeom prst="line">
            <a:avLst/>
          </a:prstGeom>
          <a:ln w="22225">
            <a:solidFill>
              <a:srgbClr val="FF99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Glass card 119"/>
          <p:cNvSpPr/>
          <p:nvPr/>
        </p:nvSpPr>
        <p:spPr>
          <a:xfrm>
            <a:off x="7086600" y="20574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5"/>
          <p:cNvSpPr/>
          <p:nvPr/>
        </p:nvSpPr>
        <p:spPr>
          <a:xfrm>
            <a:off x="7178040" y="20574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IAM roles · KMS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Security Groups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16"/>
          <p:cNvSpPr/>
          <p:nvPr/>
        </p:nvSpPr>
        <p:spPr>
          <a:xfrm>
            <a:off x="9207720" y="2628720"/>
            <a:ext cx="237960" cy="360"/>
          </a:xfrm>
          <a:prstGeom prst="line">
            <a:avLst/>
          </a:prstGeom>
          <a:ln w="22225">
            <a:solidFill>
              <a:srgbClr val="FF99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Glass card 120"/>
          <p:cNvSpPr/>
          <p:nvPr/>
        </p:nvSpPr>
        <p:spPr>
          <a:xfrm>
            <a:off x="9464040" y="20574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8"/>
          <p:cNvSpPr/>
          <p:nvPr/>
        </p:nvSpPr>
        <p:spPr>
          <a:xfrm>
            <a:off x="9555480" y="20574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CloudWatch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dashboards and alarms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Glass card 121"/>
          <p:cNvSpPr/>
          <p:nvPr/>
        </p:nvSpPr>
        <p:spPr>
          <a:xfrm>
            <a:off x="548640" y="3429000"/>
            <a:ext cx="1599840" cy="1142640"/>
          </a:xfrm>
          <a:prstGeom prst="roundRect">
            <a:avLst>
              <a:gd name="adj" fmla="val 14400"/>
            </a:avLst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20"/>
          <p:cNvSpPr/>
          <p:nvPr/>
        </p:nvSpPr>
        <p:spPr>
          <a:xfrm>
            <a:off x="640080" y="3429000"/>
            <a:ext cx="14169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5CB6FF"/>
                </a:solidFill>
                <a:effectLst/>
                <a:uFillTx/>
                <a:latin typeface="Calibri"/>
                <a:ea typeface="Calibri"/>
              </a:rPr>
              <a:t>Azure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Glass card 122"/>
          <p:cNvSpPr/>
          <p:nvPr/>
        </p:nvSpPr>
        <p:spPr>
          <a:xfrm>
            <a:off x="2331720" y="34290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22"/>
          <p:cNvSpPr/>
          <p:nvPr/>
        </p:nvSpPr>
        <p:spPr>
          <a:xfrm>
            <a:off x="2423160" y="34290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Repos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Pipelines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23"/>
          <p:cNvSpPr/>
          <p:nvPr/>
        </p:nvSpPr>
        <p:spPr>
          <a:xfrm>
            <a:off x="4452840" y="4000320"/>
            <a:ext cx="237960" cy="360"/>
          </a:xfrm>
          <a:prstGeom prst="line">
            <a:avLst/>
          </a:prstGeom>
          <a:ln w="22225">
            <a:solidFill>
              <a:srgbClr val="5CB6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Glass card 123"/>
          <p:cNvSpPr/>
          <p:nvPr/>
        </p:nvSpPr>
        <p:spPr>
          <a:xfrm>
            <a:off x="4709160" y="34290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25"/>
          <p:cNvSpPr/>
          <p:nvPr/>
        </p:nvSpPr>
        <p:spPr>
          <a:xfrm>
            <a:off x="4800600" y="34290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 Service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SQL + Blob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26"/>
          <p:cNvSpPr/>
          <p:nvPr/>
        </p:nvSpPr>
        <p:spPr>
          <a:xfrm>
            <a:off x="6830280" y="4000320"/>
            <a:ext cx="237960" cy="360"/>
          </a:xfrm>
          <a:prstGeom prst="line">
            <a:avLst/>
          </a:prstGeom>
          <a:ln w="22225">
            <a:solidFill>
              <a:srgbClr val="5CB6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Glass card 124"/>
          <p:cNvSpPr/>
          <p:nvPr/>
        </p:nvSpPr>
        <p:spPr>
          <a:xfrm>
            <a:off x="7086600" y="34290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28"/>
          <p:cNvSpPr/>
          <p:nvPr/>
        </p:nvSpPr>
        <p:spPr>
          <a:xfrm>
            <a:off x="7178040" y="34290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Microsoft Entra ID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 Vault · NSG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29"/>
          <p:cNvSpPr/>
          <p:nvPr/>
        </p:nvSpPr>
        <p:spPr>
          <a:xfrm>
            <a:off x="9207720" y="4000320"/>
            <a:ext cx="237960" cy="360"/>
          </a:xfrm>
          <a:prstGeom prst="line">
            <a:avLst/>
          </a:prstGeom>
          <a:ln w="22225">
            <a:solidFill>
              <a:srgbClr val="5CB6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Glass card 125"/>
          <p:cNvSpPr/>
          <p:nvPr/>
        </p:nvSpPr>
        <p:spPr>
          <a:xfrm>
            <a:off x="9464040" y="34290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31"/>
          <p:cNvSpPr/>
          <p:nvPr/>
        </p:nvSpPr>
        <p:spPr>
          <a:xfrm>
            <a:off x="9555480" y="34290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Azure Monitor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Application Insights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Glass card 126"/>
          <p:cNvSpPr/>
          <p:nvPr/>
        </p:nvSpPr>
        <p:spPr>
          <a:xfrm>
            <a:off x="548640" y="4800600"/>
            <a:ext cx="1599840" cy="1142640"/>
          </a:xfrm>
          <a:prstGeom prst="roundRect">
            <a:avLst>
              <a:gd name="adj" fmla="val 14400"/>
            </a:avLst>
          </a:prstGeom>
          <a:solidFill>
            <a:srgbClr val="4285F4">
              <a:alpha val="18000"/>
            </a:srgbClr>
          </a:solidFill>
          <a:ln w="12700">
            <a:solidFill>
              <a:srgbClr val="4285F4">
                <a:alpha val="6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33"/>
          <p:cNvSpPr/>
          <p:nvPr/>
        </p:nvSpPr>
        <p:spPr>
          <a:xfrm>
            <a:off x="640080" y="4800600"/>
            <a:ext cx="14169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8AB4F8"/>
                </a:solidFill>
                <a:effectLst/>
                <a:uFillTx/>
                <a:latin typeface="Calibri"/>
                <a:ea typeface="Calibri"/>
              </a:rPr>
              <a:t>Google Cloud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Glass card 127"/>
          <p:cNvSpPr/>
          <p:nvPr/>
        </p:nvSpPr>
        <p:spPr>
          <a:xfrm>
            <a:off x="2331720" y="48006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35"/>
          <p:cNvSpPr/>
          <p:nvPr/>
        </p:nvSpPr>
        <p:spPr>
          <a:xfrm>
            <a:off x="2423160" y="48006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Git + Cloud Build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Artifact Registry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36"/>
          <p:cNvSpPr/>
          <p:nvPr/>
        </p:nvSpPr>
        <p:spPr>
          <a:xfrm>
            <a:off x="4452840" y="5371920"/>
            <a:ext cx="237960" cy="360"/>
          </a:xfrm>
          <a:prstGeom prst="line">
            <a:avLst/>
          </a:prstGeom>
          <a:ln w="22225">
            <a:solidFill>
              <a:srgbClr val="8AB4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Glass card 128"/>
          <p:cNvSpPr/>
          <p:nvPr/>
        </p:nvSpPr>
        <p:spPr>
          <a:xfrm>
            <a:off x="4709160" y="48006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38"/>
          <p:cNvSpPr/>
          <p:nvPr/>
        </p:nvSpPr>
        <p:spPr>
          <a:xfrm>
            <a:off x="4800600" y="48006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Run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SQL + Storage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39"/>
          <p:cNvSpPr/>
          <p:nvPr/>
        </p:nvSpPr>
        <p:spPr>
          <a:xfrm>
            <a:off x="6830280" y="5371920"/>
            <a:ext cx="237960" cy="360"/>
          </a:xfrm>
          <a:prstGeom prst="line">
            <a:avLst/>
          </a:prstGeom>
          <a:ln w="22225">
            <a:solidFill>
              <a:srgbClr val="8AB4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Glass card 129"/>
          <p:cNvSpPr/>
          <p:nvPr/>
        </p:nvSpPr>
        <p:spPr>
          <a:xfrm>
            <a:off x="7086600" y="48006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41"/>
          <p:cNvSpPr/>
          <p:nvPr/>
        </p:nvSpPr>
        <p:spPr>
          <a:xfrm>
            <a:off x="7178040" y="48006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IAM · KMS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VPC firewall rules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42"/>
          <p:cNvSpPr/>
          <p:nvPr/>
        </p:nvSpPr>
        <p:spPr>
          <a:xfrm>
            <a:off x="9207720" y="5371920"/>
            <a:ext cx="237960" cy="360"/>
          </a:xfrm>
          <a:prstGeom prst="line">
            <a:avLst/>
          </a:prstGeom>
          <a:ln w="22225">
            <a:solidFill>
              <a:srgbClr val="8AB4F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Glass card 130"/>
          <p:cNvSpPr/>
          <p:nvPr/>
        </p:nvSpPr>
        <p:spPr>
          <a:xfrm>
            <a:off x="9464040" y="4800600"/>
            <a:ext cx="2102760" cy="114264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44"/>
          <p:cNvSpPr/>
          <p:nvPr/>
        </p:nvSpPr>
        <p:spPr>
          <a:xfrm>
            <a:off x="9555480" y="4800600"/>
            <a:ext cx="1919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Logging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Monitoring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2"/>
          <p:cNvSpPr>
            <a:spLocks noGrp="1"/>
          </p:cNvSpPr>
          <p:nvPr>
            <p:ph type="sldNum" idx="20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DF172F-562D-4B2E-80E8-D626E53FD2B5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6388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Conclusion, References and Thank You</a:t>
            </a:r>
            <a:endParaRPr lang="en-IN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6" name="Glass card 131"/>
          <p:cNvSpPr/>
          <p:nvPr/>
        </p:nvSpPr>
        <p:spPr>
          <a:xfrm>
            <a:off x="548640" y="1280160"/>
            <a:ext cx="11151360" cy="2679840"/>
          </a:xfrm>
          <a:prstGeom prst="roundRect">
            <a:avLst>
              <a:gd name="adj" fmla="val 439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8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2"/>
          <p:cNvSpPr/>
          <p:nvPr/>
        </p:nvSpPr>
        <p:spPr>
          <a:xfrm>
            <a:off x="822960" y="141732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5AC8FA"/>
                </a:solidFill>
                <a:effectLst/>
                <a:uFillTx/>
                <a:latin typeface="Calibri"/>
                <a:ea typeface="Calibri"/>
              </a:rPr>
              <a:t>Key takeaways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3"/>
          <p:cNvSpPr/>
          <p:nvPr/>
        </p:nvSpPr>
        <p:spPr>
          <a:xfrm rot="9000">
            <a:off x="820080" y="1978920"/>
            <a:ext cx="10157040" cy="19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5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environments speed up building, testing and deploying apps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5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AWS, Azure and Google Cloud offer equivalent core services with different strengths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5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CI/CD, security and monitoring are built into every platform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5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Choose by workload, team skills and cost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Glass card 133"/>
          <p:cNvSpPr/>
          <p:nvPr/>
        </p:nvSpPr>
        <p:spPr>
          <a:xfrm>
            <a:off x="540000" y="4305960"/>
            <a:ext cx="11109600" cy="1814040"/>
          </a:xfrm>
          <a:prstGeom prst="roundRect">
            <a:avLst>
              <a:gd name="adj" fmla="val 30000"/>
            </a:avLst>
          </a:prstGeom>
          <a:solidFill>
            <a:srgbClr val="5AC8FA">
              <a:alpha val="12000"/>
            </a:srgbClr>
          </a:solidFill>
          <a:ln w="12700">
            <a:solidFill>
              <a:srgbClr val="5AC8FA">
                <a:alpha val="55000"/>
              </a:srgbClr>
            </a:solidFill>
            <a:round/>
          </a:ln>
          <a:effectLst>
            <a:outerShdw algn="bl" blurRad="17784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8"/>
          <p:cNvSpPr/>
          <p:nvPr/>
        </p:nvSpPr>
        <p:spPr>
          <a:xfrm>
            <a:off x="540000" y="4680000"/>
            <a:ext cx="11109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Thank you</a:t>
            </a: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  </a:t>
            </a:r>
            <a:endParaRPr lang="en-IN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5DCF2"/>
                </a:solidFill>
                <a:effectLst/>
                <a:uFillTx/>
                <a:latin typeface="Calibri"/>
                <a:ea typeface="Calibri"/>
              </a:rPr>
              <a:t>Namini Itankar  ·  Cloud Computing  ·  JD College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2"/>
          <p:cNvSpPr>
            <a:spLocks noGrp="1"/>
          </p:cNvSpPr>
          <p:nvPr>
            <p:ph type="sldNum" idx="21"/>
          </p:nvPr>
        </p:nvSpPr>
        <p:spPr>
          <a:xfrm>
            <a:off x="11155680" y="6419160"/>
            <a:ext cx="45684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935AE6-3A4D-4FA1-8982-A9BDEFE437E5}" type="slidenum">
              <a:rPr lang="en-US" sz="1000" b="0" u="none" strike="noStrike">
                <a:solidFill>
                  <a:srgbClr val="8E99B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IN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Glass Keynote">
  <a:themeElements>
    <a:clrScheme name="Glass Keynote">
      <a:dk1>
        <a:srgbClr val="0B1020"/>
      </a:dk1>
      <a:lt1>
        <a:srgbClr val="FFFFFF"/>
      </a:lt1>
      <a:dk2>
        <a:srgbClr val="171923"/>
      </a:dk2>
      <a:lt2>
        <a:srgbClr val="F2F4FA"/>
      </a:lt2>
      <a:accent1>
        <a:srgbClr val="5AC8FA"/>
      </a:accent1>
      <a:accent2>
        <a:srgbClr val="8B80F9"/>
      </a:accent2>
      <a:accent3>
        <a:srgbClr val="FF9900"/>
      </a:accent3>
      <a:accent4>
        <a:srgbClr val="0078D4"/>
      </a:accent4>
      <a:accent5>
        <a:srgbClr val="4285F4"/>
      </a:accent5>
      <a:accent6>
        <a:srgbClr val="34A853"/>
      </a:accent6>
      <a:hlink>
        <a:srgbClr val="5AC8FA"/>
      </a:hlink>
      <a:folHlink>
        <a:srgbClr val="8B80F9"/>
      </a:folHlink>
    </a:clrScheme>
    <a:fontScheme name="Glass Keynot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2026-10-26T19:17:54Z</dcterms:created>
  <dc:creator>Namini Itankar</dc:creator>
  <dc:description/>
  <dc:language>en-IN</dc:language>
  <cp:lastModifiedBy/>
  <cp:lastPrinted>2026-10-27T01:02:32Z</cp:lastPrinted>
  <dcterms:modified xsi:type="dcterms:W3CDTF">2026-10-27T01:06:06Z</dcterms:modified>
  <cp:revision>2</cp:revision>
  <dc:subject>PptxGenJS Presentation</dc:subject>
  <dc:title>Cloud Application Development Environments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