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2545"/>
                </a:solidFill>
                <a:uFillTx/>
                <a:latin typeface="Calibri"/>
              </a:rPr>
              <a:t>Capacity vs. demand (illustrative)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B2545"/>
            </a:solidFill>
            <a:ln w="38160">
              <a:solidFill>
                <a:srgbClr val="0B254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45</c:v>
                </c:pt>
                <c:pt idx="3">
                  <c:v>40</c:v>
                </c:pt>
                <c:pt idx="4">
                  <c:v>70</c:v>
                </c:pt>
                <c:pt idx="5">
                  <c:v>95</c:v>
                </c:pt>
                <c:pt idx="6">
                  <c:v>60</c:v>
                </c:pt>
                <c:pt idx="7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Fixed capacity (on-premises)</c:v>
                </c:pt>
              </c:strCache>
            </c:strRef>
          </c:tx>
          <c:spPr>
            <a:solidFill>
              <a:srgbClr val="E4572E"/>
            </a:solidFill>
            <a:ln w="38160">
              <a:solidFill>
                <a:srgbClr val="E4572E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Elastic capacity (cloud)</c:v>
                </c:pt>
              </c:strCache>
            </c:strRef>
          </c:tx>
          <c:spPr>
            <a:solidFill>
              <a:srgbClr val="0A7E8C"/>
            </a:solidFill>
            <a:ln w="38160">
              <a:solidFill>
                <a:srgbClr val="0A7E8C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8"/>
                <c:pt idx="0">
                  <c:v>28</c:v>
                </c:pt>
                <c:pt idx="1">
                  <c:v>38</c:v>
                </c:pt>
                <c:pt idx="2">
                  <c:v>53</c:v>
                </c:pt>
                <c:pt idx="3">
                  <c:v>48</c:v>
                </c:pt>
                <c:pt idx="4">
                  <c:v>78</c:v>
                </c:pt>
                <c:pt idx="5">
                  <c:v>100</c:v>
                </c:pt>
                <c:pt idx="6">
                  <c:v>68</c:v>
                </c:pt>
                <c:pt idx="7">
                  <c:v>43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11366234"/>
        <c:axId val="21799761"/>
      </c:lineChart>
      <c:catAx>
        <c:axId val="113662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C6B7A"/>
                </a:solidFill>
                <a:uFillTx/>
                <a:latin typeface="Calibri"/>
              </a:defRPr>
            </a:pPr>
          </a:p>
        </c:txPr>
        <c:crossAx val="21799761"/>
        <c:crosses val="autoZero"/>
        <c:auto val="1"/>
        <c:lblAlgn val="ctr"/>
        <c:lblOffset val="100"/>
        <c:noMultiLvlLbl val="0"/>
      </c:catAx>
      <c:valAx>
        <c:axId val="21799761"/>
        <c:scaling>
          <c:orientation val="minMax"/>
          <c:max val="120"/>
          <c:min val="0"/>
        </c:scaling>
        <c:delete val="0"/>
        <c:axPos val="l"/>
        <c:majorGridlines>
          <c:spPr>
            <a:ln w="6480">
              <a:solidFill>
                <a:srgbClr val="C9D6D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C6B7A"/>
                </a:solidFill>
                <a:uFillTx/>
                <a:latin typeface="Calibri"/>
              </a:defRPr>
            </a:pPr>
          </a:p>
        </c:txPr>
        <c:crossAx val="1136623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B2545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29713A-40FF-4F8A-A54F-88DEBE383FC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This talk covers what cloud architecture is, its main components and models, why organizations adopt it, and the challenges to plan for.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B1FE4-A6DC-48D4-A667-F84B76A622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 parts: foundations first, then benefits, then challenges, then how to put it into practice.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00053-9015-4FBA-AA41-F02EFAA77D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Cloud architecture is the blueprint. The key shift is from fixed, owned capacity to on-demand resources.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8ED3C0-4498-4851-AACC-19379B20E7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left to right: the client layer, the network, and the back end. Everything is delivered through IaaS, PaaS or SaaS.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7155B-52E8-453B-954A-5DD17E03C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 building blocks appear in nearly every cloud design. Security and monitoring cut across all of them.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635A9-1AC4-47D6-87BF-BB6D2A2B56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higher you move from IaaS to SaaS, the less you manage and the less control you have.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B97BF6-E440-43A1-9A4F-2F2567E7F6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large organizations end up hybrid or multi-cloud, for control, compliance or resilience.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F19873-A371-41F5-9564-F4F864C3BC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Trace a request: user, CDN, load balancer, app servers, then data. Application and data tiers are spread across availability zones.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741430-E421-4EB1-A02D-F9CFEA5067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Elastic capacity follows demand, while fixed capacity is either wasted or overwhelmed. The chart is illustrative, not measured data.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CC9C2-049A-4D57-BBD6-3395D8E813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Reliability comes from redundancy, reach from regions, and innovation from managed services.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735992-CF42-4452-B43F-267F424669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Shared responsibility is the key idea: the provider secures the platform, but configuration and data remain the customer's job.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002C07-0D15-4E83-A107-CA9E274925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these are operational rather than technical, which is why governance and training matter.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F30363-C2C1-43FF-88E6-148729D4A2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five habits address most of the challenges just discussed.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C15408-77EC-43E7-85F1-21452C5C71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 the main message and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6BB7B3-A470-443D-AC86-904C5F60DE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 the main message and invite questions.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62B18-7CED-4E0F-8588-C129F3F236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Cloud Architecture: Components, Benefits and Challenges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6A8787-AC5B-480C-A4E4-3C1642F1ABFA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AR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chart" Target="../charts/chart1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7.png"/><Relationship Id="rId3" Type="http://schemas.openxmlformats.org/officeDocument/2006/relationships/image" Target="../media/image27.png"/><Relationship Id="rId4" Type="http://schemas.openxmlformats.org/officeDocument/2006/relationships/image" Target="../media/image27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731520" y="360000"/>
            <a:ext cx="65833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Architecture: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Components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, Benefits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and </a:t>
            </a: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Challenges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720000" y="288000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Building scalable, </a:t>
            </a:r>
            <a:r>
              <a:rPr lang="en-US" sz="2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resilient, and cost-</a:t>
            </a:r>
            <a:r>
              <a:rPr lang="en-US" sz="20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efficient systems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resenter line"/>
          <p:cNvSpPr/>
          <p:nvPr/>
        </p:nvSpPr>
        <p:spPr>
          <a:xfrm>
            <a:off x="731520" y="5486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Network link 1"/>
          <p:cNvSpPr/>
          <p:nvPr/>
        </p:nvSpPr>
        <p:spPr>
          <a:xfrm>
            <a:off x="8412480" y="1828800"/>
            <a:ext cx="1371600" cy="1600200"/>
          </a:xfrm>
          <a:prstGeom prst="line">
            <a:avLst/>
          </a:prstGeom>
          <a:ln w="25400">
            <a:solidFill>
              <a:srgbClr val="8FD6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Network link 2"/>
          <p:cNvSpPr/>
          <p:nvPr/>
        </p:nvSpPr>
        <p:spPr>
          <a:xfrm flipH="1">
            <a:off x="9784080" y="1828800"/>
            <a:ext cx="1371600" cy="1600200"/>
          </a:xfrm>
          <a:prstGeom prst="line">
            <a:avLst/>
          </a:prstGeom>
          <a:ln w="25400">
            <a:solidFill>
              <a:srgbClr val="8FD6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Network link 3"/>
          <p:cNvSpPr/>
          <p:nvPr/>
        </p:nvSpPr>
        <p:spPr>
          <a:xfrm flipV="1">
            <a:off x="8412480" y="3429000"/>
            <a:ext cx="1371600" cy="1600200"/>
          </a:xfrm>
          <a:prstGeom prst="line">
            <a:avLst/>
          </a:prstGeom>
          <a:ln w="25400">
            <a:solidFill>
              <a:srgbClr val="8FD6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Network link 4"/>
          <p:cNvSpPr/>
          <p:nvPr/>
        </p:nvSpPr>
        <p:spPr>
          <a:xfrm>
            <a:off x="9784080" y="3429000"/>
            <a:ext cx="1371600" cy="1600200"/>
          </a:xfrm>
          <a:prstGeom prst="line">
            <a:avLst/>
          </a:prstGeom>
          <a:ln w="25400">
            <a:solidFill>
              <a:srgbClr val="8FD6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aCloud badge"/>
          <p:cNvSpPr/>
          <p:nvPr/>
        </p:nvSpPr>
        <p:spPr>
          <a:xfrm>
            <a:off x="8869680" y="2514600"/>
            <a:ext cx="1828440" cy="1828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Cloud icon"/>
          <p:cNvPicPr/>
          <p:nvPr/>
        </p:nvPicPr>
        <p:blipFill>
          <a:blip r:embed="rId1"/>
          <a:stretch/>
        </p:blipFill>
        <p:spPr>
          <a:xfrm>
            <a:off x="9272160" y="291708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FaServer badge"/>
          <p:cNvSpPr/>
          <p:nvPr/>
        </p:nvSpPr>
        <p:spPr>
          <a:xfrm>
            <a:off x="8001000" y="141732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Server icon"/>
          <p:cNvPicPr/>
          <p:nvPr/>
        </p:nvPicPr>
        <p:blipFill>
          <a:blip r:embed="rId2"/>
          <a:stretch/>
        </p:blipFill>
        <p:spPr>
          <a:xfrm>
            <a:off x="8182080" y="15984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FaDatabase badge"/>
          <p:cNvSpPr/>
          <p:nvPr/>
        </p:nvSpPr>
        <p:spPr>
          <a:xfrm>
            <a:off x="10744200" y="141732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Database icon"/>
          <p:cNvPicPr/>
          <p:nvPr/>
        </p:nvPicPr>
        <p:blipFill>
          <a:blip r:embed="rId3"/>
          <a:stretch/>
        </p:blipFill>
        <p:spPr>
          <a:xfrm>
            <a:off x="10925280" y="15984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FaLock badge"/>
          <p:cNvSpPr/>
          <p:nvPr/>
        </p:nvSpPr>
        <p:spPr>
          <a:xfrm>
            <a:off x="8001000" y="461772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3" descr="Lock icon"/>
          <p:cNvPicPr/>
          <p:nvPr/>
        </p:nvPicPr>
        <p:blipFill>
          <a:blip r:embed="rId4"/>
          <a:stretch/>
        </p:blipFill>
        <p:spPr>
          <a:xfrm>
            <a:off x="8182080" y="4798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FaGlobeAmericas badge"/>
          <p:cNvSpPr/>
          <p:nvPr/>
        </p:nvSpPr>
        <p:spPr>
          <a:xfrm>
            <a:off x="10744200" y="461772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4" descr="GlobeAmericas icon"/>
          <p:cNvPicPr/>
          <p:nvPr/>
        </p:nvPicPr>
        <p:blipFill>
          <a:blip r:embed="rId5"/>
          <a:stretch/>
        </p:blipFill>
        <p:spPr>
          <a:xfrm>
            <a:off x="10925280" y="4798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720000" y="3750480"/>
            <a:ext cx="5760000" cy="1744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Presented By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: 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Adesh  Gautam Lokhande</a:t>
            </a: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Class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: 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MCA 2</a:t>
            </a:r>
            <a:r>
              <a:rPr lang="en-US" sz="1600" b="0" u="none" strike="noStrike" baseline="33000">
                <a:solidFill>
                  <a:srgbClr val="FFFFFF"/>
                </a:solidFill>
                <a:effectLst/>
                <a:uFillTx/>
                <a:latin typeface="Aptos"/>
              </a:rPr>
              <a:t>nd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  Years</a:t>
            </a: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Section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:   A</a:t>
            </a: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Roll No.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:   MC250005CA</a:t>
            </a: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Guided By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	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:   Dr. Swati Adekar Mam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Agenda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oadmap line"/>
          <p:cNvSpPr/>
          <p:nvPr/>
        </p:nvSpPr>
        <p:spPr>
          <a:xfrm>
            <a:off x="1371600" y="3337560"/>
            <a:ext cx="9464040" cy="360"/>
          </a:xfrm>
          <a:prstGeom prst="line">
            <a:avLst/>
          </a:prstGeom>
          <a:ln w="38100">
            <a:solidFill>
              <a:srgbClr val="8FD6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aCloud badge"/>
          <p:cNvSpPr/>
          <p:nvPr/>
        </p:nvSpPr>
        <p:spPr>
          <a:xfrm>
            <a:off x="96012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Cloud icon"/>
          <p:cNvPicPr/>
          <p:nvPr/>
        </p:nvPicPr>
        <p:blipFill>
          <a:blip r:embed="rId1"/>
          <a:stretch/>
        </p:blipFill>
        <p:spPr>
          <a:xfrm>
            <a:off x="114120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tep 1"/>
          <p:cNvSpPr/>
          <p:nvPr/>
        </p:nvSpPr>
        <p:spPr>
          <a:xfrm>
            <a:off x="105156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tep number 1"/>
          <p:cNvSpPr/>
          <p:nvPr/>
        </p:nvSpPr>
        <p:spPr>
          <a:xfrm>
            <a:off x="105156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tep label 1"/>
          <p:cNvSpPr/>
          <p:nvPr/>
        </p:nvSpPr>
        <p:spPr>
          <a:xfrm>
            <a:off x="50292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is cloud architecture?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aLayerGroup badge"/>
          <p:cNvSpPr/>
          <p:nvPr/>
        </p:nvSpPr>
        <p:spPr>
          <a:xfrm>
            <a:off x="285300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1" descr="LayerGroup icon"/>
          <p:cNvPicPr/>
          <p:nvPr/>
        </p:nvPicPr>
        <p:blipFill>
          <a:blip r:embed="rId2"/>
          <a:stretch/>
        </p:blipFill>
        <p:spPr>
          <a:xfrm>
            <a:off x="303408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Step 2"/>
          <p:cNvSpPr/>
          <p:nvPr/>
        </p:nvSpPr>
        <p:spPr>
          <a:xfrm>
            <a:off x="294444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tep number 2"/>
          <p:cNvSpPr/>
          <p:nvPr/>
        </p:nvSpPr>
        <p:spPr>
          <a:xfrm>
            <a:off x="294444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tep label 2"/>
          <p:cNvSpPr/>
          <p:nvPr/>
        </p:nvSpPr>
        <p:spPr>
          <a:xfrm>
            <a:off x="239580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components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aSitemap badge"/>
          <p:cNvSpPr/>
          <p:nvPr/>
        </p:nvSpPr>
        <p:spPr>
          <a:xfrm>
            <a:off x="474588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2" descr="Sitemap icon"/>
          <p:cNvPicPr/>
          <p:nvPr/>
        </p:nvPicPr>
        <p:blipFill>
          <a:blip r:embed="rId3"/>
          <a:stretch/>
        </p:blipFill>
        <p:spPr>
          <a:xfrm>
            <a:off x="492696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tep 3"/>
          <p:cNvSpPr/>
          <p:nvPr/>
        </p:nvSpPr>
        <p:spPr>
          <a:xfrm>
            <a:off x="483732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tep number 3"/>
          <p:cNvSpPr/>
          <p:nvPr/>
        </p:nvSpPr>
        <p:spPr>
          <a:xfrm>
            <a:off x="483732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tep label 3"/>
          <p:cNvSpPr/>
          <p:nvPr/>
        </p:nvSpPr>
        <p:spPr>
          <a:xfrm>
            <a:off x="428868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Service and deployment models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aChartLine badge"/>
          <p:cNvSpPr/>
          <p:nvPr/>
        </p:nvSpPr>
        <p:spPr>
          <a:xfrm>
            <a:off x="663840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3" descr="ChartLine icon"/>
          <p:cNvPicPr/>
          <p:nvPr/>
        </p:nvPicPr>
        <p:blipFill>
          <a:blip r:embed="rId4"/>
          <a:stretch/>
        </p:blipFill>
        <p:spPr>
          <a:xfrm>
            <a:off x="681948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Step 4"/>
          <p:cNvSpPr/>
          <p:nvPr/>
        </p:nvSpPr>
        <p:spPr>
          <a:xfrm>
            <a:off x="672984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tep number 4"/>
          <p:cNvSpPr/>
          <p:nvPr/>
        </p:nvSpPr>
        <p:spPr>
          <a:xfrm>
            <a:off x="672984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tep label 4"/>
          <p:cNvSpPr/>
          <p:nvPr/>
        </p:nvSpPr>
        <p:spPr>
          <a:xfrm>
            <a:off x="618120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benefits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aExclamationTriangle badge"/>
          <p:cNvSpPr/>
          <p:nvPr/>
        </p:nvSpPr>
        <p:spPr>
          <a:xfrm>
            <a:off x="853128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4" descr="ExclamationTriangle icon"/>
          <p:cNvPicPr/>
          <p:nvPr/>
        </p:nvPicPr>
        <p:blipFill>
          <a:blip r:embed="rId5"/>
          <a:stretch/>
        </p:blipFill>
        <p:spPr>
          <a:xfrm>
            <a:off x="871236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Step 5"/>
          <p:cNvSpPr/>
          <p:nvPr/>
        </p:nvSpPr>
        <p:spPr>
          <a:xfrm>
            <a:off x="862272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tep number 5"/>
          <p:cNvSpPr/>
          <p:nvPr/>
        </p:nvSpPr>
        <p:spPr>
          <a:xfrm>
            <a:off x="862272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5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tep label 5"/>
          <p:cNvSpPr/>
          <p:nvPr/>
        </p:nvSpPr>
        <p:spPr>
          <a:xfrm>
            <a:off x="807408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Challenges and risks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aRocket badge"/>
          <p:cNvSpPr/>
          <p:nvPr/>
        </p:nvSpPr>
        <p:spPr>
          <a:xfrm>
            <a:off x="1042416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5" descr="Rocket icon"/>
          <p:cNvPicPr/>
          <p:nvPr/>
        </p:nvPicPr>
        <p:blipFill>
          <a:blip r:embed="rId6"/>
          <a:stretch/>
        </p:blipFill>
        <p:spPr>
          <a:xfrm>
            <a:off x="1060524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Step 6"/>
          <p:cNvSpPr/>
          <p:nvPr/>
        </p:nvSpPr>
        <p:spPr>
          <a:xfrm>
            <a:off x="10515600" y="301752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tep number 6"/>
          <p:cNvSpPr/>
          <p:nvPr/>
        </p:nvSpPr>
        <p:spPr>
          <a:xfrm>
            <a:off x="1051560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6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tep label 6"/>
          <p:cNvSpPr/>
          <p:nvPr/>
        </p:nvSpPr>
        <p:spPr>
          <a:xfrm>
            <a:off x="9966960" y="388620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Best practices and the future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5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FFD99E-73A9-4142-AF93-2E1D9F777B35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Is Cloud Architecture?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aSitemap badge"/>
          <p:cNvSpPr/>
          <p:nvPr/>
        </p:nvSpPr>
        <p:spPr>
          <a:xfrm>
            <a:off x="548640" y="169164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Sitemap icon"/>
          <p:cNvPicPr/>
          <p:nvPr/>
        </p:nvPicPr>
        <p:blipFill>
          <a:blip r:embed="rId1"/>
          <a:stretch/>
        </p:blipFill>
        <p:spPr>
          <a:xfrm>
            <a:off x="709560" y="185256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oint 1"/>
          <p:cNvSpPr/>
          <p:nvPr/>
        </p:nvSpPr>
        <p:spPr>
          <a:xfrm>
            <a:off x="1508760" y="160020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blueprint for how cloud components fit together to deliver applications and services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aLayerGroup badge"/>
          <p:cNvSpPr/>
          <p:nvPr/>
        </p:nvSpPr>
        <p:spPr>
          <a:xfrm>
            <a:off x="548640" y="310896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1" descr="LayerGroup icon"/>
          <p:cNvPicPr/>
          <p:nvPr/>
        </p:nvPicPr>
        <p:blipFill>
          <a:blip r:embed="rId2"/>
          <a:stretch/>
        </p:blipFill>
        <p:spPr>
          <a:xfrm>
            <a:off x="709560" y="326988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oint 2"/>
          <p:cNvSpPr/>
          <p:nvPr/>
        </p:nvSpPr>
        <p:spPr>
          <a:xfrm>
            <a:off x="1508760" y="301752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Combines compute, storage, networking and software, delivered over the internet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aExpandArrowsAlt badge"/>
          <p:cNvSpPr/>
          <p:nvPr/>
        </p:nvSpPr>
        <p:spPr>
          <a:xfrm>
            <a:off x="548640" y="452628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2" descr="ExpandArrowsAlt icon"/>
          <p:cNvPicPr/>
          <p:nvPr/>
        </p:nvPicPr>
        <p:blipFill>
          <a:blip r:embed="rId3"/>
          <a:stretch/>
        </p:blipFill>
        <p:spPr>
          <a:xfrm>
            <a:off x="709560" y="468720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oint 3"/>
          <p:cNvSpPr/>
          <p:nvPr/>
        </p:nvSpPr>
        <p:spPr>
          <a:xfrm>
            <a:off x="1508760" y="44348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Replaces or extends on-premises infrastructure with on-demand resources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n-premises card"/>
          <p:cNvSpPr/>
          <p:nvPr/>
        </p:nvSpPr>
        <p:spPr>
          <a:xfrm>
            <a:off x="6949440" y="1600200"/>
            <a:ext cx="2102760" cy="393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aServer badge"/>
          <p:cNvSpPr/>
          <p:nvPr/>
        </p:nvSpPr>
        <p:spPr>
          <a:xfrm>
            <a:off x="7543800" y="1965960"/>
            <a:ext cx="914040" cy="91404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5C6B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3" descr="Server icon"/>
          <p:cNvPicPr/>
          <p:nvPr/>
        </p:nvPicPr>
        <p:blipFill>
          <a:blip r:embed="rId4"/>
          <a:stretch/>
        </p:blipFill>
        <p:spPr>
          <a:xfrm>
            <a:off x="7745040" y="216720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On-premises title"/>
          <p:cNvSpPr/>
          <p:nvPr/>
        </p:nvSpPr>
        <p:spPr>
          <a:xfrm>
            <a:off x="7132320" y="32004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On-premises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n-premises caption"/>
          <p:cNvSpPr/>
          <p:nvPr/>
        </p:nvSpPr>
        <p:spPr>
          <a:xfrm>
            <a:off x="7132320" y="3794760"/>
            <a:ext cx="1737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Fixed capacity and upfront hardware cost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ift arrow"/>
          <p:cNvSpPr/>
          <p:nvPr/>
        </p:nvSpPr>
        <p:spPr>
          <a:xfrm>
            <a:off x="9189720" y="3337560"/>
            <a:ext cx="50256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Cloud card"/>
          <p:cNvSpPr/>
          <p:nvPr/>
        </p:nvSpPr>
        <p:spPr>
          <a:xfrm>
            <a:off x="9829800" y="1600200"/>
            <a:ext cx="1828440" cy="393156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FaCloud badge"/>
          <p:cNvSpPr/>
          <p:nvPr/>
        </p:nvSpPr>
        <p:spPr>
          <a:xfrm>
            <a:off x="10287000" y="1965960"/>
            <a:ext cx="914040" cy="914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0B2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4" descr="Cloud icon"/>
          <p:cNvPicPr/>
          <p:nvPr/>
        </p:nvPicPr>
        <p:blipFill>
          <a:blip r:embed="rId5"/>
          <a:stretch/>
        </p:blipFill>
        <p:spPr>
          <a:xfrm>
            <a:off x="10488240" y="216720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Cloud title"/>
          <p:cNvSpPr/>
          <p:nvPr/>
        </p:nvSpPr>
        <p:spPr>
          <a:xfrm>
            <a:off x="9966960" y="32004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loud caption"/>
          <p:cNvSpPr/>
          <p:nvPr/>
        </p:nvSpPr>
        <p:spPr>
          <a:xfrm>
            <a:off x="9966960" y="3794760"/>
            <a:ext cx="1554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On-demand capacity, pay as you go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6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9714F-6213-44C5-8A87-F327183C143C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Components Overview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ont end card"/>
          <p:cNvSpPr/>
          <p:nvPr/>
        </p:nvSpPr>
        <p:spPr>
          <a:xfrm>
            <a:off x="548640" y="1508760"/>
            <a:ext cx="3291480" cy="2834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aMobileAlt badge"/>
          <p:cNvSpPr/>
          <p:nvPr/>
        </p:nvSpPr>
        <p:spPr>
          <a:xfrm>
            <a:off x="822960" y="178308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MobileAlt icon"/>
          <p:cNvPicPr/>
          <p:nvPr/>
        </p:nvPicPr>
        <p:blipFill>
          <a:blip r:embed="rId1"/>
          <a:stretch/>
        </p:blipFill>
        <p:spPr>
          <a:xfrm>
            <a:off x="1004040" y="196416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Front end title"/>
          <p:cNvSpPr/>
          <p:nvPr/>
        </p:nvSpPr>
        <p:spPr>
          <a:xfrm>
            <a:off x="822960" y="27432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 end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ont end caption"/>
          <p:cNvSpPr/>
          <p:nvPr/>
        </p:nvSpPr>
        <p:spPr>
          <a:xfrm>
            <a:off x="822960" y="324612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Browsers, apps and devices that users interact with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low arrow 1"/>
          <p:cNvSpPr/>
          <p:nvPr/>
        </p:nvSpPr>
        <p:spPr>
          <a:xfrm>
            <a:off x="3886200" y="2926080"/>
            <a:ext cx="45720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Network card"/>
          <p:cNvSpPr/>
          <p:nvPr/>
        </p:nvSpPr>
        <p:spPr>
          <a:xfrm>
            <a:off x="4448520" y="1508760"/>
            <a:ext cx="3291480" cy="2834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aNetworkWired badge"/>
          <p:cNvSpPr/>
          <p:nvPr/>
        </p:nvSpPr>
        <p:spPr>
          <a:xfrm>
            <a:off x="4722840" y="178308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1" descr="NetworkWired icon"/>
          <p:cNvPicPr/>
          <p:nvPr/>
        </p:nvPicPr>
        <p:blipFill>
          <a:blip r:embed="rId2"/>
          <a:stretch/>
        </p:blipFill>
        <p:spPr>
          <a:xfrm>
            <a:off x="4903920" y="196416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Network title"/>
          <p:cNvSpPr/>
          <p:nvPr/>
        </p:nvSpPr>
        <p:spPr>
          <a:xfrm>
            <a:off x="4722840" y="27432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Network caption"/>
          <p:cNvSpPr/>
          <p:nvPr/>
        </p:nvSpPr>
        <p:spPr>
          <a:xfrm>
            <a:off x="4722840" y="324612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internet or private connections linking everything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low arrow 2"/>
          <p:cNvSpPr/>
          <p:nvPr/>
        </p:nvSpPr>
        <p:spPr>
          <a:xfrm>
            <a:off x="7786080" y="2926080"/>
            <a:ext cx="45720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Back end card"/>
          <p:cNvSpPr/>
          <p:nvPr/>
        </p:nvSpPr>
        <p:spPr>
          <a:xfrm>
            <a:off x="8348400" y="1508760"/>
            <a:ext cx="3291480" cy="2834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aServer badge"/>
          <p:cNvSpPr/>
          <p:nvPr/>
        </p:nvSpPr>
        <p:spPr>
          <a:xfrm>
            <a:off x="8622720" y="178308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2" descr="Server icon"/>
          <p:cNvPicPr/>
          <p:nvPr/>
        </p:nvPicPr>
        <p:blipFill>
          <a:blip r:embed="rId3"/>
          <a:stretch/>
        </p:blipFill>
        <p:spPr>
          <a:xfrm>
            <a:off x="8803800" y="196416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Back end title"/>
          <p:cNvSpPr/>
          <p:nvPr/>
        </p:nvSpPr>
        <p:spPr>
          <a:xfrm>
            <a:off x="8622720" y="27432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 end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Back end caption"/>
          <p:cNvSpPr/>
          <p:nvPr/>
        </p:nvSpPr>
        <p:spPr>
          <a:xfrm>
            <a:off x="8622720" y="324612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Servers, storage, databases and application logic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Delivery model strip"/>
          <p:cNvSpPr/>
          <p:nvPr/>
        </p:nvSpPr>
        <p:spPr>
          <a:xfrm>
            <a:off x="548640" y="4663440"/>
            <a:ext cx="11091240" cy="132552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trip label"/>
          <p:cNvSpPr/>
          <p:nvPr/>
        </p:nvSpPr>
        <p:spPr>
          <a:xfrm>
            <a:off x="914400" y="4663440"/>
            <a:ext cx="3108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delivery model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IaaS chip"/>
          <p:cNvSpPr/>
          <p:nvPr/>
        </p:nvSpPr>
        <p:spPr>
          <a:xfrm>
            <a:off x="4572000" y="4937760"/>
            <a:ext cx="2011320" cy="77688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aaS chip"/>
          <p:cNvSpPr/>
          <p:nvPr/>
        </p:nvSpPr>
        <p:spPr>
          <a:xfrm>
            <a:off x="6858000" y="4937760"/>
            <a:ext cx="2011320" cy="77688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aaS chip"/>
          <p:cNvSpPr/>
          <p:nvPr/>
        </p:nvSpPr>
        <p:spPr>
          <a:xfrm>
            <a:off x="9144000" y="4937760"/>
            <a:ext cx="2011320" cy="77688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102037-A098-4331-BD13-480AB90BB61E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Building Blocks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ompute card"/>
          <p:cNvSpPr/>
          <p:nvPr/>
        </p:nvSpPr>
        <p:spPr>
          <a:xfrm>
            <a:off x="548640" y="146304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FaMicrochip badge"/>
          <p:cNvSpPr/>
          <p:nvPr/>
        </p:nvSpPr>
        <p:spPr>
          <a:xfrm>
            <a:off x="822960" y="173736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Microchip icon"/>
          <p:cNvPicPr/>
          <p:nvPr/>
        </p:nvPicPr>
        <p:blipFill>
          <a:blip r:embed="rId1"/>
          <a:stretch/>
        </p:blipFill>
        <p:spPr>
          <a:xfrm>
            <a:off x="983880" y="189828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Compute title"/>
          <p:cNvSpPr/>
          <p:nvPr/>
        </p:nvSpPr>
        <p:spPr>
          <a:xfrm>
            <a:off x="1737360" y="173736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ompute caption"/>
          <p:cNvSpPr/>
          <p:nvPr/>
        </p:nvSpPr>
        <p:spPr>
          <a:xfrm>
            <a:off x="822960" y="265176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Virtual machines, containers and serverless functions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torage card"/>
          <p:cNvSpPr/>
          <p:nvPr/>
        </p:nvSpPr>
        <p:spPr>
          <a:xfrm>
            <a:off x="4357080" y="146304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FaHdd badge"/>
          <p:cNvSpPr/>
          <p:nvPr/>
        </p:nvSpPr>
        <p:spPr>
          <a:xfrm>
            <a:off x="4631400" y="173736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1" descr="Hdd icon"/>
          <p:cNvPicPr/>
          <p:nvPr/>
        </p:nvPicPr>
        <p:blipFill>
          <a:blip r:embed="rId2"/>
          <a:stretch/>
        </p:blipFill>
        <p:spPr>
          <a:xfrm>
            <a:off x="4792320" y="189828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torage title"/>
          <p:cNvSpPr/>
          <p:nvPr/>
        </p:nvSpPr>
        <p:spPr>
          <a:xfrm>
            <a:off x="5545800" y="173736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Storage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torage caption"/>
          <p:cNvSpPr/>
          <p:nvPr/>
        </p:nvSpPr>
        <p:spPr>
          <a:xfrm>
            <a:off x="4631400" y="265176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Object, block and file storage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Databases card"/>
          <p:cNvSpPr/>
          <p:nvPr/>
        </p:nvSpPr>
        <p:spPr>
          <a:xfrm>
            <a:off x="8165520" y="146304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FaDatabase badge"/>
          <p:cNvSpPr/>
          <p:nvPr/>
        </p:nvSpPr>
        <p:spPr>
          <a:xfrm>
            <a:off x="8439840" y="173736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2" descr="Database icon"/>
          <p:cNvPicPr/>
          <p:nvPr/>
        </p:nvPicPr>
        <p:blipFill>
          <a:blip r:embed="rId3"/>
          <a:stretch/>
        </p:blipFill>
        <p:spPr>
          <a:xfrm>
            <a:off x="8600760" y="189828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Databases title"/>
          <p:cNvSpPr/>
          <p:nvPr/>
        </p:nvSpPr>
        <p:spPr>
          <a:xfrm>
            <a:off x="9354240" y="173736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Databases caption"/>
          <p:cNvSpPr/>
          <p:nvPr/>
        </p:nvSpPr>
        <p:spPr>
          <a:xfrm>
            <a:off x="8439840" y="265176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Relational (SQL) and NoSQL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Networking card"/>
          <p:cNvSpPr/>
          <p:nvPr/>
        </p:nvSpPr>
        <p:spPr>
          <a:xfrm>
            <a:off x="548640" y="393192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FaNetworkWired badge"/>
          <p:cNvSpPr/>
          <p:nvPr/>
        </p:nvSpPr>
        <p:spPr>
          <a:xfrm>
            <a:off x="822960" y="420624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3" descr="NetworkWired icon"/>
          <p:cNvPicPr/>
          <p:nvPr/>
        </p:nvPicPr>
        <p:blipFill>
          <a:blip r:embed="rId4"/>
          <a:stretch/>
        </p:blipFill>
        <p:spPr>
          <a:xfrm>
            <a:off x="983880" y="436716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Networking title"/>
          <p:cNvSpPr/>
          <p:nvPr/>
        </p:nvSpPr>
        <p:spPr>
          <a:xfrm>
            <a:off x="1737360" y="420624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Networking caption"/>
          <p:cNvSpPr/>
          <p:nvPr/>
        </p:nvSpPr>
        <p:spPr>
          <a:xfrm>
            <a:off x="822960" y="512064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VPCs, load balancers, CDNs and DNS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ecurity and identity card"/>
          <p:cNvSpPr/>
          <p:nvPr/>
        </p:nvSpPr>
        <p:spPr>
          <a:xfrm>
            <a:off x="4357080" y="393192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aShieldAlt badge"/>
          <p:cNvSpPr/>
          <p:nvPr/>
        </p:nvSpPr>
        <p:spPr>
          <a:xfrm>
            <a:off x="4631400" y="420624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4" descr="ShieldAlt icon"/>
          <p:cNvPicPr/>
          <p:nvPr/>
        </p:nvPicPr>
        <p:blipFill>
          <a:blip r:embed="rId5"/>
          <a:stretch/>
        </p:blipFill>
        <p:spPr>
          <a:xfrm>
            <a:off x="4792320" y="436716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Security and identity title"/>
          <p:cNvSpPr/>
          <p:nvPr/>
        </p:nvSpPr>
        <p:spPr>
          <a:xfrm>
            <a:off x="5545800" y="420624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and identity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ecurity and identity caption"/>
          <p:cNvSpPr/>
          <p:nvPr/>
        </p:nvSpPr>
        <p:spPr>
          <a:xfrm>
            <a:off x="4631400" y="512064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IAM, encryption and firewalls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Management and monitoring card"/>
          <p:cNvSpPr/>
          <p:nvPr/>
        </p:nvSpPr>
        <p:spPr>
          <a:xfrm>
            <a:off x="8165520" y="3931920"/>
            <a:ext cx="3474360" cy="2194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FaEye badge"/>
          <p:cNvSpPr/>
          <p:nvPr/>
        </p:nvSpPr>
        <p:spPr>
          <a:xfrm>
            <a:off x="8439840" y="420624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5" descr="Eye icon"/>
          <p:cNvPicPr/>
          <p:nvPr/>
        </p:nvPicPr>
        <p:blipFill>
          <a:blip r:embed="rId6"/>
          <a:stretch/>
        </p:blipFill>
        <p:spPr>
          <a:xfrm>
            <a:off x="8600760" y="436716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Management and monitoring title"/>
          <p:cNvSpPr/>
          <p:nvPr/>
        </p:nvSpPr>
        <p:spPr>
          <a:xfrm>
            <a:off x="9354240" y="4206240"/>
            <a:ext cx="2148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Management and monitoring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Management and monitoring caption"/>
          <p:cNvSpPr/>
          <p:nvPr/>
        </p:nvSpPr>
        <p:spPr>
          <a:xfrm>
            <a:off x="8439840" y="512064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Logging, automation and orchestration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DEAD30-F12C-4F5E-88FC-37C77EB01CB3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Service Models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IaaS header"/>
          <p:cNvSpPr/>
          <p:nvPr/>
        </p:nvSpPr>
        <p:spPr>
          <a:xfrm>
            <a:off x="3017520" y="1371600"/>
            <a:ext cx="2742840" cy="639720"/>
          </a:xfrm>
          <a:prstGeom prst="rect">
            <a:avLst/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e.g. AWS EC2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IaaS Applications"/>
          <p:cNvSpPr/>
          <p:nvPr/>
        </p:nvSpPr>
        <p:spPr>
          <a:xfrm>
            <a:off x="3017520" y="210312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IaaS Data"/>
          <p:cNvSpPr/>
          <p:nvPr/>
        </p:nvSpPr>
        <p:spPr>
          <a:xfrm>
            <a:off x="3017520" y="252360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IaaS Runtime"/>
          <p:cNvSpPr/>
          <p:nvPr/>
        </p:nvSpPr>
        <p:spPr>
          <a:xfrm>
            <a:off x="3017520" y="294444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IaaS Operating system"/>
          <p:cNvSpPr/>
          <p:nvPr/>
        </p:nvSpPr>
        <p:spPr>
          <a:xfrm>
            <a:off x="3017520" y="336492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IaaS Virtualization"/>
          <p:cNvSpPr/>
          <p:nvPr/>
        </p:nvSpPr>
        <p:spPr>
          <a:xfrm>
            <a:off x="3017520" y="378576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IaaS Servers"/>
          <p:cNvSpPr/>
          <p:nvPr/>
        </p:nvSpPr>
        <p:spPr>
          <a:xfrm>
            <a:off x="3017520" y="420624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IaaS Storage and network"/>
          <p:cNvSpPr/>
          <p:nvPr/>
        </p:nvSpPr>
        <p:spPr>
          <a:xfrm>
            <a:off x="3017520" y="46267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aaS header"/>
          <p:cNvSpPr/>
          <p:nvPr/>
        </p:nvSpPr>
        <p:spPr>
          <a:xfrm>
            <a:off x="5852160" y="1371600"/>
            <a:ext cx="2742840" cy="639720"/>
          </a:xfrm>
          <a:prstGeom prst="rect">
            <a:avLst/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e.g. Google App Engine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PaaS Applications"/>
          <p:cNvSpPr/>
          <p:nvPr/>
        </p:nvSpPr>
        <p:spPr>
          <a:xfrm>
            <a:off x="5852160" y="210312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aaS Data"/>
          <p:cNvSpPr/>
          <p:nvPr/>
        </p:nvSpPr>
        <p:spPr>
          <a:xfrm>
            <a:off x="5852160" y="2523600"/>
            <a:ext cx="2742840" cy="383760"/>
          </a:xfrm>
          <a:prstGeom prst="rect">
            <a:avLst/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manage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aaS Runtime"/>
          <p:cNvSpPr/>
          <p:nvPr/>
        </p:nvSpPr>
        <p:spPr>
          <a:xfrm>
            <a:off x="5852160" y="294444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aaS Operating system"/>
          <p:cNvSpPr/>
          <p:nvPr/>
        </p:nvSpPr>
        <p:spPr>
          <a:xfrm>
            <a:off x="5852160" y="33649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aaS Virtualization"/>
          <p:cNvSpPr/>
          <p:nvPr/>
        </p:nvSpPr>
        <p:spPr>
          <a:xfrm>
            <a:off x="5852160" y="378576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aaS Servers"/>
          <p:cNvSpPr/>
          <p:nvPr/>
        </p:nvSpPr>
        <p:spPr>
          <a:xfrm>
            <a:off x="5852160" y="420624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aS Storage and network"/>
          <p:cNvSpPr/>
          <p:nvPr/>
        </p:nvSpPr>
        <p:spPr>
          <a:xfrm>
            <a:off x="5852160" y="46267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aaS header"/>
          <p:cNvSpPr/>
          <p:nvPr/>
        </p:nvSpPr>
        <p:spPr>
          <a:xfrm>
            <a:off x="8686800" y="1371600"/>
            <a:ext cx="2742840" cy="639720"/>
          </a:xfrm>
          <a:prstGeom prst="rect">
            <a:avLst/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SaaS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e.g. Microsoft 365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aaS Applications"/>
          <p:cNvSpPr/>
          <p:nvPr/>
        </p:nvSpPr>
        <p:spPr>
          <a:xfrm>
            <a:off x="8686800" y="21031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aaS Data"/>
          <p:cNvSpPr/>
          <p:nvPr/>
        </p:nvSpPr>
        <p:spPr>
          <a:xfrm>
            <a:off x="8686800" y="252360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aaS Runtime"/>
          <p:cNvSpPr/>
          <p:nvPr/>
        </p:nvSpPr>
        <p:spPr>
          <a:xfrm>
            <a:off x="8686800" y="294444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aaS Operating system"/>
          <p:cNvSpPr/>
          <p:nvPr/>
        </p:nvSpPr>
        <p:spPr>
          <a:xfrm>
            <a:off x="8686800" y="33649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aaS Virtualization"/>
          <p:cNvSpPr/>
          <p:nvPr/>
        </p:nvSpPr>
        <p:spPr>
          <a:xfrm>
            <a:off x="8686800" y="378576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aaS Servers"/>
          <p:cNvSpPr/>
          <p:nvPr/>
        </p:nvSpPr>
        <p:spPr>
          <a:xfrm>
            <a:off x="8686800" y="420624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aaS Storage and network"/>
          <p:cNvSpPr/>
          <p:nvPr/>
        </p:nvSpPr>
        <p:spPr>
          <a:xfrm>
            <a:off x="8686800" y="4626720"/>
            <a:ext cx="2742840" cy="383760"/>
          </a:xfrm>
          <a:prstGeom prst="rect">
            <a:avLst/>
          </a:prstGeom>
          <a:solidFill>
            <a:schemeClr val="bg2"/>
          </a:solidFill>
          <a:ln w="0">
            <a:solidFill>
              <a:srgbClr val="EAF4F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w label Applications"/>
          <p:cNvSpPr/>
          <p:nvPr/>
        </p:nvSpPr>
        <p:spPr>
          <a:xfrm>
            <a:off x="548640" y="21031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Applications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w label Data"/>
          <p:cNvSpPr/>
          <p:nvPr/>
        </p:nvSpPr>
        <p:spPr>
          <a:xfrm>
            <a:off x="548640" y="25236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w label Runtime"/>
          <p:cNvSpPr/>
          <p:nvPr/>
        </p:nvSpPr>
        <p:spPr>
          <a:xfrm>
            <a:off x="548640" y="29444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Runtime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w label Operating system"/>
          <p:cNvSpPr/>
          <p:nvPr/>
        </p:nvSpPr>
        <p:spPr>
          <a:xfrm>
            <a:off x="548640" y="3364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Operating system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w label Virtualization"/>
          <p:cNvSpPr/>
          <p:nvPr/>
        </p:nvSpPr>
        <p:spPr>
          <a:xfrm>
            <a:off x="548640" y="378576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Virtualization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w label Servers"/>
          <p:cNvSpPr/>
          <p:nvPr/>
        </p:nvSpPr>
        <p:spPr>
          <a:xfrm>
            <a:off x="548640" y="42062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w label Storage and network"/>
          <p:cNvSpPr/>
          <p:nvPr/>
        </p:nvSpPr>
        <p:spPr>
          <a:xfrm>
            <a:off x="548640" y="4626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Storage and network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Legend you"/>
          <p:cNvSpPr/>
          <p:nvPr/>
        </p:nvSpPr>
        <p:spPr>
          <a:xfrm>
            <a:off x="548640" y="5349240"/>
            <a:ext cx="228240" cy="228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Legend you label"/>
          <p:cNvSpPr/>
          <p:nvPr/>
        </p:nvSpPr>
        <p:spPr>
          <a:xfrm>
            <a:off x="868680" y="53035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Managed by you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Legend provider"/>
          <p:cNvSpPr/>
          <p:nvPr/>
        </p:nvSpPr>
        <p:spPr>
          <a:xfrm>
            <a:off x="3017520" y="5349240"/>
            <a:ext cx="228240" cy="228240"/>
          </a:xfrm>
          <a:prstGeom prst="rect">
            <a:avLst/>
          </a:prstGeom>
          <a:solidFill>
            <a:schemeClr val="bg2"/>
          </a:solidFill>
          <a:ln w="9525">
            <a:solidFill>
              <a:srgbClr val="5C6B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Legend provider label"/>
          <p:cNvSpPr/>
          <p:nvPr/>
        </p:nvSpPr>
        <p:spPr>
          <a:xfrm>
            <a:off x="3337560" y="53035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Managed by the provider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ervice model summary"/>
          <p:cNvSpPr/>
          <p:nvPr/>
        </p:nvSpPr>
        <p:spPr>
          <a:xfrm>
            <a:off x="548640" y="576072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IaaS: raw infrastructure, maximum control.  PaaS: managed platform for developers.  SaaS: ready-to-use software.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AF3DDD-C160-4B00-BAAA-DB95BB7A5BB3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Deployment Models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ublic cloud card"/>
          <p:cNvSpPr/>
          <p:nvPr/>
        </p:nvSpPr>
        <p:spPr>
          <a:xfrm>
            <a:off x="548640" y="1463040"/>
            <a:ext cx="5394600" cy="214848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FaGlobeAmericas badge"/>
          <p:cNvSpPr/>
          <p:nvPr/>
        </p:nvSpPr>
        <p:spPr>
          <a:xfrm>
            <a:off x="868680" y="182880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GlobeAmericas icon"/>
          <p:cNvPicPr/>
          <p:nvPr/>
        </p:nvPicPr>
        <p:blipFill>
          <a:blip r:embed="rId1"/>
          <a:stretch/>
        </p:blipFill>
        <p:spPr>
          <a:xfrm>
            <a:off x="104976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ublic cloud title"/>
          <p:cNvSpPr/>
          <p:nvPr/>
        </p:nvSpPr>
        <p:spPr>
          <a:xfrm>
            <a:off x="1965960" y="17830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 cloud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ublic cloud description"/>
          <p:cNvSpPr/>
          <p:nvPr/>
        </p:nvSpPr>
        <p:spPr>
          <a:xfrm>
            <a:off x="1965960" y="233172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Shared infrastructure run by a provider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Cost-effective and elastic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rivate cloud card"/>
          <p:cNvSpPr/>
          <p:nvPr/>
        </p:nvSpPr>
        <p:spPr>
          <a:xfrm>
            <a:off x="6245280" y="1463040"/>
            <a:ext cx="5394600" cy="214848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FaLock badge"/>
          <p:cNvSpPr/>
          <p:nvPr/>
        </p:nvSpPr>
        <p:spPr>
          <a:xfrm>
            <a:off x="6565320" y="182880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1" descr="Lock icon"/>
          <p:cNvPicPr/>
          <p:nvPr/>
        </p:nvPicPr>
        <p:blipFill>
          <a:blip r:embed="rId2"/>
          <a:stretch/>
        </p:blipFill>
        <p:spPr>
          <a:xfrm>
            <a:off x="6746400" y="20098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Private cloud title"/>
          <p:cNvSpPr/>
          <p:nvPr/>
        </p:nvSpPr>
        <p:spPr>
          <a:xfrm>
            <a:off x="7662600" y="17830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Private cloud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rivate cloud description"/>
          <p:cNvSpPr/>
          <p:nvPr/>
        </p:nvSpPr>
        <p:spPr>
          <a:xfrm>
            <a:off x="7662600" y="233172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Dedicated infrastructure for one organization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Higher control and compliance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Hybrid cloud card"/>
          <p:cNvSpPr/>
          <p:nvPr/>
        </p:nvSpPr>
        <p:spPr>
          <a:xfrm>
            <a:off x="548640" y="3886200"/>
            <a:ext cx="5394600" cy="214848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FaExchangeAlt badge"/>
          <p:cNvSpPr/>
          <p:nvPr/>
        </p:nvSpPr>
        <p:spPr>
          <a:xfrm>
            <a:off x="868680" y="425196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2" descr="ExchangeAlt icon"/>
          <p:cNvPicPr/>
          <p:nvPr/>
        </p:nvPicPr>
        <p:blipFill>
          <a:blip r:embed="rId3"/>
          <a:stretch/>
        </p:blipFill>
        <p:spPr>
          <a:xfrm>
            <a:off x="1049760" y="44330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Hybrid cloud title"/>
          <p:cNvSpPr/>
          <p:nvPr/>
        </p:nvSpPr>
        <p:spPr>
          <a:xfrm>
            <a:off x="1965960" y="42062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Hybrid cloud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Hybrid cloud description"/>
          <p:cNvSpPr/>
          <p:nvPr/>
        </p:nvSpPr>
        <p:spPr>
          <a:xfrm>
            <a:off x="1965960" y="475488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mix of public and private environments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Sensitive data stays private, scale in public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Multi-cloud card"/>
          <p:cNvSpPr/>
          <p:nvPr/>
        </p:nvSpPr>
        <p:spPr>
          <a:xfrm>
            <a:off x="6245280" y="3886200"/>
            <a:ext cx="5394600" cy="214848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FaProjectDiagram badge"/>
          <p:cNvSpPr/>
          <p:nvPr/>
        </p:nvSpPr>
        <p:spPr>
          <a:xfrm>
            <a:off x="6565320" y="4251960"/>
            <a:ext cx="822600" cy="8226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3" descr="ProjectDiagram icon"/>
          <p:cNvPicPr/>
          <p:nvPr/>
        </p:nvPicPr>
        <p:blipFill>
          <a:blip r:embed="rId4"/>
          <a:stretch/>
        </p:blipFill>
        <p:spPr>
          <a:xfrm>
            <a:off x="6746400" y="44330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Multi-cloud title"/>
          <p:cNvSpPr/>
          <p:nvPr/>
        </p:nvSpPr>
        <p:spPr>
          <a:xfrm>
            <a:off x="7662600" y="42062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Multi-cloud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Multi-cloud description"/>
          <p:cNvSpPr/>
          <p:nvPr/>
        </p:nvSpPr>
        <p:spPr>
          <a:xfrm>
            <a:off x="7662600" y="475488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Services from multiple providers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Avoids lock-in and improves resilience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6477A-AD67-43D7-9AD5-FF6793608ECE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Typical Cloud Architecture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Availability zones container"/>
          <p:cNvSpPr/>
          <p:nvPr/>
        </p:nvSpPr>
        <p:spPr>
          <a:xfrm>
            <a:off x="7178040" y="1508760"/>
            <a:ext cx="4388760" cy="23770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5875">
            <a:solidFill>
              <a:srgbClr val="5C6B7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Zones label"/>
          <p:cNvSpPr/>
          <p:nvPr/>
        </p:nvSpPr>
        <p:spPr>
          <a:xfrm>
            <a:off x="7360920" y="33832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Spread across multiple availability zones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Users node"/>
          <p:cNvSpPr/>
          <p:nvPr/>
        </p:nvSpPr>
        <p:spPr>
          <a:xfrm>
            <a:off x="822960" y="1828800"/>
            <a:ext cx="1737000" cy="1279800"/>
          </a:xfrm>
          <a:prstGeom prst="roundRect">
            <a:avLst>
              <a:gd name="adj" fmla="val 7143"/>
            </a:avLst>
          </a:prstGeom>
          <a:solidFill>
            <a:schemeClr val="accent6"/>
          </a:solidFill>
          <a:ln w="0">
            <a:solidFill>
              <a:srgbClr val="5C6B7A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Users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Browsers and apps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quest arrow 1"/>
          <p:cNvSpPr/>
          <p:nvPr/>
        </p:nvSpPr>
        <p:spPr>
          <a:xfrm>
            <a:off x="2606040" y="2468880"/>
            <a:ext cx="36576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DN node"/>
          <p:cNvSpPr/>
          <p:nvPr/>
        </p:nvSpPr>
        <p:spPr>
          <a:xfrm>
            <a:off x="3017520" y="1828800"/>
            <a:ext cx="1737000" cy="127980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CDN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Edge caching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quest arrow 2"/>
          <p:cNvSpPr/>
          <p:nvPr/>
        </p:nvSpPr>
        <p:spPr>
          <a:xfrm>
            <a:off x="4800600" y="2468880"/>
            <a:ext cx="36576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Load balancer node"/>
          <p:cNvSpPr/>
          <p:nvPr/>
        </p:nvSpPr>
        <p:spPr>
          <a:xfrm>
            <a:off x="5212080" y="1828800"/>
            <a:ext cx="1737000" cy="127980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Load balancer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Spreads traffic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equest arrow 3"/>
          <p:cNvSpPr/>
          <p:nvPr/>
        </p:nvSpPr>
        <p:spPr>
          <a:xfrm>
            <a:off x="6995160" y="2468880"/>
            <a:ext cx="36576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App servers node"/>
          <p:cNvSpPr/>
          <p:nvPr/>
        </p:nvSpPr>
        <p:spPr>
          <a:xfrm>
            <a:off x="7406640" y="1828800"/>
            <a:ext cx="1737000" cy="127980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0">
            <a:solidFill>
              <a:srgbClr val="3E7CB1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App servers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Auto-scaled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quest arrow 4"/>
          <p:cNvSpPr/>
          <p:nvPr/>
        </p:nvSpPr>
        <p:spPr>
          <a:xfrm>
            <a:off x="9189720" y="2468880"/>
            <a:ext cx="365760" cy="360"/>
          </a:xfrm>
          <a:prstGeom prst="line">
            <a:avLst/>
          </a:prstGeom>
          <a:ln w="31750">
            <a:solidFill>
              <a:srgbClr val="3E7C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Database and storage node"/>
          <p:cNvSpPr/>
          <p:nvPr/>
        </p:nvSpPr>
        <p:spPr>
          <a:xfrm>
            <a:off x="9601200" y="1828800"/>
            <a:ext cx="1737000" cy="127980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0">
            <a:solidFill>
              <a:srgbClr val="3E7CB1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Database and storage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Replicated data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upporting layers bar"/>
          <p:cNvSpPr/>
          <p:nvPr/>
        </p:nvSpPr>
        <p:spPr>
          <a:xfrm>
            <a:off x="548640" y="4343400"/>
            <a:ext cx="11091240" cy="15541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upporting label"/>
          <p:cNvSpPr/>
          <p:nvPr/>
        </p:nvSpPr>
        <p:spPr>
          <a:xfrm>
            <a:off x="822960" y="4526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Supporting layers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Authentication chip"/>
          <p:cNvSpPr/>
          <p:nvPr/>
        </p:nvSpPr>
        <p:spPr>
          <a:xfrm>
            <a:off x="822960" y="5029200"/>
            <a:ext cx="2377080" cy="6397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Authentication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Caching chip"/>
          <p:cNvSpPr/>
          <p:nvPr/>
        </p:nvSpPr>
        <p:spPr>
          <a:xfrm>
            <a:off x="3474720" y="5029200"/>
            <a:ext cx="2377080" cy="6397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Caching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Monitoring chip"/>
          <p:cNvSpPr/>
          <p:nvPr/>
        </p:nvSpPr>
        <p:spPr>
          <a:xfrm>
            <a:off x="6126480" y="5029200"/>
            <a:ext cx="2377080" cy="6397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Monitoring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Backups chip"/>
          <p:cNvSpPr/>
          <p:nvPr/>
        </p:nvSpPr>
        <p:spPr>
          <a:xfrm>
            <a:off x="8778240" y="5029200"/>
            <a:ext cx="2377080" cy="6397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0">
            <a:solidFill>
              <a:srgbClr val="1331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Backups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6B3F01-9498-4B73-BBEF-19454879E19C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Benefits: Flexibility and Cost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FaExpandArrowsAlt badge"/>
          <p:cNvSpPr/>
          <p:nvPr/>
        </p:nvSpPr>
        <p:spPr>
          <a:xfrm>
            <a:off x="548640" y="160020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0" descr="ExpandArrowsAlt icon"/>
          <p:cNvPicPr/>
          <p:nvPr/>
        </p:nvPicPr>
        <p:blipFill>
          <a:blip r:embed="rId1"/>
          <a:stretch/>
        </p:blipFill>
        <p:spPr>
          <a:xfrm>
            <a:off x="729720" y="17812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Scalability text"/>
          <p:cNvSpPr/>
          <p:nvPr/>
        </p:nvSpPr>
        <p:spPr>
          <a:xfrm>
            <a:off x="1600200" y="1508760"/>
            <a:ext cx="402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Scalability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Scale up or down on demand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FaDollarSign badge"/>
          <p:cNvSpPr/>
          <p:nvPr/>
        </p:nvSpPr>
        <p:spPr>
          <a:xfrm>
            <a:off x="548640" y="306324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1" descr="DollarSign icon"/>
          <p:cNvPicPr/>
          <p:nvPr/>
        </p:nvPicPr>
        <p:blipFill>
          <a:blip r:embed="rId2"/>
          <a:stretch/>
        </p:blipFill>
        <p:spPr>
          <a:xfrm>
            <a:off x="729720" y="32443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Cost efficiency text"/>
          <p:cNvSpPr/>
          <p:nvPr/>
        </p:nvSpPr>
        <p:spPr>
          <a:xfrm>
            <a:off x="1600200" y="2971800"/>
            <a:ext cx="402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efficiency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Pay-as-you-go with less upfront hardware spend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FaRocket badge"/>
          <p:cNvSpPr/>
          <p:nvPr/>
        </p:nvSpPr>
        <p:spPr>
          <a:xfrm>
            <a:off x="548640" y="4526280"/>
            <a:ext cx="822600" cy="822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2" descr="Rocket icon"/>
          <p:cNvPicPr/>
          <p:nvPr/>
        </p:nvPicPr>
        <p:blipFill>
          <a:blip r:embed="rId3"/>
          <a:stretch/>
        </p:blipFill>
        <p:spPr>
          <a:xfrm>
            <a:off x="729720" y="470736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Speed and agility text"/>
          <p:cNvSpPr/>
          <p:nvPr/>
        </p:nvSpPr>
        <p:spPr>
          <a:xfrm>
            <a:off x="1600200" y="4434840"/>
            <a:ext cx="402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Speed and agility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in minutes, not weeks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Chart card"/>
          <p:cNvSpPr/>
          <p:nvPr/>
        </p:nvSpPr>
        <p:spPr>
          <a:xfrm>
            <a:off x="6035040" y="1463040"/>
            <a:ext cx="5604840" cy="45259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6" name="Chart 0"/>
          <p:cNvGraphicFramePr/>
          <p:nvPr/>
        </p:nvGraphicFramePr>
        <p:xfrm>
          <a:off x="6217920" y="1554480"/>
          <a:ext cx="523908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Chart caption"/>
          <p:cNvSpPr/>
          <p:nvPr/>
        </p:nvSpPr>
        <p:spPr>
          <a:xfrm>
            <a:off x="6263640" y="5577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Illustrative data to show the concept of elastic capacity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6F6C9B-519B-425F-BC67-9C1D9CEC1B5E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Benefits: Reliability and Reach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High availability card"/>
          <p:cNvSpPr/>
          <p:nvPr/>
        </p:nvSpPr>
        <p:spPr>
          <a:xfrm>
            <a:off x="548640" y="1508760"/>
            <a:ext cx="2559960" cy="4297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FaSyncAlt badge"/>
          <p:cNvSpPr/>
          <p:nvPr/>
        </p:nvSpPr>
        <p:spPr>
          <a:xfrm>
            <a:off x="822960" y="1828800"/>
            <a:ext cx="1005480" cy="1005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0" descr="SyncAlt icon"/>
          <p:cNvPicPr/>
          <p:nvPr/>
        </p:nvPicPr>
        <p:blipFill>
          <a:blip r:embed="rId1"/>
          <a:stretch/>
        </p:blipFill>
        <p:spPr>
          <a:xfrm>
            <a:off x="1044360" y="205020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High availability title"/>
          <p:cNvSpPr/>
          <p:nvPr/>
        </p:nvSpPr>
        <p:spPr>
          <a:xfrm>
            <a:off x="822960" y="31089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 availability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High availability caption"/>
          <p:cNvSpPr/>
          <p:nvPr/>
        </p:nvSpPr>
        <p:spPr>
          <a:xfrm>
            <a:off x="822960" y="3931920"/>
            <a:ext cx="2102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Redundancy across regions and zones keeps services running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Disaster recovery card"/>
          <p:cNvSpPr/>
          <p:nvPr/>
        </p:nvSpPr>
        <p:spPr>
          <a:xfrm>
            <a:off x="3392280" y="1508760"/>
            <a:ext cx="2559960" cy="4297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FaLifeRing badge"/>
          <p:cNvSpPr/>
          <p:nvPr/>
        </p:nvSpPr>
        <p:spPr>
          <a:xfrm>
            <a:off x="3666600" y="1828800"/>
            <a:ext cx="1005480" cy="10054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1" descr="LifeRing icon"/>
          <p:cNvPicPr/>
          <p:nvPr/>
        </p:nvPicPr>
        <p:blipFill>
          <a:blip r:embed="rId2"/>
          <a:stretch/>
        </p:blipFill>
        <p:spPr>
          <a:xfrm>
            <a:off x="3888000" y="205020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Disaster recovery title"/>
          <p:cNvSpPr/>
          <p:nvPr/>
        </p:nvSpPr>
        <p:spPr>
          <a:xfrm>
            <a:off x="3666600" y="31089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Disaster recovery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Disaster recovery caption"/>
          <p:cNvSpPr/>
          <p:nvPr/>
        </p:nvSpPr>
        <p:spPr>
          <a:xfrm>
            <a:off x="3666600" y="3931920"/>
            <a:ext cx="2102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Automated backups and failover restore service quickly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lobal reach card"/>
          <p:cNvSpPr/>
          <p:nvPr/>
        </p:nvSpPr>
        <p:spPr>
          <a:xfrm>
            <a:off x="6236280" y="1508760"/>
            <a:ext cx="2559960" cy="4297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FaGlobeAmericas badge"/>
          <p:cNvSpPr/>
          <p:nvPr/>
        </p:nvSpPr>
        <p:spPr>
          <a:xfrm>
            <a:off x="6510600" y="1828800"/>
            <a:ext cx="1005480" cy="1005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2" descr="GlobeAmericas icon"/>
          <p:cNvPicPr/>
          <p:nvPr/>
        </p:nvPicPr>
        <p:blipFill>
          <a:blip r:embed="rId3"/>
          <a:stretch/>
        </p:blipFill>
        <p:spPr>
          <a:xfrm>
            <a:off x="6731640" y="205020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Global reach title"/>
          <p:cNvSpPr/>
          <p:nvPr/>
        </p:nvSpPr>
        <p:spPr>
          <a:xfrm>
            <a:off x="6510600" y="31089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 reach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lobal reach caption"/>
          <p:cNvSpPr/>
          <p:nvPr/>
        </p:nvSpPr>
        <p:spPr>
          <a:xfrm>
            <a:off x="6510600" y="3931920"/>
            <a:ext cx="2102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close to users worldwide for lower latency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Innovation card"/>
          <p:cNvSpPr/>
          <p:nvPr/>
        </p:nvSpPr>
        <p:spPr>
          <a:xfrm>
            <a:off x="9079920" y="1508760"/>
            <a:ext cx="2559960" cy="4297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FaLightbulb badge"/>
          <p:cNvSpPr/>
          <p:nvPr/>
        </p:nvSpPr>
        <p:spPr>
          <a:xfrm>
            <a:off x="9354240" y="1828800"/>
            <a:ext cx="1005480" cy="10054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E7C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3" descr="Lightbulb icon"/>
          <p:cNvPicPr/>
          <p:nvPr/>
        </p:nvPicPr>
        <p:blipFill>
          <a:blip r:embed="rId4"/>
          <a:stretch/>
        </p:blipFill>
        <p:spPr>
          <a:xfrm>
            <a:off x="9575640" y="2050200"/>
            <a:ext cx="56304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Innovation title"/>
          <p:cNvSpPr/>
          <p:nvPr/>
        </p:nvSpPr>
        <p:spPr>
          <a:xfrm>
            <a:off x="9354240" y="31089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Innovation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Innovation caption"/>
          <p:cNvSpPr/>
          <p:nvPr/>
        </p:nvSpPr>
        <p:spPr>
          <a:xfrm>
            <a:off x="9354240" y="3931920"/>
            <a:ext cx="2102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Easy access to AI, analytics and IoT services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1F51D2-D65C-488E-AF05-4162C370FCA0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Challenges: Security and Compliance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rovider responsibility"/>
          <p:cNvSpPr/>
          <p:nvPr/>
        </p:nvSpPr>
        <p:spPr>
          <a:xfrm>
            <a:off x="548640" y="1463040"/>
            <a:ext cx="5458680" cy="137124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0">
            <a:solidFill>
              <a:srgbClr val="3E7CB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Provider: secures the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Hardware, facilities and core network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Customer responsibility"/>
          <p:cNvSpPr/>
          <p:nvPr/>
        </p:nvSpPr>
        <p:spPr>
          <a:xfrm>
            <a:off x="6181200" y="1463040"/>
            <a:ext cx="5458680" cy="1371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0">
            <a:solidFill>
              <a:srgbClr val="0A7E8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You: secure what’s in the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Data, identities, configuration and access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ecurity risks card"/>
          <p:cNvSpPr/>
          <p:nvPr/>
        </p:nvSpPr>
        <p:spPr>
          <a:xfrm>
            <a:off x="548640" y="3200400"/>
            <a:ext cx="5458680" cy="2834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FaExclamationTriangle badge"/>
          <p:cNvSpPr/>
          <p:nvPr/>
        </p:nvSpPr>
        <p:spPr>
          <a:xfrm>
            <a:off x="868680" y="3474720"/>
            <a:ext cx="822600" cy="8226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6AE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ExclamationTriangle icon"/>
          <p:cNvPicPr/>
          <p:nvPr/>
        </p:nvPicPr>
        <p:blipFill>
          <a:blip r:embed="rId1"/>
          <a:stretch/>
        </p:blipFill>
        <p:spPr>
          <a:xfrm>
            <a:off x="1049760" y="3655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Security risks title"/>
          <p:cNvSpPr/>
          <p:nvPr/>
        </p:nvSpPr>
        <p:spPr>
          <a:xfrm>
            <a:off x="1920240" y="347472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risks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ecurity risks list"/>
          <p:cNvSpPr/>
          <p:nvPr/>
        </p:nvSpPr>
        <p:spPr>
          <a:xfrm>
            <a:off x="960120" y="4480560"/>
            <a:ext cx="4663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Misconfigurations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breaches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Insider threats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Compliance card"/>
          <p:cNvSpPr/>
          <p:nvPr/>
        </p:nvSpPr>
        <p:spPr>
          <a:xfrm>
            <a:off x="6181200" y="3200400"/>
            <a:ext cx="5458680" cy="2834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FaBalanceScale badge"/>
          <p:cNvSpPr/>
          <p:nvPr/>
        </p:nvSpPr>
        <p:spPr>
          <a:xfrm>
            <a:off x="6501240" y="3474720"/>
            <a:ext cx="822600" cy="8226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6AE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1" descr="BalanceScale icon"/>
          <p:cNvPicPr/>
          <p:nvPr/>
        </p:nvPicPr>
        <p:blipFill>
          <a:blip r:embed="rId2"/>
          <a:stretch/>
        </p:blipFill>
        <p:spPr>
          <a:xfrm>
            <a:off x="6682320" y="3655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Compliance title"/>
          <p:cNvSpPr/>
          <p:nvPr/>
        </p:nvSpPr>
        <p:spPr>
          <a:xfrm>
            <a:off x="7552800" y="347472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Compliance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Compliance list"/>
          <p:cNvSpPr/>
          <p:nvPr/>
        </p:nvSpPr>
        <p:spPr>
          <a:xfrm>
            <a:off x="6592680" y="4480560"/>
            <a:ext cx="4663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GDPR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HIPAA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B2545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Data-residency requirements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55E87-0DA3-408F-A830-850837EA860D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Challenges: Operations and Cost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Challenges table"/>
          <p:cNvGraphicFramePr/>
          <p:nvPr/>
        </p:nvGraphicFramePr>
        <p:xfrm>
          <a:off x="548640" y="1463040"/>
          <a:ext cx="11091240" cy="4114440"/>
        </p:xfrm>
        <a:graphic>
          <a:graphicData uri="http://schemas.openxmlformats.org/drawingml/2006/table">
            <a:tbl>
              <a:tblPr/>
              <a:tblGrid>
                <a:gridCol w="3566160"/>
                <a:gridCol w="7525440"/>
              </a:tblGrid>
              <a:tr h="54864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Problem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Impact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315C"/>
                    </a:solidFill>
                  </a:tcPr>
                </a:tc>
              </a:tr>
              <a:tr h="71316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Cost overruns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Unmonitored usage and idle resources inflate the bill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</a:tr>
              <a:tr h="71316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Vendor lock-in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Migrating between providers becomes difficult and costly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Downtime and dependency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Reliance on provider uptime and connectivity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</a:tr>
              <a:tr h="71316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Skills gap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Teams need cloud expertise to design and operate safely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Complexity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 lIns="182880" tIns="0" rIns="1828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B2545"/>
                          </a:solidFill>
                          <a:effectLst/>
                          <a:uFillTx/>
                          <a:latin typeface="Calibri"/>
                        </a:rPr>
                        <a:t>Distributed and multi-cloud environments are harder to manage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2880" marR="1828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277" name="FaLightbulb badge"/>
          <p:cNvSpPr/>
          <p:nvPr/>
        </p:nvSpPr>
        <p:spPr>
          <a:xfrm>
            <a:off x="548640" y="5897880"/>
            <a:ext cx="502560" cy="5025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6AE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Lightbulb icon"/>
          <p:cNvPicPr/>
          <p:nvPr/>
        </p:nvPicPr>
        <p:blipFill>
          <a:blip r:embed="rId1"/>
          <a:stretch/>
        </p:blipFill>
        <p:spPr>
          <a:xfrm>
            <a:off x="659160" y="600840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ransition note"/>
          <p:cNvSpPr/>
          <p:nvPr/>
        </p:nvSpPr>
        <p:spPr>
          <a:xfrm>
            <a:off x="1234440" y="58978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challenge has a proven mitigation, covered in the next slide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Num" idx="15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6F542-7E18-4DCB-97E7-506E6A956ED4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Best Practices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w 1"/>
          <p:cNvSpPr/>
          <p:nvPr/>
        </p:nvSpPr>
        <p:spPr>
          <a:xfrm>
            <a:off x="548640" y="146304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FaCheck badge"/>
          <p:cNvSpPr/>
          <p:nvPr/>
        </p:nvSpPr>
        <p:spPr>
          <a:xfrm>
            <a:off x="777240" y="160020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0" descr="Check icon"/>
          <p:cNvPicPr/>
          <p:nvPr/>
        </p:nvPicPr>
        <p:blipFill>
          <a:blip r:embed="rId1"/>
          <a:stretch/>
        </p:blipFill>
        <p:spPr>
          <a:xfrm>
            <a:off x="887760" y="17107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Practice 1"/>
          <p:cNvSpPr/>
          <p:nvPr/>
        </p:nvSpPr>
        <p:spPr>
          <a:xfrm>
            <a:off x="1554480" y="146304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 for failure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ractice detail 1"/>
          <p:cNvSpPr/>
          <p:nvPr/>
        </p:nvSpPr>
        <p:spPr>
          <a:xfrm>
            <a:off x="4846320" y="146304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multiple zones and automated recovery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w 2"/>
          <p:cNvSpPr/>
          <p:nvPr/>
        </p:nvSpPr>
        <p:spPr>
          <a:xfrm>
            <a:off x="548640" y="237744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FaCheck badge"/>
          <p:cNvSpPr/>
          <p:nvPr/>
        </p:nvSpPr>
        <p:spPr>
          <a:xfrm>
            <a:off x="777240" y="251460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1" descr="Check icon"/>
          <p:cNvPicPr/>
          <p:nvPr/>
        </p:nvPicPr>
        <p:blipFill>
          <a:blip r:embed="rId2"/>
          <a:stretch/>
        </p:blipFill>
        <p:spPr>
          <a:xfrm>
            <a:off x="887760" y="26251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Practice 2"/>
          <p:cNvSpPr/>
          <p:nvPr/>
        </p:nvSpPr>
        <p:spPr>
          <a:xfrm>
            <a:off x="1554480" y="237744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Secure by default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ractice detail 2"/>
          <p:cNvSpPr/>
          <p:nvPr/>
        </p:nvSpPr>
        <p:spPr>
          <a:xfrm>
            <a:off x="4846320" y="237744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Apply least-privilege access; encrypt data at rest and in transit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w 3"/>
          <p:cNvSpPr/>
          <p:nvPr/>
        </p:nvSpPr>
        <p:spPr>
          <a:xfrm>
            <a:off x="548640" y="329184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FaCheck badge"/>
          <p:cNvSpPr/>
          <p:nvPr/>
        </p:nvSpPr>
        <p:spPr>
          <a:xfrm>
            <a:off x="777240" y="342900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2" descr="Check icon"/>
          <p:cNvPicPr/>
          <p:nvPr/>
        </p:nvPicPr>
        <p:blipFill>
          <a:blip r:embed="rId3"/>
          <a:stretch/>
        </p:blipFill>
        <p:spPr>
          <a:xfrm>
            <a:off x="887760" y="35395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ractice 3"/>
          <p:cNvSpPr/>
          <p:nvPr/>
        </p:nvSpPr>
        <p:spPr>
          <a:xfrm>
            <a:off x="1554480" y="329184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 costs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ractice detail 3"/>
          <p:cNvSpPr/>
          <p:nvPr/>
        </p:nvSpPr>
        <p:spPr>
          <a:xfrm>
            <a:off x="4846320" y="329184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budgets, tagging and right-sizing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w 4"/>
          <p:cNvSpPr/>
          <p:nvPr/>
        </p:nvSpPr>
        <p:spPr>
          <a:xfrm>
            <a:off x="548640" y="420624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FaCheck badge"/>
          <p:cNvSpPr/>
          <p:nvPr/>
        </p:nvSpPr>
        <p:spPr>
          <a:xfrm>
            <a:off x="777240" y="434340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3" descr="Check icon"/>
          <p:cNvPicPr/>
          <p:nvPr/>
        </p:nvPicPr>
        <p:blipFill>
          <a:blip r:embed="rId4"/>
          <a:stretch/>
        </p:blipFill>
        <p:spPr>
          <a:xfrm>
            <a:off x="887760" y="44539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Practice 4"/>
          <p:cNvSpPr/>
          <p:nvPr/>
        </p:nvSpPr>
        <p:spPr>
          <a:xfrm>
            <a:off x="1554480" y="420624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ractice detail 4"/>
          <p:cNvSpPr/>
          <p:nvPr/>
        </p:nvSpPr>
        <p:spPr>
          <a:xfrm>
            <a:off x="4846320" y="420624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Infrastructure as Code with Terraform or CloudFormation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w 5"/>
          <p:cNvSpPr/>
          <p:nvPr/>
        </p:nvSpPr>
        <p:spPr>
          <a:xfrm>
            <a:off x="548640" y="512064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FaCheck badge"/>
          <p:cNvSpPr/>
          <p:nvPr/>
        </p:nvSpPr>
        <p:spPr>
          <a:xfrm>
            <a:off x="777240" y="525780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4" descr="Check icon"/>
          <p:cNvPicPr/>
          <p:nvPr/>
        </p:nvPicPr>
        <p:blipFill>
          <a:blip r:embed="rId5"/>
          <a:stretch/>
        </p:blipFill>
        <p:spPr>
          <a:xfrm>
            <a:off x="887760" y="536832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Practice 5"/>
          <p:cNvSpPr/>
          <p:nvPr/>
        </p:nvSpPr>
        <p:spPr>
          <a:xfrm>
            <a:off x="1554480" y="512064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Follow a framework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ractice detail 5"/>
          <p:cNvSpPr/>
          <p:nvPr/>
        </p:nvSpPr>
        <p:spPr>
          <a:xfrm>
            <a:off x="4846320" y="512064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Such as the AWS Well-Architected Framework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Num" idx="16"/>
          </p:nvPr>
        </p:nvSpPr>
        <p:spPr>
          <a:xfrm>
            <a:off x="11155680" y="6400800"/>
            <a:ext cx="48420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96B02-7053-4844-A8D3-6D472D38CB5E}" type="slidenum"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548640" y="320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Conclusion and Future Trends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Key takeaways"/>
          <p:cNvSpPr/>
          <p:nvPr/>
        </p:nvSpPr>
        <p:spPr>
          <a:xfrm>
            <a:off x="548640" y="1600200"/>
            <a:ext cx="56689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architecture enables scalable, resilient and agile systems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Success depends on balancing benefits against security, cost and complexity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Design for failure, secure by default, and control costs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erverless tile"/>
          <p:cNvSpPr/>
          <p:nvPr/>
        </p:nvSpPr>
        <p:spPr>
          <a:xfrm>
            <a:off x="6675120" y="1600200"/>
            <a:ext cx="2377080" cy="173700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FaBolt badge"/>
          <p:cNvSpPr/>
          <p:nvPr/>
        </p:nvSpPr>
        <p:spPr>
          <a:xfrm>
            <a:off x="6858000" y="17830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0" descr="Bolt icon"/>
          <p:cNvPicPr/>
          <p:nvPr/>
        </p:nvPicPr>
        <p:blipFill>
          <a:blip r:embed="rId1"/>
          <a:stretch/>
        </p:blipFill>
        <p:spPr>
          <a:xfrm>
            <a:off x="7008840" y="1933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Serverless label"/>
          <p:cNvSpPr/>
          <p:nvPr/>
        </p:nvSpPr>
        <p:spPr>
          <a:xfrm>
            <a:off x="6858000" y="260604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Serverless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Edge computing tile"/>
          <p:cNvSpPr/>
          <p:nvPr/>
        </p:nvSpPr>
        <p:spPr>
          <a:xfrm>
            <a:off x="9235440" y="1600200"/>
            <a:ext cx="2377080" cy="173700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FaBroadcastTower badge"/>
          <p:cNvSpPr/>
          <p:nvPr/>
        </p:nvSpPr>
        <p:spPr>
          <a:xfrm>
            <a:off x="9418320" y="178308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1" descr="BroadcastTower icon"/>
          <p:cNvPicPr/>
          <p:nvPr/>
        </p:nvPicPr>
        <p:blipFill>
          <a:blip r:embed="rId2"/>
          <a:stretch/>
        </p:blipFill>
        <p:spPr>
          <a:xfrm>
            <a:off x="9569160" y="1933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Edge computing label"/>
          <p:cNvSpPr/>
          <p:nvPr/>
        </p:nvSpPr>
        <p:spPr>
          <a:xfrm>
            <a:off x="9418320" y="260604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Edge computing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AI-driven operations tile"/>
          <p:cNvSpPr/>
          <p:nvPr/>
        </p:nvSpPr>
        <p:spPr>
          <a:xfrm>
            <a:off x="6675120" y="3520440"/>
            <a:ext cx="2377080" cy="173700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FaRobot badge"/>
          <p:cNvSpPr/>
          <p:nvPr/>
        </p:nvSpPr>
        <p:spPr>
          <a:xfrm>
            <a:off x="6858000" y="370332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 2" descr="Robot icon"/>
          <p:cNvPicPr/>
          <p:nvPr/>
        </p:nvPicPr>
        <p:blipFill>
          <a:blip r:embed="rId3"/>
          <a:stretch/>
        </p:blipFill>
        <p:spPr>
          <a:xfrm>
            <a:off x="7008840" y="38541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AI-driven operations label"/>
          <p:cNvSpPr/>
          <p:nvPr/>
        </p:nvSpPr>
        <p:spPr>
          <a:xfrm>
            <a:off x="6858000" y="45262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AI-driven operations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ustainable cloud tile"/>
          <p:cNvSpPr/>
          <p:nvPr/>
        </p:nvSpPr>
        <p:spPr>
          <a:xfrm>
            <a:off x="9235440" y="3520440"/>
            <a:ext cx="2377080" cy="173700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FaLeaf badge"/>
          <p:cNvSpPr/>
          <p:nvPr/>
        </p:nvSpPr>
        <p:spPr>
          <a:xfrm>
            <a:off x="9418320" y="3703320"/>
            <a:ext cx="685440" cy="6854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A7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3" descr="Leaf icon"/>
          <p:cNvPicPr/>
          <p:nvPr/>
        </p:nvPicPr>
        <p:blipFill>
          <a:blip r:embed="rId4"/>
          <a:stretch/>
        </p:blipFill>
        <p:spPr>
          <a:xfrm>
            <a:off x="9569160" y="38541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Sustainable cloud label"/>
          <p:cNvSpPr/>
          <p:nvPr/>
        </p:nvSpPr>
        <p:spPr>
          <a:xfrm>
            <a:off x="9418320" y="45262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Sustainable cloud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Closing line"/>
          <p:cNvSpPr/>
          <p:nvPr/>
        </p:nvSpPr>
        <p:spPr>
          <a:xfrm>
            <a:off x="548640" y="55800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“Plan well, design for resilience, and optimize continuously.”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erverless tile 2"/>
          <p:cNvSpPr/>
          <p:nvPr/>
        </p:nvSpPr>
        <p:spPr>
          <a:xfrm>
            <a:off x="1145880" y="940680"/>
            <a:ext cx="9900000" cy="4977000"/>
          </a:xfrm>
          <a:prstGeom prst="roundRect">
            <a:avLst>
              <a:gd name="adj" fmla="val 10675"/>
            </a:avLst>
          </a:prstGeom>
          <a:solidFill>
            <a:schemeClr val="tx2"/>
          </a:solidFill>
          <a:ln w="12700">
            <a:solidFill>
              <a:srgbClr val="1331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1490040" y="1767600"/>
            <a:ext cx="9211680" cy="33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THANK YOU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oud Navy Teal">
  <a:themeElements>
    <a:clrScheme name="Cloud Navy Teal">
      <a:dk1>
        <a:srgbClr val="0B2545"/>
      </a:dk1>
      <a:lt1>
        <a:srgbClr val="FFFFFF"/>
      </a:lt1>
      <a:dk2>
        <a:srgbClr val="13315C"/>
      </a:dk2>
      <a:lt2>
        <a:srgbClr val="EAF4F4"/>
      </a:lt2>
      <a:accent1>
        <a:srgbClr val="0A7E8C"/>
      </a:accent1>
      <a:accent2>
        <a:srgbClr val="3E7CB1"/>
      </a:accent2>
      <a:accent3>
        <a:srgbClr val="F6AE2D"/>
      </a:accent3>
      <a:accent4>
        <a:srgbClr val="E4572E"/>
      </a:accent4>
      <a:accent5>
        <a:srgbClr val="8FD6D0"/>
      </a:accent5>
      <a:accent6>
        <a:srgbClr val="5C6B7A"/>
      </a:accent6>
      <a:hlink>
        <a:srgbClr val="0A7E8C"/>
      </a:hlink>
      <a:folHlink>
        <a:srgbClr val="5C6B7A"/>
      </a:folHlink>
    </a:clrScheme>
    <a:fontScheme name="Cloud Navy Teal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2026-10-21T11:27:06Z</dcterms:created>
  <dc:creator>PptxGenJS</dc:creator>
  <dc:description/>
  <dc:language>en-IN</dc:language>
  <cp:lastModifiedBy/>
  <dcterms:modified xsi:type="dcterms:W3CDTF">2026-10-21T23:38:40Z</dcterms:modified>
  <cp:revision>2</cp:revision>
  <dc:subject>PptxGenJS Presentation</dc:subject>
  <dc:title>Cloud Architecture: Components, Benefits and Challenges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